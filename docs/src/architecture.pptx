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libri"/>
              </a:rPr>
              <a:t>ParkiScan Neuroverse · Game + Digital Twin · 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97280"/>
            <a:ext cx="11091672" cy="0"/>
          </a:xfrm>
          <a:prstGeom prst="line">
            <a:avLst/>
          </a:prstGeom>
          <a:ln w="12700">
            <a:solidFill>
              <a:srgbClr val="C9D0D8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137160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A5F"/>
                </a:solidFill>
                <a:latin typeface="Calibri"/>
              </a:rPr>
              <a:t>DATA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A5F"/>
                </a:solidFill>
                <a:latin typeface="Calibri"/>
              </a:rPr>
              <a:t>DIGITAL TWIN SERVICE · PYTHON ·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2862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3A5F"/>
                </a:solidFill>
                <a:latin typeface="Calibri"/>
              </a:rPr>
              <a:t>CLINICIAN AND PLAYER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383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B7A"/>
            </a:solidFill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933"/>
                </a:solidFill>
                <a:latin typeface="Calibri"/>
              </a:rPr>
              <a:t>Synthetic health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57984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F6B7A"/>
                </a:solidFill>
                <a:latin typeface="Calibri"/>
              </a:rPr>
              <a:t>FHIR R4 · SNOMED CT · LOINC · every resource tagged SYNTHETIC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737360"/>
            <a:ext cx="2862072" cy="1143000"/>
          </a:xfrm>
          <a:prstGeom prst="rect">
            <a:avLst/>
          </a:prstGeom>
          <a:solidFill>
            <a:srgbClr val="E3EBF4"/>
          </a:solidFill>
          <a:ln w="12700">
            <a:solidFill>
              <a:srgbClr val="1F3A5F"/>
            </a:solidFill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1847088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933"/>
                </a:solidFill>
                <a:latin typeface="Calibri"/>
              </a:rPr>
              <a:t>Dashboard inside the 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157984"/>
            <a:ext cx="25877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F6B7A"/>
                </a:solidFill>
                <a:latin typeface="Calibri"/>
              </a:rPr>
              <a:t>F2 anywhere · live, or an offline snapshot when the service is 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3383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B7A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32186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933"/>
                </a:solidFill>
                <a:latin typeface="Calibri"/>
              </a:rPr>
              <a:t>Wearable streams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F6B7A"/>
                </a:solidFill>
                <a:latin typeface="Calibri"/>
              </a:rPr>
              <a:t>Daphnet ankle, thigh, trunk IMU (real, anonymised) · simulated steps, heart rate, sleep, HRV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3108960"/>
            <a:ext cx="28620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B7A"/>
            </a:solidFill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15400" y="3218688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933"/>
                </a:solidFill>
                <a:latin typeface="Calibri"/>
              </a:rPr>
              <a:t>Dashboard in a 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529584"/>
            <a:ext cx="25877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F6B7A"/>
                </a:solidFill>
                <a:latin typeface="Calibri"/>
              </a:rPr>
              <a:t>/dashboard · static copy for GitHub Pages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3383280" cy="1143000"/>
          </a:xfrm>
          <a:prstGeom prst="rect">
            <a:avLst/>
          </a:prstGeom>
          <a:solidFill>
            <a:srgbClr val="E3EBF4"/>
          </a:solidFill>
          <a:ln w="12700">
            <a:solidFill>
              <a:srgbClr val="1F3A5F"/>
            </a:solidFill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45902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933"/>
                </a:solidFill>
                <a:latin typeface="Calibri"/>
              </a:rPr>
              <a:t>ParkiScan Neuroverse game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01184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F6B7A"/>
                </a:solidFill>
                <a:latin typeface="Calibri"/>
              </a:rPr>
              <a:t>3 levels · webcam, voice, drawing, memory, reaction · seated mode · 5 languages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4480560"/>
            <a:ext cx="2862072" cy="1143000"/>
          </a:xfrm>
          <a:prstGeom prst="rect">
            <a:avLst/>
          </a:prstGeom>
          <a:solidFill>
            <a:srgbClr val="E3EBF4"/>
          </a:solidFill>
          <a:ln w="12700">
            <a:solidFill>
              <a:srgbClr val="1F3A5F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915400" y="4590288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933"/>
                </a:solidFill>
                <a:latin typeface="Calibri"/>
              </a:rPr>
              <a:t>Twin report after Level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901184"/>
            <a:ext cx="25877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F6B7A"/>
                </a:solidFill>
                <a:latin typeface="Calibri"/>
              </a:rPr>
              <a:t>six charts for the player · session synced to the twin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1737360"/>
            <a:ext cx="3200400" cy="3886200"/>
          </a:xfrm>
          <a:prstGeom prst="rect">
            <a:avLst/>
          </a:prstGeom>
          <a:solidFill>
            <a:srgbClr val="F3F5F7"/>
          </a:solidFill>
          <a:ln w="12700">
            <a:solidFill>
              <a:srgbClr val="5F6B7A"/>
            </a:solidFill>
          </a:ln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029200" y="2121408"/>
            <a:ext cx="28346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5F6B7A"/>
            </a:solidFill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166360" y="22311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Calibri"/>
              </a:rPr>
              <a:t>One twin per patient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2542032"/>
            <a:ext cx="25603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5F6B7A"/>
                </a:solidFill>
                <a:latin typeface="Calibri"/>
              </a:rPr>
              <a:t>record + wearables + game sessions on a 15-minute grid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46520" y="3008376"/>
            <a:ext cx="0" cy="228600"/>
          </a:xfrm>
          <a:prstGeom prst="line">
            <a:avLst/>
          </a:prstGeom>
          <a:ln w="12700">
            <a:solidFill>
              <a:srgbClr val="5F6B7A"/>
            </a:solidFill>
            <a:tailEnd type="triangle" w="med" len="med"/>
          </a:ln>
        </p:spPr>
      </p:cxnSp>
      <p:sp>
        <p:nvSpPr>
          <p:cNvPr id="30" name="Rectangle 29"/>
          <p:cNvSpPr/>
          <p:nvPr/>
        </p:nvSpPr>
        <p:spPr>
          <a:xfrm>
            <a:off x="5029200" y="3236976"/>
            <a:ext cx="28346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5F6B7A"/>
            </a:solidFill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166360" y="334670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Calibri"/>
              </a:rPr>
              <a:t>Levodopa PK/PD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3657600"/>
            <a:ext cx="25603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5F6B7A"/>
                </a:solidFill>
                <a:latin typeface="Calibri"/>
              </a:rPr>
              <a:t>dopamine effect, ON / OFF state, personal parameters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46520" y="4123944"/>
            <a:ext cx="0" cy="228600"/>
          </a:xfrm>
          <a:prstGeom prst="line">
            <a:avLst/>
          </a:prstGeom>
          <a:ln w="12700">
            <a:solidFill>
              <a:srgbClr val="5F6B7A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5029200" y="4352544"/>
            <a:ext cx="28346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5F6B7A"/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66360" y="44622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Calibri"/>
              </a:rPr>
              <a:t>Risk models and what-if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4773168"/>
            <a:ext cx="25603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5F6B7A"/>
                </a:solidFill>
                <a:latin typeface="Calibri"/>
              </a:rPr>
              <a:t>A: freeze within 3 s · B: within 2 h · alert drivers · re-simulation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931920" y="2308860"/>
            <a:ext cx="91440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</p:cxnSp>
      <p:cxnSp>
        <p:nvCxnSpPr>
          <p:cNvPr id="38" name="Connector 37"/>
          <p:cNvCxnSpPr/>
          <p:nvPr/>
        </p:nvCxnSpPr>
        <p:spPr>
          <a:xfrm>
            <a:off x="8046720" y="2308860"/>
            <a:ext cx="73152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</p:cxnSp>
      <p:cxnSp>
        <p:nvCxnSpPr>
          <p:cNvPr id="39" name="Connector 38"/>
          <p:cNvCxnSpPr/>
          <p:nvPr/>
        </p:nvCxnSpPr>
        <p:spPr>
          <a:xfrm>
            <a:off x="3931920" y="3680460"/>
            <a:ext cx="91440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</p:cxnSp>
      <p:cxnSp>
        <p:nvCxnSpPr>
          <p:cNvPr id="40" name="Connector 39"/>
          <p:cNvCxnSpPr/>
          <p:nvPr/>
        </p:nvCxnSpPr>
        <p:spPr>
          <a:xfrm>
            <a:off x="8046720" y="3680460"/>
            <a:ext cx="73152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</p:cxnSp>
      <p:cxnSp>
        <p:nvCxnSpPr>
          <p:cNvPr id="41" name="Connector 40"/>
          <p:cNvCxnSpPr/>
          <p:nvPr/>
        </p:nvCxnSpPr>
        <p:spPr>
          <a:xfrm>
            <a:off x="3931920" y="5052060"/>
            <a:ext cx="91440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</p:cxnSp>
      <p:cxnSp>
        <p:nvCxnSpPr>
          <p:cNvPr id="42" name="Connector 41"/>
          <p:cNvCxnSpPr/>
          <p:nvPr/>
        </p:nvCxnSpPr>
        <p:spPr>
          <a:xfrm>
            <a:off x="8046720" y="5052060"/>
            <a:ext cx="73152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</p:cxnSp>
      <p:sp>
        <p:nvSpPr>
          <p:cNvPr id="43" name="Rectangle 42"/>
          <p:cNvSpPr/>
          <p:nvPr/>
        </p:nvSpPr>
        <p:spPr>
          <a:xfrm>
            <a:off x="548640" y="5852160"/>
            <a:ext cx="201168" cy="146304"/>
          </a:xfrm>
          <a:prstGeom prst="rect">
            <a:avLst/>
          </a:prstGeom>
          <a:solidFill>
            <a:srgbClr val="E3EBF4"/>
          </a:solidFill>
          <a:ln w="9525">
            <a:solidFill>
              <a:srgbClr val="1F3A5F"/>
            </a:solidFill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41247" y="582472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F6B7A"/>
                </a:solidFill>
                <a:latin typeface="Calibri"/>
              </a:rPr>
              <a:t>Part of the ParkiScan Neuroverse game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5852160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F6B7A"/>
            </a:solidFill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681727" y="58247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F6B7A"/>
                </a:solidFill>
                <a:latin typeface="Calibri"/>
              </a:rPr>
              <a:t>Data source or output outside the game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824728"/>
            <a:ext cx="3410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F6B7A"/>
                </a:solidFill>
                <a:latin typeface="Calibri"/>
              </a:rPr>
              <a:t>All data stays on the computer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199632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F6B7A"/>
                </a:solidFill>
                <a:latin typeface="Calibri"/>
              </a:rPr>
              <a:t>Models: A predicts a freeze within 3 s from the ankle accelerometer (real data, leave-one-subject-out). B predicts a freeze within 2 h from record, wearables and the levodopa model (synthetic cohort). Research prototype, not a medical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