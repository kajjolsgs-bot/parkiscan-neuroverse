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1F3A5F"/>
                </a:solidFill>
                <a:latin typeface="Calibri"/>
              </a:rPr>
              <a:t>ParkiScan Neuroverse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1F2933"/>
                </a:solidFill>
                <a:latin typeface="Calibri"/>
              </a:rPr>
              <a:t>Game + Digital Twin for freezing of gait in Parkinson's disease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3794760"/>
            <a:ext cx="2286000" cy="0"/>
          </a:xfrm>
          <a:prstGeom prst="line">
            <a:avLst/>
          </a:prstGeom>
          <a:ln w="25400">
            <a:solidFill>
              <a:srgbClr val="1F3A5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5F6B7A"/>
                </a:solidFill>
                <a:latin typeface="Calibri"/>
              </a:rPr>
              <a:t>Happiest Health · Reimagining and Reforming Healthcare in India Summit 2026, Bengaluru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600" b="0" i="0">
                <a:solidFill>
                  <a:srgbClr val="5F6B7A"/>
                </a:solidFill>
                <a:latin typeface="Calibri"/>
              </a:rPr>
              <a:t>Digital Twin Challenge · Phase 1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1F2933"/>
                </a:solidFill>
                <a:latin typeface="Calibri"/>
              </a:rPr>
              <a:t>Team leader: Kajjol · Integrated M.Tech CSE with Business Analytics · VIT Chennai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400" b="0" i="0">
                <a:solidFill>
                  <a:srgbClr val="1F2933"/>
                </a:solidFill>
                <a:latin typeface="Calibri"/>
              </a:rPr>
              <a:t>[Team name]  ·  [Member names]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722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F6B7A"/>
                </a:solidFill>
                <a:latin typeface="Calibri"/>
              </a:rPr>
              <a:t>Research prototype · not a medical device · synthetic or anonymised open data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Problem statement and objective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97280"/>
            <a:ext cx="11091672" cy="0"/>
          </a:xfrm>
          <a:prstGeom prst="line">
            <a:avLst/>
          </a:prstGeom>
          <a:ln w="12700">
            <a:solidFill>
              <a:srgbClr val="C9D0D8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648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ParkiScan Neuroverse · Game +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6480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F6B7A"/>
                </a:solidFill>
                <a:latin typeface="Calibri"/>
              </a:rPr>
              <a:t>2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A5F"/>
                </a:solidFill>
                <a:latin typeface="Calibri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53949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0000"/>
              </a:lnSpc>
              <a:buClr>
                <a:srgbClr val="1F3A5F"/>
              </a:buClr>
              <a:buFont typeface="Arial"/>
              <a:buChar char="•"/>
            </a:pPr>
            <a:r>
              <a:rPr sz="1700" b="0" i="0">
                <a:solidFill>
                  <a:srgbClr val="1F2933"/>
                </a:solidFill>
                <a:latin typeface="Calibri"/>
              </a:rPr>
              <a:t>Parkinson's disease: about 5.8 lakh people in India, roughly 10% of the global burden.</a:t>
            </a:r>
          </a:p>
          <a:p>
            <a:pPr algn="l" marL="201168" indent="-201168">
              <a:lnSpc>
                <a:spcPct val="100000"/>
              </a:lnSpc>
              <a:spcBef>
                <a:spcPts val="1200"/>
              </a:spcBef>
              <a:buClr>
                <a:srgbClr val="1F3A5F"/>
              </a:buClr>
              <a:buFont typeface="Arial"/>
              <a:buChar char="•"/>
            </a:pPr>
            <a:r>
              <a:rPr sz="1700" b="0" i="0">
                <a:solidFill>
                  <a:srgbClr val="1F2933"/>
                </a:solidFill>
                <a:latin typeface="Calibri"/>
              </a:rPr>
              <a:t>Freezing of gait, a sudden inability to step, affects about half of patients in earlier stages and up to 80% as the disease progresses. It is a leading cause of falls.</a:t>
            </a:r>
          </a:p>
          <a:p>
            <a:pPr algn="l" marL="201168" indent="-201168">
              <a:lnSpc>
                <a:spcPct val="100000"/>
              </a:lnSpc>
              <a:spcBef>
                <a:spcPts val="1200"/>
              </a:spcBef>
              <a:buClr>
                <a:srgbClr val="1F3A5F"/>
              </a:buClr>
              <a:buFont typeface="Arial"/>
              <a:buChar char="•"/>
            </a:pPr>
            <a:r>
              <a:rPr sz="1700" b="0" i="0">
                <a:solidFill>
                  <a:srgbClr val="1F2933"/>
                </a:solidFill>
                <a:latin typeface="Calibri"/>
              </a:rPr>
              <a:t>Care is reactive. A neurologist sees the patient every few months and relies on recall, while freezing, wearing-off and falls happen at home in between.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A5F"/>
                </a:solidFill>
                <a:latin typeface="Calibri"/>
              </a:rPr>
              <a:t>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691640"/>
            <a:ext cx="530352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0000"/>
              </a:lnSpc>
              <a:buClr>
                <a:srgbClr val="1F3A5F"/>
              </a:buClr>
              <a:buFont typeface="Arial"/>
              <a:buChar char="•"/>
            </a:pPr>
            <a:r>
              <a:rPr sz="1700" b="0" i="0">
                <a:solidFill>
                  <a:srgbClr val="1F2933"/>
                </a:solidFill>
                <a:latin typeface="Calibri"/>
              </a:rPr>
              <a:t>Build a digital twin of one patient that fuses a synthetic health record, wearable streams, a levodopa model and a home game.</a:t>
            </a:r>
          </a:p>
          <a:p>
            <a:pPr algn="l" marL="201168" indent="-201168">
              <a:lnSpc>
                <a:spcPct val="100000"/>
              </a:lnSpc>
              <a:spcBef>
                <a:spcPts val="1200"/>
              </a:spcBef>
              <a:buClr>
                <a:srgbClr val="1F3A5F"/>
              </a:buClr>
              <a:buFont typeface="Arial"/>
              <a:buChar char="•"/>
            </a:pPr>
            <a:r>
              <a:rPr sz="1700" b="0" i="0">
                <a:solidFill>
                  <a:srgbClr val="1F2933"/>
                </a:solidFill>
                <a:latin typeface="Calibri"/>
              </a:rPr>
              <a:t>Predict the adverse event, freezing of gait: seconds ahead as a warning, and hours ahead as a risk window.</a:t>
            </a:r>
          </a:p>
          <a:p>
            <a:pPr algn="l" marL="201168" indent="-201168">
              <a:lnSpc>
                <a:spcPct val="100000"/>
              </a:lnSpc>
              <a:spcBef>
                <a:spcPts val="1200"/>
              </a:spcBef>
              <a:buClr>
                <a:srgbClr val="1F3A5F"/>
              </a:buClr>
              <a:buFont typeface="Arial"/>
              <a:buChar char="•"/>
            </a:pPr>
            <a:r>
              <a:rPr sz="1700" b="0" i="0">
                <a:solidFill>
                  <a:srgbClr val="1F2933"/>
                </a:solidFill>
                <a:latin typeface="Calibri"/>
              </a:rPr>
              <a:t>Give the clinician a dashboard to see risk and its causes, and to test what-if changes before the next visit.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892040"/>
            <a:ext cx="11091672" cy="100584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50292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Use case.  </a:t>
            </a:r>
            <a:r>
              <a:rPr sz="1400" b="0" i="0">
                <a:solidFill>
                  <a:srgbClr val="1F2933"/>
                </a:solidFill>
                <a:latin typeface="Calibri"/>
              </a:rPr>
              <a:t>A person with Parkinson's plays a short game on a laptop and may wear a low-cost ankle sensor. After each session the twin updates, forecasts freezing risk for the next hours and lets the clinician try changes on the twin first.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6B7A"/>
                </a:solidFill>
                <a:latin typeface="Calibri"/>
              </a:rPr>
              <a:t>Sources: Khurana &amp; Gourie-Devi, Cureus 2025 (India prevalence); Conde et al., Front Neurol 2023 (freezing and falls).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Challenge requirements and how we meet them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97280"/>
            <a:ext cx="11091672" cy="0"/>
          </a:xfrm>
          <a:prstGeom prst="line">
            <a:avLst/>
          </a:prstGeom>
          <a:ln w="12700">
            <a:solidFill>
              <a:srgbClr val="C9D0D8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648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ParkiScan Neuroverse · Game +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6480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F6B7A"/>
                </a:solidFill>
                <a:latin typeface="Calibri"/>
              </a:rPr>
              <a:t>3 / 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681728"/>
        </p:xfrm>
        <a:graphic>
          <a:graphicData uri="http://schemas.openxmlformats.org/drawingml/2006/table">
            <a:tbl>
              <a:tblPr firstRow="0" bandRow="0"/>
              <a:tblGrid>
                <a:gridCol w="3200400"/>
                <a:gridCol w="5788152"/>
                <a:gridCol w="2103120"/>
              </a:tblGrid>
              <a:tr h="58521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F3A5F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F3A5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F3A5F"/>
                          </a:solidFill>
                          <a:latin typeface="Calibri"/>
                        </a:rPr>
                        <a:t>What we built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F3A5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F3A5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F3A5F"/>
                      </a:solidFill>
                    </a:lnB>
                    <a:noFill/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</a:rPr>
                        <a:t>Digital twin of a patient with a localised adverse event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</a:rPr>
                        <a:t>One virtual Parkinson's patient; the adverse event is freezing of gait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</a:rPr>
                        <a:t>Twin service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</a:rPr>
                        <a:t>Static data: synthetic EHR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</a:rPr>
                        <a:t>FHIR R4 record with SNOMED CT and LOINC codes, tagged SYNTHETIC; real clinical header for the 10 Daphnet participants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</a:rPr>
                        <a:t>ParkiScanML/parkiscan/twin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</a:rPr>
                        <a:t>Dynamic data: wearables / IoT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</a:rPr>
                        <a:t>Real Daphnet ankle, thigh and trunk accelerometers; simulated steps, heart rate, sleep, HRV; ESP32 sensor path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</a:rPr>
                        <a:t>Daphnet, simulator, firmware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</a:rPr>
                        <a:t>Fuse both streams and predict the event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</a:rPr>
                        <a:t>Model A: freeze within 3 s, AUC 0.76 on real data. Model B: freeze within 2 h, AUC 0.806 on a synthetic cohort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</a:rPr>
                        <a:t>Reports in ParkiScanML/reports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</a:rPr>
                        <a:t>Doctor dashboard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</a:rPr>
                        <a:t>Risk timeline, alert drivers, ON / OFF curve, what-if, sensor replay, record, model card. Opens inside the game (F2) and in a browser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</a:rPr>
                        <a:t>Game, /dashboard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</a:rPr>
                        <a:t>Sandbox data rules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</a:rPr>
                        <a:t>Only synthetic or anonymised open data; everything runs and stays on the computer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</a:rPr>
                        <a:t>Whole project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</a:rPr>
                        <a:t>Submission package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</a:rPr>
                        <a:t>GitHub README, Apache-2.0 licence, demo video of 20 minutes or more, architecture PDF, presentation PDF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</a:rPr>
                        <a:t>Repository, docs/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97280"/>
            <a:ext cx="11091672" cy="0"/>
          </a:xfrm>
          <a:prstGeom prst="line">
            <a:avLst/>
          </a:prstGeom>
          <a:ln w="12700">
            <a:solidFill>
              <a:srgbClr val="C9D0D8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648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ParkiScan Neuroverse · Game +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6480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F6B7A"/>
                </a:solidFill>
                <a:latin typeface="Calibri"/>
              </a:rPr>
              <a:t>4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A5F"/>
                </a:solidFill>
                <a:latin typeface="Calibri"/>
              </a:rPr>
              <a:t>DATA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37160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A5F"/>
                </a:solidFill>
                <a:latin typeface="Calibri"/>
              </a:rPr>
              <a:t>DIGITAL TWIN SERVICE · PYTHON · LOCAL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371600"/>
            <a:ext cx="28620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A5F"/>
                </a:solidFill>
                <a:latin typeface="Calibri"/>
              </a:rPr>
              <a:t>CLINICIAN AND PLAYER OUT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37360"/>
            <a:ext cx="33832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F6B7A"/>
            </a:solidFill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184708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Calibri"/>
              </a:rPr>
              <a:t>Synthetic health record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157984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5F6B7A"/>
                </a:solidFill>
                <a:latin typeface="Calibri"/>
              </a:rPr>
              <a:t>FHIR R4 · SNOMED CT · LOINC · every resource tagged SYNTHETIC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737360"/>
            <a:ext cx="2862072" cy="1143000"/>
          </a:xfrm>
          <a:prstGeom prst="rect">
            <a:avLst/>
          </a:prstGeom>
          <a:solidFill>
            <a:srgbClr val="E3EBF4"/>
          </a:solidFill>
          <a:ln w="12700">
            <a:solidFill>
              <a:srgbClr val="1F3A5F"/>
            </a:solidFill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915400" y="1847088"/>
            <a:ext cx="2587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Calibri"/>
              </a:rPr>
              <a:t>Dashboard inside the game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2157984"/>
            <a:ext cx="258775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5F6B7A"/>
                </a:solidFill>
                <a:latin typeface="Calibri"/>
              </a:rPr>
              <a:t>F2 anywhere · live, or an offline snapshot when the service is off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108960"/>
            <a:ext cx="33832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F6B7A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85800" y="321868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Calibri"/>
              </a:rPr>
              <a:t>Wearable streams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529584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5F6B7A"/>
                </a:solidFill>
                <a:latin typeface="Calibri"/>
              </a:rPr>
              <a:t>Daphnet ankle, thigh, trunk IMU (real, anonymised) · simulated steps, heart rate, sleep, HRV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0" y="3108960"/>
            <a:ext cx="286207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F6B7A"/>
            </a:solidFill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915400" y="3218688"/>
            <a:ext cx="2587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Calibri"/>
              </a:rPr>
              <a:t>Dashboard in a browser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3529584"/>
            <a:ext cx="258775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5F6B7A"/>
                </a:solidFill>
                <a:latin typeface="Calibri"/>
              </a:rPr>
              <a:t>/dashboard · static copy for GitHub Pages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480560"/>
            <a:ext cx="3383280" cy="1143000"/>
          </a:xfrm>
          <a:prstGeom prst="rect">
            <a:avLst/>
          </a:prstGeom>
          <a:solidFill>
            <a:srgbClr val="E3EBF4"/>
          </a:solidFill>
          <a:ln w="12700">
            <a:solidFill>
              <a:srgbClr val="1F3A5F"/>
            </a:solidFill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" y="459028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Calibri"/>
              </a:rPr>
              <a:t>ParkiScan Neuroverse game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901184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5F6B7A"/>
                </a:solidFill>
                <a:latin typeface="Calibri"/>
              </a:rPr>
              <a:t>3 levels · webcam, voice, drawing, memory, reaction · seated mode · 5 languages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78240" y="4480560"/>
            <a:ext cx="2862072" cy="1143000"/>
          </a:xfrm>
          <a:prstGeom prst="rect">
            <a:avLst/>
          </a:prstGeom>
          <a:solidFill>
            <a:srgbClr val="E3EBF4"/>
          </a:solidFill>
          <a:ln w="12700">
            <a:solidFill>
              <a:srgbClr val="1F3A5F"/>
            </a:solidFill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15400" y="4590288"/>
            <a:ext cx="2587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Calibri"/>
              </a:rPr>
              <a:t>Twin report after Level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4901184"/>
            <a:ext cx="258775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5F6B7A"/>
                </a:solidFill>
                <a:latin typeface="Calibri"/>
              </a:rPr>
              <a:t>six charts for the player · session synced to the twin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46320" y="1737360"/>
            <a:ext cx="3200400" cy="3886200"/>
          </a:xfrm>
          <a:prstGeom prst="rect">
            <a:avLst/>
          </a:prstGeom>
          <a:solidFill>
            <a:srgbClr val="F3F5F7"/>
          </a:solidFill>
          <a:ln w="12700">
            <a:solidFill>
              <a:srgbClr val="5F6B7A"/>
            </a:solidFill>
          </a:ln>
        </p:spPr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029200" y="2121408"/>
            <a:ext cx="283464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5F6B7A"/>
            </a:solidFill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166360" y="2231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2933"/>
                </a:solidFill>
                <a:latin typeface="Calibri"/>
              </a:rPr>
              <a:t>One twin per patient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2542032"/>
            <a:ext cx="256032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0" i="0">
                <a:solidFill>
                  <a:srgbClr val="5F6B7A"/>
                </a:solidFill>
                <a:latin typeface="Calibri"/>
              </a:rPr>
              <a:t>record + wearables + game sessions on a 15-minute grid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446520" y="3008376"/>
            <a:ext cx="0" cy="228600"/>
          </a:xfrm>
          <a:prstGeom prst="line">
            <a:avLst/>
          </a:prstGeom>
          <a:ln w="12700">
            <a:solidFill>
              <a:srgbClr val="5F6B7A"/>
            </a:solidFill>
            <a:tailEnd type="triangle" w="med" len="med"/>
          </a:ln>
        </p:spPr>
      </p:cxnSp>
      <p:sp>
        <p:nvSpPr>
          <p:cNvPr id="32" name="Rectangle 31"/>
          <p:cNvSpPr/>
          <p:nvPr/>
        </p:nvSpPr>
        <p:spPr>
          <a:xfrm>
            <a:off x="5029200" y="3236976"/>
            <a:ext cx="283464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5F6B7A"/>
            </a:solidFill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166360" y="334670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2933"/>
                </a:solidFill>
                <a:latin typeface="Calibri"/>
              </a:rPr>
              <a:t>Levodopa PK/PD 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66360" y="3657600"/>
            <a:ext cx="256032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0" i="0">
                <a:solidFill>
                  <a:srgbClr val="5F6B7A"/>
                </a:solidFill>
                <a:latin typeface="Calibri"/>
              </a:rPr>
              <a:t>dopamine effect, ON / OFF state, personal parameters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446520" y="4123944"/>
            <a:ext cx="0" cy="228600"/>
          </a:xfrm>
          <a:prstGeom prst="line">
            <a:avLst/>
          </a:prstGeom>
          <a:ln w="12700">
            <a:solidFill>
              <a:srgbClr val="5F6B7A"/>
            </a:solidFill>
            <a:tailEnd type="triangle" w="med" len="med"/>
          </a:ln>
        </p:spPr>
      </p:cxnSp>
      <p:sp>
        <p:nvSpPr>
          <p:cNvPr id="36" name="Rectangle 35"/>
          <p:cNvSpPr/>
          <p:nvPr/>
        </p:nvSpPr>
        <p:spPr>
          <a:xfrm>
            <a:off x="5029200" y="4352544"/>
            <a:ext cx="283464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5F6B7A"/>
            </a:solidFill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166360" y="446227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2933"/>
                </a:solidFill>
                <a:latin typeface="Calibri"/>
              </a:rPr>
              <a:t>Risk models and what-if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66360" y="4773168"/>
            <a:ext cx="256032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0" i="0">
                <a:solidFill>
                  <a:srgbClr val="5F6B7A"/>
                </a:solidFill>
                <a:latin typeface="Calibri"/>
              </a:rPr>
              <a:t>A: freeze within 3 s · B: within 2 h · alert drivers · re-simulation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931920" y="2308860"/>
            <a:ext cx="914400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len="med"/>
          </a:ln>
        </p:spPr>
      </p:cxnSp>
      <p:cxnSp>
        <p:nvCxnSpPr>
          <p:cNvPr id="40" name="Connector 39"/>
          <p:cNvCxnSpPr/>
          <p:nvPr/>
        </p:nvCxnSpPr>
        <p:spPr>
          <a:xfrm>
            <a:off x="8046720" y="2308860"/>
            <a:ext cx="731520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len="med"/>
          </a:ln>
        </p:spPr>
      </p:cxnSp>
      <p:cxnSp>
        <p:nvCxnSpPr>
          <p:cNvPr id="41" name="Connector 40"/>
          <p:cNvCxnSpPr/>
          <p:nvPr/>
        </p:nvCxnSpPr>
        <p:spPr>
          <a:xfrm>
            <a:off x="3931920" y="3680460"/>
            <a:ext cx="914400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len="med"/>
          </a:ln>
        </p:spPr>
      </p:cxnSp>
      <p:cxnSp>
        <p:nvCxnSpPr>
          <p:cNvPr id="42" name="Connector 41"/>
          <p:cNvCxnSpPr/>
          <p:nvPr/>
        </p:nvCxnSpPr>
        <p:spPr>
          <a:xfrm>
            <a:off x="8046720" y="3680460"/>
            <a:ext cx="731520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len="med"/>
          </a:ln>
        </p:spPr>
      </p:cxnSp>
      <p:cxnSp>
        <p:nvCxnSpPr>
          <p:cNvPr id="43" name="Connector 42"/>
          <p:cNvCxnSpPr/>
          <p:nvPr/>
        </p:nvCxnSpPr>
        <p:spPr>
          <a:xfrm>
            <a:off x="3931920" y="5052060"/>
            <a:ext cx="914400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len="med"/>
          </a:ln>
        </p:spPr>
      </p:cxnSp>
      <p:cxnSp>
        <p:nvCxnSpPr>
          <p:cNvPr id="44" name="Connector 43"/>
          <p:cNvCxnSpPr/>
          <p:nvPr/>
        </p:nvCxnSpPr>
        <p:spPr>
          <a:xfrm>
            <a:off x="8046720" y="5052060"/>
            <a:ext cx="731520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len="med"/>
          </a:ln>
        </p:spPr>
      </p:cxnSp>
      <p:sp>
        <p:nvSpPr>
          <p:cNvPr id="45" name="Rectangle 44"/>
          <p:cNvSpPr/>
          <p:nvPr/>
        </p:nvSpPr>
        <p:spPr>
          <a:xfrm>
            <a:off x="548640" y="5852160"/>
            <a:ext cx="201168" cy="146304"/>
          </a:xfrm>
          <a:prstGeom prst="rect">
            <a:avLst/>
          </a:prstGeom>
          <a:solidFill>
            <a:srgbClr val="E3EBF4"/>
          </a:solidFill>
          <a:ln w="9525">
            <a:solidFill>
              <a:srgbClr val="1F3A5F"/>
            </a:solidFill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41247" y="5824728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F6B7A"/>
                </a:solidFill>
                <a:latin typeface="Calibri"/>
              </a:rPr>
              <a:t>Part of the ParkiScan Neuroverse game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89120" y="5852160"/>
            <a:ext cx="201168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5F6B7A"/>
            </a:solidFill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681727" y="582472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F6B7A"/>
                </a:solidFill>
                <a:latin typeface="Calibri"/>
              </a:rPr>
              <a:t>Data source or output outside the game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5824728"/>
            <a:ext cx="3410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F6B7A"/>
                </a:solidFill>
                <a:latin typeface="Calibri"/>
              </a:rPr>
              <a:t>All data stays on the computer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End-to-end flow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97280"/>
            <a:ext cx="11091672" cy="0"/>
          </a:xfrm>
          <a:prstGeom prst="line">
            <a:avLst/>
          </a:prstGeom>
          <a:ln w="12700">
            <a:solidFill>
              <a:srgbClr val="C9D0D8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648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ParkiScan Neuroverse · Game +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6480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F6B7A"/>
                </a:solidFill>
                <a:latin typeface="Calibri"/>
              </a:rPr>
              <a:t>5 / 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17319" y="1783080"/>
            <a:ext cx="9354312" cy="0"/>
          </a:xfrm>
          <a:prstGeom prst="line">
            <a:avLst/>
          </a:prstGeom>
          <a:ln w="19050">
            <a:solidFill>
              <a:srgbClr val="1F3A5F"/>
            </a:solidFill>
          </a:ln>
        </p:spPr>
      </p:cxnSp>
      <p:sp>
        <p:nvSpPr>
          <p:cNvPr id="7" name="Oval 6"/>
          <p:cNvSpPr/>
          <p:nvPr/>
        </p:nvSpPr>
        <p:spPr>
          <a:xfrm>
            <a:off x="1216151" y="1581912"/>
            <a:ext cx="402336" cy="402336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F3A5F"/>
                </a:solidFill>
                <a:latin typeface="Calibri"/>
              </a:rPr>
              <a:t>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51760"/>
            <a:ext cx="1645919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50" b="0" i="0">
                <a:solidFill>
                  <a:srgbClr val="1F2933"/>
                </a:solidFill>
                <a:latin typeface="Calibri"/>
              </a:rPr>
              <a:t>The patient plays three levels of short tasks. Seated mode and a clean skip are always available.</a:t>
            </a:r>
          </a:p>
        </p:txBody>
      </p:sp>
      <p:sp>
        <p:nvSpPr>
          <p:cNvPr id="10" name="Oval 9"/>
          <p:cNvSpPr/>
          <p:nvPr/>
        </p:nvSpPr>
        <p:spPr>
          <a:xfrm>
            <a:off x="3087014" y="1581912"/>
            <a:ext cx="402336" cy="402336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9502" y="219456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F3A5F"/>
                </a:solidFill>
                <a:latin typeface="Calibri"/>
              </a:rPr>
              <a:t>Measure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5222" y="2651760"/>
            <a:ext cx="1645919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50" b="0" i="0">
                <a:solidFill>
                  <a:srgbClr val="1F2933"/>
                </a:solidFill>
                <a:latin typeface="Calibri"/>
              </a:rPr>
              <a:t>Each task is recorded on the computer: timing, accuracy, smoothness and tracking quality.</a:t>
            </a:r>
          </a:p>
        </p:txBody>
      </p:sp>
      <p:sp>
        <p:nvSpPr>
          <p:cNvPr id="13" name="Oval 12"/>
          <p:cNvSpPr/>
          <p:nvPr/>
        </p:nvSpPr>
        <p:spPr>
          <a:xfrm>
            <a:off x="4957876" y="1581912"/>
            <a:ext cx="402336" cy="402336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0364" y="219456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F3A5F"/>
                </a:solidFill>
                <a:latin typeface="Calibri"/>
              </a:rPr>
              <a:t>Sync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6084" y="2651760"/>
            <a:ext cx="1645919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50" b="0" i="0">
                <a:solidFill>
                  <a:srgbClr val="1F2933"/>
                </a:solidFill>
                <a:latin typeface="Calibri"/>
              </a:rPr>
              <a:t>At the end of Level 3 the session goes to the local twin service and becomes a patient.</a:t>
            </a:r>
          </a:p>
        </p:txBody>
      </p:sp>
      <p:sp>
        <p:nvSpPr>
          <p:cNvPr id="16" name="Oval 15"/>
          <p:cNvSpPr/>
          <p:nvPr/>
        </p:nvSpPr>
        <p:spPr>
          <a:xfrm>
            <a:off x="6828739" y="1581912"/>
            <a:ext cx="402336" cy="402336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1227" y="219456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F3A5F"/>
                </a:solidFill>
                <a:latin typeface="Calibri"/>
              </a:rPr>
              <a:t>Fuse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6947" y="2651760"/>
            <a:ext cx="1645919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50" b="0" i="0">
                <a:solidFill>
                  <a:srgbClr val="1F2933"/>
                </a:solidFill>
                <a:latin typeface="Calibri"/>
              </a:rPr>
              <a:t>The twin joins record, wearables, the levodopa curve and game measures on a 15-minute grid.</a:t>
            </a:r>
          </a:p>
        </p:txBody>
      </p:sp>
      <p:sp>
        <p:nvSpPr>
          <p:cNvPr id="19" name="Oval 18"/>
          <p:cNvSpPr/>
          <p:nvPr/>
        </p:nvSpPr>
        <p:spPr>
          <a:xfrm>
            <a:off x="8699601" y="1581912"/>
            <a:ext cx="402336" cy="402336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32089" y="219456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F3A5F"/>
                </a:solidFill>
                <a:latin typeface="Calibri"/>
              </a:rPr>
              <a:t>Predict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7809" y="2651760"/>
            <a:ext cx="1645919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50" b="0" i="0">
                <a:solidFill>
                  <a:srgbClr val="1F2933"/>
                </a:solidFill>
                <a:latin typeface="Calibri"/>
              </a:rPr>
              <a:t>Model A: freeze within 3 s. Model B: freeze within 2 h, with the drivers behind each alert.</a:t>
            </a:r>
          </a:p>
        </p:txBody>
      </p:sp>
      <p:sp>
        <p:nvSpPr>
          <p:cNvPr id="22" name="Oval 21"/>
          <p:cNvSpPr/>
          <p:nvPr/>
        </p:nvSpPr>
        <p:spPr>
          <a:xfrm>
            <a:off x="10570463" y="1581912"/>
            <a:ext cx="402336" cy="402336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02951" y="219456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F3A5F"/>
                </a:solidFill>
                <a:latin typeface="Calibri"/>
              </a:rPr>
              <a:t>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2651760"/>
            <a:ext cx="1645919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50" b="0" i="0">
                <a:solidFill>
                  <a:srgbClr val="1F2933"/>
                </a:solidFill>
                <a:latin typeface="Calibri"/>
              </a:rPr>
              <a:t>The clinician opens the dashboard in the game: risk, alerts, what-if, replay, record, model card.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526280"/>
            <a:ext cx="5440680" cy="128016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7240" y="4645152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If the twin service is off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1300" b="0" i="0">
                <a:solidFill>
                  <a:srgbClr val="1F2933"/>
                </a:solidFill>
                <a:latin typeface="Calibri"/>
              </a:rPr>
              <a:t>The in-game dashboard opens a bundled snapshot of 16 twins with 75 what-if scenarios each. The latest session stays listed and can be synced later.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9632" y="4526280"/>
            <a:ext cx="5440680" cy="128016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28232" y="4645152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3A5F"/>
                </a:solidFill>
                <a:latin typeface="Calibri"/>
              </a:rPr>
              <a:t>Closing the loop</a:t>
            </a:r>
          </a:p>
          <a:p>
            <a:pPr algn="l">
              <a:lnSpc>
                <a:spcPct val="100000"/>
              </a:lnSpc>
              <a:spcBef>
                <a:spcPts val="500"/>
              </a:spcBef>
            </a:pPr>
            <a:r>
              <a:rPr sz="1300" b="0" i="0">
                <a:solidFill>
                  <a:srgbClr val="1F2933"/>
                </a:solidFill>
                <a:latin typeface="Calibri"/>
              </a:rPr>
              <a:t>The clinician tries a change on the twin, such as shifting a dose time, discusses it with the patient, and the next session updates the twin. What-if output is for discussion, not a dosing instruction.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What the game extracts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97280"/>
            <a:ext cx="11091672" cy="0"/>
          </a:xfrm>
          <a:prstGeom prst="line">
            <a:avLst/>
          </a:prstGeom>
          <a:ln w="12700">
            <a:solidFill>
              <a:srgbClr val="C9D0D8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648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ParkiScan Neuroverse · Game +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6480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F6B7A"/>
                </a:solidFill>
                <a:latin typeface="Calibri"/>
              </a:rPr>
              <a:t>6 / 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091671" cy="4219956"/>
        </p:xfrm>
        <a:graphic>
          <a:graphicData uri="http://schemas.openxmlformats.org/drawingml/2006/table">
            <a:tbl>
              <a:tblPr firstRow="0" bandRow="0"/>
              <a:tblGrid>
                <a:gridCol w="3566160"/>
                <a:gridCol w="5669280"/>
                <a:gridCol w="1856231"/>
              </a:tblGrid>
              <a:tr h="324612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F3A5F"/>
                          </a:solidFill>
                          <a:latin typeface="Calibri"/>
                        </a:rPr>
                        <a:t>Level · task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F3A5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F3A5F"/>
                          </a:solidFill>
                          <a:latin typeface="Calibri"/>
                        </a:rPr>
                        <a:t>Measures extracted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F3A5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F3A5F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F3A5F"/>
                      </a:solidFill>
                    </a:lnB>
                    <a:noFill/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1 · Follow the memory lantern (webcam gaze)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pointer error, % on target, re-acquisition latency, flash reaction time, eye-calibration error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Visual attention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1 · Memory Core: sustained “Ahh”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voiced duration, pitch mean and variability, jitter and shimmer proxies, HNR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Voice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1 · Memory Core: “pa-ta-ka” and sentence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onset rate and regularity, pauses, speech rate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Speech motor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1 · Memory Core: clap to 90 BPM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inter-clap interval and variability, tempo error, asynchrony to the beat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Rhythm timing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1 · Recover the lost memory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hits, omissions, false recognitions, recall time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Memory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2 · Trace the circuit (spiral)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radial deviation, tremor-band proxy, smoothness, pen lifts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Fine motor, tremor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2 · Connect nodes, repair component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completion time, wrong connections, placement and rotation error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Sequencing, visuospatial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2 · Reactor signal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reaction time mean and SD, false and missed responses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Reaction time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3 · Mirror the avatar (webcam pose)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moves completed, arm elevation, similarity, tracking confidence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Upper-limb movement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3 · Glowing path (steps on the spot)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steps, cadence, step-interval SD, stop and go latency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Stepping, stopping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3 · Memory vehicle (seated steering)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lane offset, time in lane, steering steadiness, brake and go latency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Hand reactions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3 · Six check-ins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answers per domain; kept separate and never scored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1F2933"/>
                          </a:solidFill>
                          <a:latin typeface="Calibri"/>
                        </a:rPr>
                        <a:t>Self-report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3A5F"/>
                </a:solidFill>
                <a:latin typeface="Calibri"/>
              </a:rPr>
              <a:t>How it is used.  </a:t>
            </a:r>
            <a:r>
              <a:rPr sz="1200" b="0" i="0">
                <a:solidFill>
                  <a:srgbClr val="1F2933"/>
                </a:solidFill>
                <a:latin typeface="Calibri"/>
              </a:rPr>
              <a:t>Every record carries quality flags (valid, caveats, insufficient, invalid); QA and simulated runs are labelled. On the twin the measures sit beside the levodopa ON / OFF curve. They are not yet inputs to Models A and B, because no clinician-labelled game sessions exist to train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Predictions and clinician dashboard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97280"/>
            <a:ext cx="11091672" cy="0"/>
          </a:xfrm>
          <a:prstGeom prst="line">
            <a:avLst/>
          </a:prstGeom>
          <a:ln w="12700">
            <a:solidFill>
              <a:srgbClr val="C9D0D8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648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ParkiScan Neuroverse · Game +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6480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F6B7A"/>
                </a:solidFill>
                <a:latin typeface="Calibri"/>
              </a:rPr>
              <a:t>7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A5F"/>
                </a:solidFill>
                <a:latin typeface="Calibri"/>
              </a:rPr>
              <a:t>MODEL A · REAL DAPHNET DATA · FREEZE WITHIN 3 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5120640" cy="2084832"/>
        </p:xfrm>
        <a:graphic>
          <a:graphicData uri="http://schemas.openxmlformats.org/drawingml/2006/table">
            <a:tbl>
              <a:tblPr firstRow="0" bandRow="0"/>
              <a:tblGrid>
                <a:gridCol w="2514600"/>
                <a:gridCol w="260604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3"/>
                          </a:solidFill>
                          <a:latin typeface="Calibri"/>
                        </a:rPr>
                        <a:t>Freeze-index baseline, AUC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3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3"/>
                          </a:solidFill>
                          <a:latin typeface="Calibri"/>
                        </a:rPr>
                        <a:t>Ankle IMU model, AUC (95% CI)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F2933"/>
                          </a:solidFill>
                          <a:latin typeface="Calibri"/>
                        </a:rPr>
                        <a:t>0.76 (0.72–0.83)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3"/>
                          </a:solidFill>
                          <a:latin typeface="Calibri"/>
                        </a:rPr>
                        <a:t>Freezes warned before onset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3"/>
                          </a:solidFill>
                          <a:latin typeface="Calibri"/>
                        </a:rPr>
                        <a:t>62% (148 of 237)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3"/>
                          </a:solidFill>
                          <a:latin typeface="Calibri"/>
                        </a:rPr>
                        <a:t>Median warning lead time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3"/>
                          </a:solidFill>
                          <a:latin typeface="Calibri"/>
                        </a:rPr>
                        <a:t>4.6 s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3"/>
                          </a:solidFill>
                          <a:latin typeface="Calibri"/>
                        </a:rPr>
                        <a:t>False cues per hour of walking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3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3"/>
                          </a:solidFill>
                          <a:latin typeface="Calibri"/>
                        </a:rPr>
                        <a:t>Conservative setting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3"/>
                          </a:solidFill>
                          <a:latin typeface="Calibri"/>
                        </a:rPr>
                        <a:t>43% warned at 40 false cues / h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8404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F6B7A"/>
                </a:solidFill>
                <a:latin typeface="Calibri"/>
              </a:rPr>
              <a:t>Leave-one-subject-out on 10 people; the test person is never seen in training.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24528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A5F"/>
                </a:solidFill>
                <a:latin typeface="Calibri"/>
              </a:rPr>
              <a:t>MODEL B · SYNTHETIC COHORT · FREEZE WITHIN 2 H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526280"/>
          <a:ext cx="5120640" cy="1170432"/>
        </p:xfrm>
        <a:graphic>
          <a:graphicData uri="http://schemas.openxmlformats.org/drawingml/2006/table">
            <a:tbl>
              <a:tblPr firstRow="0" bandRow="0"/>
              <a:tblGrid>
                <a:gridCol w="3566160"/>
                <a:gridCol w="155448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3"/>
                          </a:solidFill>
                          <a:latin typeface="Calibri"/>
                        </a:rPr>
                        <a:t>Health record only, AUC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3"/>
                          </a:solidFill>
                          <a:latin typeface="Calibri"/>
                        </a:rPr>
                        <a:t>0.779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3"/>
                          </a:solidFill>
                          <a:latin typeface="Calibri"/>
                        </a:rPr>
                        <a:t>Wearables only, AUC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3"/>
                          </a:solidFill>
                          <a:latin typeface="Calibri"/>
                        </a:rPr>
                        <a:t>0.759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3"/>
                          </a:solidFill>
                          <a:latin typeface="Calibri"/>
                        </a:rPr>
                        <a:t>Record + wearables, AUC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3"/>
                          </a:solidFill>
                          <a:latin typeface="Calibri"/>
                        </a:rPr>
                        <a:t>0.799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933"/>
                          </a:solidFill>
                          <a:latin typeface="Calibri"/>
                        </a:rPr>
                        <a:t>Digital twin (+ levodopa model), AUC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F2933"/>
                          </a:solidFill>
                          <a:latin typeface="Calibri"/>
                        </a:rPr>
                        <a:t>0.806</a:t>
                      </a:r>
                    </a:p>
                  </a:txBody>
                  <a:tcPr marL="54864" marR="91440" marT="36576" marB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C9D0D8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788152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F6B7A"/>
                </a:solidFill>
                <a:latin typeface="Calibri"/>
              </a:rPr>
              <a:t>Top 10% of alerts capture 45% of freeze windows (lift 4.5×). Labels come from a documented simulator: this shows the fusion works end to end, not clinical accuracy.</a:t>
            </a:r>
          </a:p>
        </p:txBody>
      </p:sp>
      <p:pic>
        <p:nvPicPr>
          <p:cNvPr id="12" name="Picture 11" descr="dash_overview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472" y="1371600"/>
            <a:ext cx="5577840" cy="291763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062472" y="1371600"/>
            <a:ext cx="5577840" cy="2917639"/>
          </a:xfrm>
          <a:prstGeom prst="rect">
            <a:avLst/>
          </a:prstGeom>
          <a:noFill/>
          <a:ln w="9525">
            <a:solidFill>
              <a:srgbClr val="C9D0D8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062472" y="4398967"/>
            <a:ext cx="5577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F6B7A"/>
                </a:solidFill>
                <a:latin typeface="Calibri"/>
              </a:rPr>
              <a:t>Clinician dashboard: freezing risk now and for the next 24 h, alerts with their causes, levodopa ON / OFF curve and what-if simulator. The same views open inside the game with F2.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3A5F"/>
                </a:solidFill>
                <a:latin typeface="Calibri"/>
              </a:rPr>
              <a:t>Novelty, limits and next steps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097280"/>
            <a:ext cx="11091672" cy="0"/>
          </a:xfrm>
          <a:prstGeom prst="line">
            <a:avLst/>
          </a:prstGeom>
          <a:ln w="12700">
            <a:solidFill>
              <a:srgbClr val="C9D0D8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6480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ParkiScan Neuroverse · Game +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6480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F6B7A"/>
                </a:solidFill>
                <a:latin typeface="Calibri"/>
              </a:rPr>
              <a:t>8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A5F"/>
                </a:solidFill>
                <a:latin typeface="Calibri"/>
              </a:rPr>
              <a:t>WHAT IS NEW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512064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Calibri"/>
              </a:rPr>
              <a:t>A game that is also the twin's data source.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The patient plays; the clinician view opens inside the same program.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</a:pPr>
            <a:r>
              <a:rPr sz="1500" b="1" i="0">
                <a:solidFill>
                  <a:srgbClr val="1F2933"/>
                </a:solidFill>
                <a:latin typeface="Calibri"/>
              </a:rPr>
              <a:t>Four sources in one twin.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Record, wearables, game and a personal levodopa PK/PD model.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</a:pPr>
            <a:r>
              <a:rPr sz="1500" b="1" i="0">
                <a:solidFill>
                  <a:srgbClr val="1F2933"/>
                </a:solidFill>
                <a:latin typeface="Calibri"/>
              </a:rPr>
              <a:t>Seconds-ahead forecast, honestly scored.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Leave-one-subject-out, with warned %, lead time and false cues per hour instead of one AUC.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</a:pPr>
            <a:r>
              <a:rPr sz="1500" b="1" i="0">
                <a:solidFill>
                  <a:srgbClr val="1F2933"/>
                </a:solidFill>
                <a:latin typeface="Calibri"/>
              </a:rPr>
              <a:t>Alerts explain themselves.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Each driver is removed in simulation to show how much risk it adds; what-if re-runs the twin with identical noise.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</a:pPr>
            <a:r>
              <a:rPr sz="1500" b="1" i="0">
                <a:solidFill>
                  <a:srgbClr val="1F2933"/>
                </a:solidFill>
                <a:latin typeface="Calibri"/>
              </a:rPr>
              <a:t>Built for Parkinson's.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Webcam only, no hardware needed, seated mode, clean skip, no pass or fail, five languages, runs offline.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37160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A5F"/>
                </a:solidFill>
                <a:latin typeface="Calibri"/>
              </a:rPr>
              <a:t>WHAT WE DO NOT 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691640"/>
            <a:ext cx="292608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0000"/>
              </a:lnSpc>
              <a:buClr>
                <a:srgbClr val="1F3A5F"/>
              </a:buClr>
              <a:buFont typeface="Arial"/>
              <a:buChar char="•"/>
            </a:pPr>
            <a:r>
              <a:rPr sz="1450" b="0" i="0">
                <a:solidFill>
                  <a:srgbClr val="1F2933"/>
                </a:solidFill>
                <a:latin typeface="Calibri"/>
              </a:rPr>
              <a:t>No diagnosis, staging or dosing advice.</a:t>
            </a:r>
          </a:p>
          <a:p>
            <a:pPr algn="l" marL="201168" indent="-201168">
              <a:lnSpc>
                <a:spcPct val="100000"/>
              </a:lnSpc>
              <a:spcBef>
                <a:spcPts val="1100"/>
              </a:spcBef>
              <a:buClr>
                <a:srgbClr val="1F3A5F"/>
              </a:buClr>
              <a:buFont typeface="Arial"/>
              <a:buChar char="•"/>
            </a:pPr>
            <a:r>
              <a:rPr sz="1450" b="0" i="0">
                <a:solidFill>
                  <a:srgbClr val="1F2933"/>
                </a:solidFill>
                <a:latin typeface="Calibri"/>
              </a:rPr>
              <a:t>Model A: 10 people in a lab protocol that provokes freezing; home false-cue rates will differ.</a:t>
            </a:r>
          </a:p>
          <a:p>
            <a:pPr algn="l" marL="201168" indent="-201168">
              <a:lnSpc>
                <a:spcPct val="100000"/>
              </a:lnSpc>
              <a:spcBef>
                <a:spcPts val="1100"/>
              </a:spcBef>
              <a:buClr>
                <a:srgbClr val="1F3A5F"/>
              </a:buClr>
              <a:buFont typeface="Arial"/>
              <a:buChar char="•"/>
            </a:pPr>
            <a:r>
              <a:rPr sz="1450" b="0" i="0">
                <a:solidFill>
                  <a:srgbClr val="1F2933"/>
                </a:solidFill>
                <a:latin typeface="Calibri"/>
              </a:rPr>
              <a:t>Model B and consumer-wearable streams are synthetic.</a:t>
            </a:r>
          </a:p>
          <a:p>
            <a:pPr algn="l" marL="201168" indent="-201168">
              <a:lnSpc>
                <a:spcPct val="100000"/>
              </a:lnSpc>
              <a:spcBef>
                <a:spcPts val="1100"/>
              </a:spcBef>
              <a:buClr>
                <a:srgbClr val="1F3A5F"/>
              </a:buClr>
              <a:buFont typeface="Arial"/>
              <a:buChar char="•"/>
            </a:pPr>
            <a:r>
              <a:rPr sz="1450" b="0" i="0">
                <a:solidFill>
                  <a:srgbClr val="1F2933"/>
                </a:solidFill>
                <a:latin typeface="Calibri"/>
              </a:rPr>
              <a:t>Webcam measures are 2-D estimates, not clinical tracking.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13716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A5F"/>
                </a:solidFill>
                <a:latin typeface="Calibri"/>
              </a:rPr>
              <a:t>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1691640"/>
            <a:ext cx="2313432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00000"/>
              </a:lnSpc>
              <a:buClr>
                <a:srgbClr val="1F3A5F"/>
              </a:buClr>
              <a:buFont typeface="Arial"/>
              <a:buChar char="•"/>
            </a:pPr>
            <a:r>
              <a:rPr sz="1450" b="0" i="0">
                <a:solidFill>
                  <a:srgbClr val="1F2933"/>
                </a:solidFill>
                <a:latin typeface="Calibri"/>
              </a:rPr>
              <a:t>Clinician-labelled game sessions, with ethics approval.</a:t>
            </a:r>
          </a:p>
          <a:p>
            <a:pPr algn="l" marL="201168" indent="-201168">
              <a:lnSpc>
                <a:spcPct val="100000"/>
              </a:lnSpc>
              <a:spcBef>
                <a:spcPts val="1100"/>
              </a:spcBef>
              <a:buClr>
                <a:srgbClr val="1F3A5F"/>
              </a:buClr>
              <a:buFont typeface="Arial"/>
              <a:buChar char="•"/>
            </a:pPr>
            <a:r>
              <a:rPr sz="1450" b="0" i="0">
                <a:solidFill>
                  <a:srgbClr val="1F2933"/>
                </a:solidFill>
                <a:latin typeface="Calibri"/>
              </a:rPr>
              <a:t>Feed game measures into the models.</a:t>
            </a:r>
          </a:p>
          <a:p>
            <a:pPr algn="l" marL="201168" indent="-201168">
              <a:lnSpc>
                <a:spcPct val="100000"/>
              </a:lnSpc>
              <a:spcBef>
                <a:spcPts val="1100"/>
              </a:spcBef>
              <a:buClr>
                <a:srgbClr val="1F3A5F"/>
              </a:buClr>
              <a:buFont typeface="Arial"/>
              <a:buChar char="•"/>
            </a:pPr>
            <a:r>
              <a:rPr sz="1450" b="0" i="0">
                <a:solidFill>
                  <a:srgbClr val="1F2933"/>
                </a:solidFill>
                <a:latin typeface="Calibri"/>
              </a:rPr>
              <a:t>Wearable cue pilot with the ESP32 sensor.</a:t>
            </a:r>
          </a:p>
          <a:p>
            <a:pPr algn="l" marL="201168" indent="-201168">
              <a:lnSpc>
                <a:spcPct val="100000"/>
              </a:lnSpc>
              <a:spcBef>
                <a:spcPts val="1100"/>
              </a:spcBef>
              <a:buClr>
                <a:srgbClr val="1F3A5F"/>
              </a:buClr>
              <a:buFont typeface="Arial"/>
              <a:buChar char="•"/>
            </a:pPr>
            <a:r>
              <a:rPr sz="1450" b="0" i="0">
                <a:solidFill>
                  <a:srgbClr val="1F2933"/>
                </a:solidFill>
                <a:latin typeface="Calibri"/>
              </a:rPr>
              <a:t>Native-speaker review of translations.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669280"/>
            <a:ext cx="11091672" cy="640080"/>
          </a:xfrm>
          <a:prstGeom prst="rect">
            <a:avLst/>
          </a:prstGeom>
          <a:solidFill>
            <a:srgbClr val="F3F5F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566928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F3A5F"/>
                </a:solidFill>
                <a:latin typeface="Calibri"/>
              </a:rPr>
              <a:t>Freezing of gait: from surprise to forecast, from one home game and one digital twin.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