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79"/>
  </p:normalViewPr>
  <p:slideViewPr>
    <p:cSldViewPr snapToGrid="0" snapToObjects="1">
      <p:cViewPr varScale="1">
        <p:scale>
          <a:sx n="104" d="100"/>
          <a:sy n="104" d="100"/>
        </p:scale>
        <p:origin x="800" y="2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26274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Neuroverse is part of ParkiScan: a game that people can play at home, and a digital twin that turns what the game records into something a clinician can review. It is our submission to the Happiest Health Digital Twin Challenge. It is a research prototype, not a diagnostic device.</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Parkinson's affects about 5.8 lakh people in India. Early signs are subtle, and a prodromal phase can come before diagnosis. Yet care depends on visits every few months and recall-based questionnaires, while symptoms change with medication and happen at home. A game is engaging enough to repeat. Gamification can raise engagement, and exergames in rehabilitation perform similarly to conventional exercise, with low certainty. Neuroverse itself is not yet validated: it gives clinicians objective measures to compare over time.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game is one story in three levels, starting with language and avatar. Level 1 covers visual tracking through the Memory Lantern, using webcam eye tracking, and voice through the Memory Core: a sustained vowel, pa-ta-ka, clapping to a beat, and repeating a sentence. Level 2 covers fine motor control with spiral tracing, plus sequencing and reaction time. Level 3 uses pose: mirroring an avatar, walking on the spot or a seated steering drive, and six questionnaire check-ins. Every task records time, errors and a quality flag, and can be skipped.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sources, kept separate. The webcam and microphone give gaze, pose and voice, processed on the device. Wrist and ankle sensors, built from an ESP32 and an MPU-6050, give acceleration and angular velocity at 100 hertz. Each sample is timestamped, validated by a Python receiver, sent locally to Unity and aligned to the game clock. The game itself gives timing, errors and paths. To be clear: this sensor path is built and tested, but not yet run end to end on live hardware.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reviewed ten datasets. Seven were used for training or evaluation, including Daphnet freezing of gait, spirals, gait and voice; our own checks flagged several, and the speech set failed its held-out test. NDDCNN, the Parkinson's Classification set and TMT-PD are proposed. Our models are gradient boosting, a one-dimensional CNN, pretrained face and pose networks, and a local speech model that follows the sentence task. Vision transformers and LSTMs are proposed, not implemented, and we claim no diagnostic accuracy.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architecture runs left to right. The patient picks an avatar and plays. Webcam, microphone and the wrist and ankle sensors feed the Unity game. Sessions go to a local Python service that synchronises, extracts features and runs the modality models. The results build the patient record and digital twin, shown on the clinician dashboard, and the loop returns to the next session. Green is implemented, amber is built with limits, and violet is proposed.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avatar is the player's visual self; a persistent participant ID links every session into one longitudinal record. A twin differs from a profile or dashboard: it combines the record with models, updates after each session, and simulates what-if changes. Today it has a synthetic health record, a levodopa model, wearable streams, and two risk models: freezing within three seconds from real ankle data, AUC 0.76, and within two hours from a synthetic cohort. Game measures sit beside them but do not yet feed the models.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After the last level, the twin report shows six charts, and the Open Clinician Dashboard button opens the dashboard on the player's own twin. The clinician sees voice, visual tracking, spiral measures, cognition, pose, gait and questionnaire answers, next to risk, alerts with their drivers, and a what-if planner. Our freeze warning flagged 62 percent of freezes, with a median lead of 4.6 seconds.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At home, assessment is built: short sessions, a seated mode, and clinician review. Rehabilitation for people already diagnosed is proposed. The evidence for serious games and rhythmic cueing is encouraging, but it concerns the approach in general, not Neuroverse, which would need its own trial. The loop connects home play to clinical review and an individual plan.</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Finally, the mapping to the challenge: a twin of one patient, a synthetic health record, wearable data, fusion and prediction, a doctor dashboard, sandbox-compliant data and the submission package. References are on the slide. Neuroverse needs independent clinical validation. Thank you.</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685800" y="500896"/>
            <a:ext cx="6583680" cy="1785104"/>
          </a:xfrm>
          <a:prstGeom prst="rect">
            <a:avLst/>
          </a:prstGeom>
          <a:noFill/>
        </p:spPr>
        <p:txBody>
          <a:bodyPr wrap="square" lIns="0" tIns="0" rIns="0" bIns="0" anchor="t">
            <a:spAutoFit/>
          </a:bodyPr>
          <a:lstStyle/>
          <a:p>
            <a:pPr algn="l">
              <a:lnSpc>
                <a:spcPct val="100000"/>
              </a:lnSpc>
            </a:pPr>
            <a:r>
              <a:rPr lang="en-US" sz="5800" b="1" i="0" dirty="0">
                <a:solidFill>
                  <a:srgbClr val="1F3A5F"/>
                </a:solidFill>
                <a:latin typeface="Calibri"/>
              </a:rPr>
              <a:t>PARKISCAN</a:t>
            </a:r>
          </a:p>
          <a:p>
            <a:pPr algn="l">
              <a:lnSpc>
                <a:spcPct val="100000"/>
              </a:lnSpc>
            </a:pPr>
            <a:r>
              <a:rPr sz="5800" b="1" i="0" dirty="0">
                <a:solidFill>
                  <a:srgbClr val="1F3A5F"/>
                </a:solidFill>
                <a:latin typeface="Calibri"/>
              </a:rPr>
              <a:t>NEUROVERSE</a:t>
            </a:r>
          </a:p>
        </p:txBody>
      </p:sp>
      <p:sp>
        <p:nvSpPr>
          <p:cNvPr id="3" name="TextBox 2"/>
          <p:cNvSpPr txBox="1"/>
          <p:nvPr/>
        </p:nvSpPr>
        <p:spPr>
          <a:xfrm>
            <a:off x="731520" y="2286000"/>
            <a:ext cx="6309360" cy="1188720"/>
          </a:xfrm>
          <a:prstGeom prst="rect">
            <a:avLst/>
          </a:prstGeom>
          <a:noFill/>
        </p:spPr>
        <p:txBody>
          <a:bodyPr wrap="square" lIns="0" tIns="0" rIns="0" bIns="0" anchor="t">
            <a:spAutoFit/>
          </a:bodyPr>
          <a:lstStyle/>
          <a:p>
            <a:pPr algn="l">
              <a:lnSpc>
                <a:spcPct val="105000"/>
              </a:lnSpc>
            </a:pPr>
            <a:r>
              <a:rPr sz="2400" b="0" i="0">
                <a:solidFill>
                  <a:srgbClr val="1F3A5F"/>
                </a:solidFill>
                <a:latin typeface="Calibri"/>
              </a:rPr>
              <a:t>A game-based home assessment and digital twin for Parkinson’s disease</a:t>
            </a:r>
          </a:p>
        </p:txBody>
      </p:sp>
      <p:sp>
        <p:nvSpPr>
          <p:cNvPr id="4" name="Rounded Rectangle 3"/>
          <p:cNvSpPr/>
          <p:nvPr/>
        </p:nvSpPr>
        <p:spPr>
          <a:xfrm>
            <a:off x="731520" y="3611880"/>
            <a:ext cx="420623" cy="201168"/>
          </a:xfrm>
          <a:prstGeom prst="roundRect">
            <a:avLst>
              <a:gd name="adj" fmla="val 50000"/>
            </a:avLst>
          </a:prstGeom>
          <a:noFill/>
          <a:ln w="12700">
            <a:solidFill>
              <a:srgbClr val="1F3A5F"/>
            </a:solidFill>
          </a:ln>
        </p:spPr>
        <p:txBody>
          <a:bodyPr rtlCol="0" anchor="ctr"/>
          <a:lstStyle/>
          <a:p>
            <a:pPr algn="ctr"/>
            <a:endParaRPr/>
          </a:p>
        </p:txBody>
      </p:sp>
      <p:sp>
        <p:nvSpPr>
          <p:cNvPr id="5" name="TextBox 4"/>
          <p:cNvSpPr txBox="1"/>
          <p:nvPr/>
        </p:nvSpPr>
        <p:spPr>
          <a:xfrm>
            <a:off x="731520" y="3611880"/>
            <a:ext cx="420623" cy="201168"/>
          </a:xfrm>
          <a:prstGeom prst="rect">
            <a:avLst/>
          </a:prstGeom>
          <a:noFill/>
        </p:spPr>
        <p:txBody>
          <a:bodyPr wrap="square" lIns="0" tIns="0" rIns="0" bIns="0" anchor="ctr">
            <a:spAutoFit/>
          </a:bodyPr>
          <a:lstStyle/>
          <a:p>
            <a:pPr algn="ctr">
              <a:lnSpc>
                <a:spcPct val="100000"/>
              </a:lnSpc>
            </a:pPr>
            <a:r>
              <a:rPr sz="1000" b="1" i="0">
                <a:solidFill>
                  <a:srgbClr val="1F3A5F"/>
                </a:solidFill>
                <a:latin typeface="Calibri"/>
              </a:rPr>
              <a:t>GAME</a:t>
            </a:r>
          </a:p>
        </p:txBody>
      </p:sp>
      <p:sp>
        <p:nvSpPr>
          <p:cNvPr id="6" name="Rounded Rectangle 5"/>
          <p:cNvSpPr/>
          <p:nvPr/>
        </p:nvSpPr>
        <p:spPr>
          <a:xfrm>
            <a:off x="1261872" y="3611880"/>
            <a:ext cx="1586484" cy="201168"/>
          </a:xfrm>
          <a:prstGeom prst="roundRect">
            <a:avLst>
              <a:gd name="adj" fmla="val 50000"/>
            </a:avLst>
          </a:prstGeom>
          <a:noFill/>
          <a:ln w="12700">
            <a:solidFill>
              <a:srgbClr val="1F3A5F"/>
            </a:solidFill>
          </a:ln>
        </p:spPr>
        <p:txBody>
          <a:bodyPr rtlCol="0" anchor="ctr"/>
          <a:lstStyle/>
          <a:p>
            <a:pPr algn="ctr"/>
            <a:endParaRPr/>
          </a:p>
        </p:txBody>
      </p:sp>
      <p:sp>
        <p:nvSpPr>
          <p:cNvPr id="7" name="TextBox 6"/>
          <p:cNvSpPr txBox="1"/>
          <p:nvPr/>
        </p:nvSpPr>
        <p:spPr>
          <a:xfrm>
            <a:off x="1261872" y="3611880"/>
            <a:ext cx="1586484" cy="201168"/>
          </a:xfrm>
          <a:prstGeom prst="rect">
            <a:avLst/>
          </a:prstGeom>
          <a:noFill/>
        </p:spPr>
        <p:txBody>
          <a:bodyPr wrap="square" lIns="0" tIns="0" rIns="0" bIns="0" anchor="ctr">
            <a:spAutoFit/>
          </a:bodyPr>
          <a:lstStyle/>
          <a:p>
            <a:pPr algn="ctr">
              <a:lnSpc>
                <a:spcPct val="100000"/>
              </a:lnSpc>
            </a:pPr>
            <a:r>
              <a:rPr sz="1000" b="1" i="0">
                <a:solidFill>
                  <a:srgbClr val="1F3A5F"/>
                </a:solidFill>
                <a:latin typeface="Calibri"/>
              </a:rPr>
              <a:t>VOICE · EYES · MOTION</a:t>
            </a:r>
          </a:p>
        </p:txBody>
      </p:sp>
      <p:sp>
        <p:nvSpPr>
          <p:cNvPr id="8" name="Rounded Rectangle 7"/>
          <p:cNvSpPr/>
          <p:nvPr/>
        </p:nvSpPr>
        <p:spPr>
          <a:xfrm>
            <a:off x="2958084" y="3611880"/>
            <a:ext cx="969263" cy="201168"/>
          </a:xfrm>
          <a:prstGeom prst="roundRect">
            <a:avLst>
              <a:gd name="adj" fmla="val 50000"/>
            </a:avLst>
          </a:prstGeom>
          <a:noFill/>
          <a:ln w="12700">
            <a:solidFill>
              <a:srgbClr val="6B7785"/>
            </a:solidFill>
          </a:ln>
        </p:spPr>
        <p:txBody>
          <a:bodyPr rtlCol="0" anchor="ctr"/>
          <a:lstStyle/>
          <a:p>
            <a:pPr algn="ctr"/>
            <a:endParaRPr/>
          </a:p>
        </p:txBody>
      </p:sp>
      <p:sp>
        <p:nvSpPr>
          <p:cNvPr id="9" name="TextBox 8"/>
          <p:cNvSpPr txBox="1"/>
          <p:nvPr/>
        </p:nvSpPr>
        <p:spPr>
          <a:xfrm>
            <a:off x="2958084" y="3611880"/>
            <a:ext cx="969263" cy="201168"/>
          </a:xfrm>
          <a:prstGeom prst="rect">
            <a:avLst/>
          </a:prstGeom>
          <a:noFill/>
        </p:spPr>
        <p:txBody>
          <a:bodyPr wrap="square" lIns="0" tIns="0" rIns="0" bIns="0" anchor="ctr">
            <a:spAutoFit/>
          </a:bodyPr>
          <a:lstStyle/>
          <a:p>
            <a:pPr algn="ctr">
              <a:lnSpc>
                <a:spcPct val="100000"/>
              </a:lnSpc>
            </a:pPr>
            <a:r>
              <a:rPr sz="1000" b="1" i="0">
                <a:solidFill>
                  <a:srgbClr val="6B7785"/>
                </a:solidFill>
                <a:latin typeface="Calibri"/>
              </a:rPr>
              <a:t>DIGITAL TWIN</a:t>
            </a:r>
          </a:p>
        </p:txBody>
      </p:sp>
      <p:sp>
        <p:nvSpPr>
          <p:cNvPr id="10" name="Rounded Rectangle 9"/>
          <p:cNvSpPr/>
          <p:nvPr/>
        </p:nvSpPr>
        <p:spPr>
          <a:xfrm>
            <a:off x="4037075" y="3611880"/>
            <a:ext cx="1449324" cy="201168"/>
          </a:xfrm>
          <a:prstGeom prst="roundRect">
            <a:avLst>
              <a:gd name="adj" fmla="val 50000"/>
            </a:avLst>
          </a:prstGeom>
          <a:noFill/>
          <a:ln w="12700">
            <a:solidFill>
              <a:srgbClr val="6B7785"/>
            </a:solidFill>
          </a:ln>
        </p:spPr>
        <p:txBody>
          <a:bodyPr rtlCol="0" anchor="ctr"/>
          <a:lstStyle/>
          <a:p>
            <a:pPr algn="ctr"/>
            <a:endParaRPr/>
          </a:p>
        </p:txBody>
      </p:sp>
      <p:sp>
        <p:nvSpPr>
          <p:cNvPr id="11" name="TextBox 10"/>
          <p:cNvSpPr txBox="1"/>
          <p:nvPr/>
        </p:nvSpPr>
        <p:spPr>
          <a:xfrm>
            <a:off x="4037075" y="3611880"/>
            <a:ext cx="1449324" cy="201168"/>
          </a:xfrm>
          <a:prstGeom prst="rect">
            <a:avLst/>
          </a:prstGeom>
          <a:noFill/>
        </p:spPr>
        <p:txBody>
          <a:bodyPr wrap="square" lIns="0" tIns="0" rIns="0" bIns="0" anchor="ctr">
            <a:spAutoFit/>
          </a:bodyPr>
          <a:lstStyle/>
          <a:p>
            <a:pPr algn="ctr">
              <a:lnSpc>
                <a:spcPct val="100000"/>
              </a:lnSpc>
            </a:pPr>
            <a:r>
              <a:rPr sz="1000" b="1" i="0">
                <a:solidFill>
                  <a:srgbClr val="6B7785"/>
                </a:solidFill>
                <a:latin typeface="Calibri"/>
              </a:rPr>
              <a:t>CLINICIAN DASHBOARD</a:t>
            </a:r>
          </a:p>
        </p:txBody>
      </p:sp>
      <p:sp>
        <p:nvSpPr>
          <p:cNvPr id="12" name="TextBox 11"/>
          <p:cNvSpPr txBox="1"/>
          <p:nvPr/>
        </p:nvSpPr>
        <p:spPr>
          <a:xfrm>
            <a:off x="731520" y="4160520"/>
            <a:ext cx="6309360" cy="914400"/>
          </a:xfrm>
          <a:prstGeom prst="rect">
            <a:avLst/>
          </a:prstGeom>
          <a:noFill/>
        </p:spPr>
        <p:txBody>
          <a:bodyPr wrap="square" lIns="0" tIns="0" rIns="0" bIns="0" anchor="t">
            <a:spAutoFit/>
          </a:bodyPr>
          <a:lstStyle/>
          <a:p>
            <a:pPr algn="l">
              <a:lnSpc>
                <a:spcPct val="100000"/>
              </a:lnSpc>
            </a:pPr>
            <a:r>
              <a:rPr sz="1300" b="0" i="0">
                <a:solidFill>
                  <a:srgbClr val="5F6B7A"/>
                </a:solidFill>
                <a:latin typeface="Calibri"/>
              </a:rPr>
              <a:t>ParkiScan Neuroverse · Game + Digital Twin</a:t>
            </a:r>
          </a:p>
          <a:p>
            <a:pPr algn="l">
              <a:lnSpc>
                <a:spcPct val="100000"/>
              </a:lnSpc>
              <a:spcBef>
                <a:spcPts val="400"/>
              </a:spcBef>
            </a:pPr>
            <a:r>
              <a:rPr sz="1300" b="0" i="0">
                <a:solidFill>
                  <a:srgbClr val="5F6B7A"/>
                </a:solidFill>
                <a:latin typeface="Calibri"/>
              </a:rPr>
              <a:t>Happiest Health · Reimagining and Reforming Healthcare in India Summit 2026 · Digital Twin Challenge, Phase 1</a:t>
            </a:r>
          </a:p>
        </p:txBody>
      </p:sp>
      <p:sp>
        <p:nvSpPr>
          <p:cNvPr id="13" name="TextBox 12"/>
          <p:cNvSpPr txBox="1"/>
          <p:nvPr/>
        </p:nvSpPr>
        <p:spPr>
          <a:xfrm>
            <a:off x="731520" y="5257800"/>
            <a:ext cx="6309360" cy="407804"/>
          </a:xfrm>
          <a:prstGeom prst="rect">
            <a:avLst/>
          </a:prstGeom>
          <a:noFill/>
        </p:spPr>
        <p:txBody>
          <a:bodyPr wrap="square" lIns="0" tIns="0" rIns="0" bIns="0" anchor="t">
            <a:spAutoFit/>
          </a:bodyPr>
          <a:lstStyle/>
          <a:p>
            <a:pPr>
              <a:spcBef>
                <a:spcPts val="300"/>
              </a:spcBef>
            </a:pPr>
            <a:r>
              <a:rPr sz="1200" b="0" i="0" dirty="0">
                <a:solidFill>
                  <a:srgbClr val="1F2933"/>
                </a:solidFill>
                <a:latin typeface="Calibri"/>
              </a:rPr>
              <a:t>[</a:t>
            </a:r>
            <a:r>
              <a:rPr lang="en-US" sz="1200" b="0" i="0" dirty="0" err="1">
                <a:solidFill>
                  <a:srgbClr val="1F2933"/>
                </a:solidFill>
                <a:latin typeface="Calibri"/>
              </a:rPr>
              <a:t>CodeZero</a:t>
            </a:r>
            <a:r>
              <a:rPr sz="1200" b="0" i="0" dirty="0">
                <a:solidFill>
                  <a:srgbClr val="1F2933"/>
                </a:solidFill>
                <a:latin typeface="Calibri"/>
              </a:rPr>
              <a:t>]  ·  [</a:t>
            </a:r>
            <a:r>
              <a:rPr lang="en-US" sz="1200" b="0" i="0" dirty="0">
                <a:solidFill>
                  <a:srgbClr val="1F2933"/>
                </a:solidFill>
                <a:latin typeface="Calibri"/>
              </a:rPr>
              <a:t>Arya Kelychankandy</a:t>
            </a:r>
            <a:r>
              <a:rPr sz="1200" b="0" i="0" dirty="0">
                <a:solidFill>
                  <a:srgbClr val="1F2933"/>
                </a:solidFill>
                <a:latin typeface="Calibri"/>
              </a:rPr>
              <a:t>]</a:t>
            </a:r>
            <a:r>
              <a:rPr lang="en-US" sz="1200" b="0" i="0" dirty="0">
                <a:solidFill>
                  <a:srgbClr val="1F2933"/>
                </a:solidFill>
                <a:latin typeface="Calibri"/>
              </a:rPr>
              <a:t> </a:t>
            </a:r>
            <a:r>
              <a:rPr lang="en-IN" sz="1200" dirty="0">
                <a:solidFill>
                  <a:srgbClr val="1F2933"/>
                </a:solidFill>
              </a:rPr>
              <a:t>[Kajjol Aiyer] </a:t>
            </a:r>
          </a:p>
          <a:p>
            <a:pPr>
              <a:spcBef>
                <a:spcPts val="300"/>
              </a:spcBef>
            </a:pPr>
            <a:r>
              <a:rPr lang="en-IN" sz="1200" dirty="0">
                <a:solidFill>
                  <a:srgbClr val="1F2933"/>
                </a:solidFill>
              </a:rPr>
              <a:t>Integrated </a:t>
            </a:r>
            <a:r>
              <a:rPr lang="en-IN" sz="1200" dirty="0" err="1">
                <a:solidFill>
                  <a:srgbClr val="1F2933"/>
                </a:solidFill>
              </a:rPr>
              <a:t>M.Tech</a:t>
            </a:r>
            <a:r>
              <a:rPr lang="en-IN" sz="1200" dirty="0">
                <a:solidFill>
                  <a:srgbClr val="1F2933"/>
                </a:solidFill>
              </a:rPr>
              <a:t> CSE with Business Analytics · VIT Chennai</a:t>
            </a:r>
            <a:endParaRPr sz="1200" b="0" i="0" dirty="0">
              <a:solidFill>
                <a:srgbClr val="1F2933"/>
              </a:solidFill>
              <a:latin typeface="Calibri"/>
            </a:endParaRPr>
          </a:p>
        </p:txBody>
      </p:sp>
      <p:pic>
        <p:nvPicPr>
          <p:cNvPr id="15" name="Picture 14" descr="game_mirror.png"/>
          <p:cNvPicPr>
            <a:picLocks noChangeAspect="1"/>
          </p:cNvPicPr>
          <p:nvPr/>
        </p:nvPicPr>
        <p:blipFill>
          <a:blip r:embed="rId3"/>
          <a:stretch>
            <a:fillRect/>
          </a:stretch>
        </p:blipFill>
        <p:spPr>
          <a:xfrm>
            <a:off x="7269480" y="1417320"/>
            <a:ext cx="4389120" cy="2468880"/>
          </a:xfrm>
          <a:prstGeom prst="rect">
            <a:avLst/>
          </a:prstGeom>
        </p:spPr>
      </p:pic>
      <p:sp>
        <p:nvSpPr>
          <p:cNvPr id="16" name="Rectangle 15"/>
          <p:cNvSpPr/>
          <p:nvPr/>
        </p:nvSpPr>
        <p:spPr>
          <a:xfrm>
            <a:off x="7269480" y="1417320"/>
            <a:ext cx="4389120" cy="2468880"/>
          </a:xfrm>
          <a:prstGeom prst="rect">
            <a:avLst/>
          </a:prstGeom>
          <a:noFill/>
          <a:ln w="15875">
            <a:solidFill>
              <a:srgbClr val="C9D0D8"/>
            </a:solidFill>
          </a:ln>
        </p:spPr>
        <p:txBody>
          <a:bodyPr rtlCol="0" anchor="ctr"/>
          <a:lstStyle/>
          <a:p>
            <a:pPr algn="ctr"/>
            <a:endParaRPr/>
          </a:p>
        </p:txBody>
      </p:sp>
      <p:sp>
        <p:nvSpPr>
          <p:cNvPr id="17" name="TextBox 16"/>
          <p:cNvSpPr txBox="1"/>
          <p:nvPr/>
        </p:nvSpPr>
        <p:spPr>
          <a:xfrm>
            <a:off x="7269480" y="3977639"/>
            <a:ext cx="4389120" cy="457200"/>
          </a:xfrm>
          <a:prstGeom prst="rect">
            <a:avLst/>
          </a:prstGeom>
          <a:noFill/>
        </p:spPr>
        <p:txBody>
          <a:bodyPr wrap="square" lIns="0" tIns="0" rIns="0" bIns="0" anchor="t">
            <a:spAutoFit/>
          </a:bodyPr>
          <a:lstStyle/>
          <a:p>
            <a:pPr algn="l">
              <a:lnSpc>
                <a:spcPct val="100000"/>
              </a:lnSpc>
            </a:pPr>
            <a:r>
              <a:rPr sz="900" b="0" i="0">
                <a:solidFill>
                  <a:srgbClr val="8A94A0"/>
                </a:solidFill>
                <a:latin typeface="Calibri"/>
              </a:rPr>
              <a:t>Level 3 · Mirror the Memory Avatar (development simulation, earlier UI theme)</a:t>
            </a:r>
          </a:p>
        </p:txBody>
      </p:sp>
      <p:sp>
        <p:nvSpPr>
          <p:cNvPr id="18" name="TextBox 17"/>
          <p:cNvSpPr txBox="1"/>
          <p:nvPr/>
        </p:nvSpPr>
        <p:spPr>
          <a:xfrm>
            <a:off x="7269480" y="4572000"/>
            <a:ext cx="4389120" cy="1463040"/>
          </a:xfrm>
          <a:prstGeom prst="rect">
            <a:avLst/>
          </a:prstGeom>
          <a:noFill/>
        </p:spPr>
        <p:txBody>
          <a:bodyPr wrap="square" lIns="0" tIns="0" rIns="0" bIns="0" anchor="t">
            <a:spAutoFit/>
          </a:bodyPr>
          <a:lstStyle/>
          <a:p>
            <a:pPr algn="l">
              <a:lnSpc>
                <a:spcPct val="110000"/>
              </a:lnSpc>
            </a:pPr>
            <a:r>
              <a:rPr sz="1300" b="1" i="0">
                <a:solidFill>
                  <a:srgbClr val="1F2933"/>
                </a:solidFill>
                <a:latin typeface="Calibri"/>
              </a:rPr>
              <a:t>Three levels. One story. </a:t>
            </a:r>
            <a:r>
              <a:rPr sz="1300" b="0" i="0">
                <a:solidFill>
                  <a:srgbClr val="5F6B7A"/>
                </a:solidFill>
                <a:latin typeface="Calibri"/>
              </a:rPr>
              <a:t>Eye tracking, voice, drawing, memory, reaction time, movement and gait are collected as game objectives, then land on one patient record and a clinician dashboard.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The problem, and why a game</a:t>
            </a:r>
          </a:p>
        </p:txBody>
      </p:sp>
      <p:cxnSp>
        <p:nvCxnSpPr>
          <p:cNvPr id="3" name="Connector 2"/>
          <p:cNvCxnSpPr/>
          <p:nvPr/>
        </p:nvCxnSpPr>
        <p:spPr>
          <a:xfrm>
            <a:off x="548640" y="1207008"/>
            <a:ext cx="11091672" cy="0"/>
          </a:xfrm>
          <a:prstGeom prst="line">
            <a:avLst/>
          </a:prstGeom>
          <a:ln w="9525">
            <a:solidFill>
              <a:srgbClr val="C9D0D8"/>
            </a:solidFill>
          </a:ln>
        </p:spPr>
      </p:cxnSp>
      <p:sp>
        <p:nvSpPr>
          <p:cNvPr id="5" name="TextBox 4"/>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2 / 10</a:t>
            </a:r>
          </a:p>
        </p:txBody>
      </p:sp>
      <p:sp>
        <p:nvSpPr>
          <p:cNvPr id="6" name="TextBox 5"/>
          <p:cNvSpPr txBox="1"/>
          <p:nvPr/>
        </p:nvSpPr>
        <p:spPr>
          <a:xfrm>
            <a:off x="548640" y="6254496"/>
            <a:ext cx="11064240" cy="201168"/>
          </a:xfrm>
          <a:prstGeom prst="rect">
            <a:avLst/>
          </a:prstGeom>
          <a:noFill/>
        </p:spPr>
        <p:txBody>
          <a:bodyPr wrap="square" lIns="0" tIns="0" rIns="0" bIns="0" anchor="t">
            <a:spAutoFit/>
          </a:bodyPr>
          <a:lstStyle/>
          <a:p>
            <a:pPr algn="l">
              <a:lnSpc>
                <a:spcPct val="100000"/>
              </a:lnSpc>
            </a:pPr>
            <a:r>
              <a:rPr sz="900" b="0" i="0">
                <a:solidFill>
                  <a:srgbClr val="5F6B7A"/>
                </a:solidFill>
                <a:latin typeface="Calibri"/>
              </a:rPr>
              <a:t>[1] Khurana &amp; Gourie-Devi 2025 · [2] Postuma 2015 · [3] Johnson 2016 · [4] Dockx 2016 (Cochrane) · [5] Garcia-Agundez 2019 · [6] Zhan 2018 · [7] Anderson &amp; MacAskill 2013 · [8] Espay 2016</a:t>
            </a:r>
          </a:p>
        </p:txBody>
      </p:sp>
      <p:sp>
        <p:nvSpPr>
          <p:cNvPr id="7" name="Rounded Rectangle 6"/>
          <p:cNvSpPr/>
          <p:nvPr/>
        </p:nvSpPr>
        <p:spPr>
          <a:xfrm>
            <a:off x="548640" y="1417320"/>
            <a:ext cx="5257800" cy="416052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8" name="TextBox 7"/>
          <p:cNvSpPr txBox="1"/>
          <p:nvPr/>
        </p:nvSpPr>
        <p:spPr>
          <a:xfrm>
            <a:off x="777240" y="1554480"/>
            <a:ext cx="45720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THE PROBLEM</a:t>
            </a:r>
          </a:p>
        </p:txBody>
      </p:sp>
      <p:sp>
        <p:nvSpPr>
          <p:cNvPr id="9" name="TextBox 8"/>
          <p:cNvSpPr txBox="1"/>
          <p:nvPr/>
        </p:nvSpPr>
        <p:spPr>
          <a:xfrm>
            <a:off x="777240" y="1874519"/>
            <a:ext cx="365760" cy="365760"/>
          </a:xfrm>
          <a:prstGeom prst="rect">
            <a:avLst/>
          </a:prstGeom>
          <a:noFill/>
        </p:spPr>
        <p:txBody>
          <a:bodyPr wrap="square" lIns="0" tIns="0" rIns="0" bIns="0" anchor="t">
            <a:spAutoFit/>
          </a:bodyPr>
          <a:lstStyle/>
          <a:p>
            <a:pPr algn="l">
              <a:lnSpc>
                <a:spcPct val="100000"/>
              </a:lnSpc>
            </a:pPr>
            <a:r>
              <a:rPr sz="2200" b="1" i="0">
                <a:solidFill>
                  <a:srgbClr val="1F3A5F"/>
                </a:solidFill>
                <a:latin typeface="Calibri"/>
              </a:rPr>
              <a:t>1</a:t>
            </a:r>
          </a:p>
        </p:txBody>
      </p:sp>
      <p:sp>
        <p:nvSpPr>
          <p:cNvPr id="10" name="TextBox 9"/>
          <p:cNvSpPr txBox="1"/>
          <p:nvPr/>
        </p:nvSpPr>
        <p:spPr>
          <a:xfrm>
            <a:off x="1188720" y="1892807"/>
            <a:ext cx="4434840" cy="822960"/>
          </a:xfrm>
          <a:prstGeom prst="rect">
            <a:avLst/>
          </a:prstGeom>
          <a:noFill/>
        </p:spPr>
        <p:txBody>
          <a:bodyPr wrap="square" lIns="0" tIns="0" rIns="0" bIns="0" anchor="t">
            <a:spAutoFit/>
          </a:bodyPr>
          <a:lstStyle/>
          <a:p>
            <a:pPr algn="l">
              <a:lnSpc>
                <a:spcPct val="105000"/>
              </a:lnSpc>
            </a:pPr>
            <a:r>
              <a:rPr sz="1250" b="0" i="0">
                <a:solidFill>
                  <a:srgbClr val="1F2933"/>
                </a:solidFill>
                <a:latin typeface="Calibri"/>
              </a:rPr>
              <a:t>About 5.8 lakh people in India live with Parkinson’s, roughly 10% of the global burden [1].</a:t>
            </a:r>
          </a:p>
        </p:txBody>
      </p:sp>
      <p:sp>
        <p:nvSpPr>
          <p:cNvPr id="11" name="TextBox 10"/>
          <p:cNvSpPr txBox="1"/>
          <p:nvPr/>
        </p:nvSpPr>
        <p:spPr>
          <a:xfrm>
            <a:off x="777240" y="2770632"/>
            <a:ext cx="365760" cy="365760"/>
          </a:xfrm>
          <a:prstGeom prst="rect">
            <a:avLst/>
          </a:prstGeom>
          <a:noFill/>
        </p:spPr>
        <p:txBody>
          <a:bodyPr wrap="square" lIns="0" tIns="0" rIns="0" bIns="0" anchor="t">
            <a:spAutoFit/>
          </a:bodyPr>
          <a:lstStyle/>
          <a:p>
            <a:pPr algn="l">
              <a:lnSpc>
                <a:spcPct val="100000"/>
              </a:lnSpc>
            </a:pPr>
            <a:r>
              <a:rPr sz="2200" b="1" i="0">
                <a:solidFill>
                  <a:srgbClr val="1F3A5F"/>
                </a:solidFill>
                <a:latin typeface="Calibri"/>
              </a:rPr>
              <a:t>2</a:t>
            </a:r>
          </a:p>
        </p:txBody>
      </p:sp>
      <p:sp>
        <p:nvSpPr>
          <p:cNvPr id="12" name="TextBox 11"/>
          <p:cNvSpPr txBox="1"/>
          <p:nvPr/>
        </p:nvSpPr>
        <p:spPr>
          <a:xfrm>
            <a:off x="1188720" y="2788920"/>
            <a:ext cx="4434840" cy="822960"/>
          </a:xfrm>
          <a:prstGeom prst="rect">
            <a:avLst/>
          </a:prstGeom>
          <a:noFill/>
        </p:spPr>
        <p:txBody>
          <a:bodyPr wrap="square" lIns="0" tIns="0" rIns="0" bIns="0" anchor="t">
            <a:spAutoFit/>
          </a:bodyPr>
          <a:lstStyle/>
          <a:p>
            <a:pPr algn="l">
              <a:lnSpc>
                <a:spcPct val="105000"/>
              </a:lnSpc>
            </a:pPr>
            <a:r>
              <a:rPr sz="1250" b="0" i="0">
                <a:solidFill>
                  <a:srgbClr val="1F2933"/>
                </a:solidFill>
                <a:latin typeface="Calibri"/>
              </a:rPr>
              <a:t>Early signs can be subtle. A prodromal phase with small, non-obvious changes can precede diagnosis [2], and mild changes are easy to put down to ageing.</a:t>
            </a:r>
          </a:p>
        </p:txBody>
      </p:sp>
      <p:sp>
        <p:nvSpPr>
          <p:cNvPr id="13" name="TextBox 12"/>
          <p:cNvSpPr txBox="1"/>
          <p:nvPr/>
        </p:nvSpPr>
        <p:spPr>
          <a:xfrm>
            <a:off x="777240" y="3666744"/>
            <a:ext cx="365760" cy="365760"/>
          </a:xfrm>
          <a:prstGeom prst="rect">
            <a:avLst/>
          </a:prstGeom>
          <a:noFill/>
        </p:spPr>
        <p:txBody>
          <a:bodyPr wrap="square" lIns="0" tIns="0" rIns="0" bIns="0" anchor="t">
            <a:spAutoFit/>
          </a:bodyPr>
          <a:lstStyle/>
          <a:p>
            <a:pPr algn="l">
              <a:lnSpc>
                <a:spcPct val="100000"/>
              </a:lnSpc>
            </a:pPr>
            <a:r>
              <a:rPr sz="2200" b="1" i="0">
                <a:solidFill>
                  <a:srgbClr val="1F3A5F"/>
                </a:solidFill>
                <a:latin typeface="Calibri"/>
              </a:rPr>
              <a:t>3</a:t>
            </a:r>
          </a:p>
        </p:txBody>
      </p:sp>
      <p:sp>
        <p:nvSpPr>
          <p:cNvPr id="14" name="TextBox 13"/>
          <p:cNvSpPr txBox="1"/>
          <p:nvPr/>
        </p:nvSpPr>
        <p:spPr>
          <a:xfrm>
            <a:off x="1188720" y="3685031"/>
            <a:ext cx="4434840" cy="822960"/>
          </a:xfrm>
          <a:prstGeom prst="rect">
            <a:avLst/>
          </a:prstGeom>
          <a:noFill/>
        </p:spPr>
        <p:txBody>
          <a:bodyPr wrap="square" lIns="0" tIns="0" rIns="0" bIns="0" anchor="t">
            <a:spAutoFit/>
          </a:bodyPr>
          <a:lstStyle/>
          <a:p>
            <a:pPr algn="l">
              <a:lnSpc>
                <a:spcPct val="105000"/>
              </a:lnSpc>
            </a:pPr>
            <a:r>
              <a:rPr sz="1250" b="0" i="0">
                <a:solidFill>
                  <a:srgbClr val="1F2933"/>
                </a:solidFill>
                <a:latin typeface="Calibri"/>
              </a:rPr>
              <a:t>Care relies on occasional clinic visits and questionnaires: a snapshot every few months, based on recall.</a:t>
            </a:r>
          </a:p>
        </p:txBody>
      </p:sp>
      <p:sp>
        <p:nvSpPr>
          <p:cNvPr id="15" name="TextBox 14"/>
          <p:cNvSpPr txBox="1"/>
          <p:nvPr/>
        </p:nvSpPr>
        <p:spPr>
          <a:xfrm>
            <a:off x="777240" y="4562856"/>
            <a:ext cx="365760" cy="365760"/>
          </a:xfrm>
          <a:prstGeom prst="rect">
            <a:avLst/>
          </a:prstGeom>
          <a:noFill/>
        </p:spPr>
        <p:txBody>
          <a:bodyPr wrap="square" lIns="0" tIns="0" rIns="0" bIns="0" anchor="t">
            <a:spAutoFit/>
          </a:bodyPr>
          <a:lstStyle/>
          <a:p>
            <a:pPr algn="l">
              <a:lnSpc>
                <a:spcPct val="100000"/>
              </a:lnSpc>
            </a:pPr>
            <a:r>
              <a:rPr sz="2200" b="1" i="0">
                <a:solidFill>
                  <a:srgbClr val="1F3A5F"/>
                </a:solidFill>
                <a:latin typeface="Calibri"/>
              </a:rPr>
              <a:t>4</a:t>
            </a:r>
          </a:p>
        </p:txBody>
      </p:sp>
      <p:sp>
        <p:nvSpPr>
          <p:cNvPr id="16" name="TextBox 15"/>
          <p:cNvSpPr txBox="1"/>
          <p:nvPr/>
        </p:nvSpPr>
        <p:spPr>
          <a:xfrm>
            <a:off x="1188720" y="4581144"/>
            <a:ext cx="4434840" cy="822960"/>
          </a:xfrm>
          <a:prstGeom prst="rect">
            <a:avLst/>
          </a:prstGeom>
          <a:noFill/>
        </p:spPr>
        <p:txBody>
          <a:bodyPr wrap="square" lIns="0" tIns="0" rIns="0" bIns="0" anchor="t">
            <a:spAutoFit/>
          </a:bodyPr>
          <a:lstStyle/>
          <a:p>
            <a:pPr algn="l">
              <a:lnSpc>
                <a:spcPct val="105000"/>
              </a:lnSpc>
            </a:pPr>
            <a:r>
              <a:rPr sz="1250" b="0" i="0">
                <a:solidFill>
                  <a:srgbClr val="1F2933"/>
                </a:solidFill>
                <a:latin typeface="Calibri"/>
              </a:rPr>
              <a:t>Symptoms fluctuate with medication state and happen at home, between visits. Wearable and home technology can supply objective data between visits [8].</a:t>
            </a:r>
          </a:p>
        </p:txBody>
      </p:sp>
      <p:sp>
        <p:nvSpPr>
          <p:cNvPr id="17" name="Rounded Rectangle 16"/>
          <p:cNvSpPr/>
          <p:nvPr/>
        </p:nvSpPr>
        <p:spPr>
          <a:xfrm>
            <a:off x="6035040" y="1417320"/>
            <a:ext cx="5605272" cy="416052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18" name="TextBox 17"/>
          <p:cNvSpPr txBox="1"/>
          <p:nvPr/>
        </p:nvSpPr>
        <p:spPr>
          <a:xfrm>
            <a:off x="6263640" y="1554480"/>
            <a:ext cx="45720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WHY AN INTERACTIVE GAME</a:t>
            </a:r>
          </a:p>
        </p:txBody>
      </p:sp>
      <p:sp>
        <p:nvSpPr>
          <p:cNvPr id="19" name="Rounded Rectangle 18"/>
          <p:cNvSpPr/>
          <p:nvPr/>
        </p:nvSpPr>
        <p:spPr>
          <a:xfrm>
            <a:off x="6263640" y="1874519"/>
            <a:ext cx="900684" cy="201168"/>
          </a:xfrm>
          <a:prstGeom prst="roundRect">
            <a:avLst>
              <a:gd name="adj" fmla="val 50000"/>
            </a:avLst>
          </a:prstGeom>
          <a:noFill/>
          <a:ln w="12700">
            <a:solidFill>
              <a:srgbClr val="2F6B4F"/>
            </a:solidFill>
          </a:ln>
        </p:spPr>
        <p:txBody>
          <a:bodyPr rtlCol="0" anchor="ctr"/>
          <a:lstStyle/>
          <a:p>
            <a:pPr algn="ctr"/>
            <a:endParaRPr/>
          </a:p>
        </p:txBody>
      </p:sp>
      <p:sp>
        <p:nvSpPr>
          <p:cNvPr id="20" name="TextBox 19"/>
          <p:cNvSpPr txBox="1"/>
          <p:nvPr/>
        </p:nvSpPr>
        <p:spPr>
          <a:xfrm>
            <a:off x="6263640" y="1874519"/>
            <a:ext cx="900684" cy="201168"/>
          </a:xfrm>
          <a:prstGeom prst="rect">
            <a:avLst/>
          </a:prstGeom>
          <a:noFill/>
        </p:spPr>
        <p:txBody>
          <a:bodyPr wrap="square" lIns="0" tIns="0" rIns="0" bIns="0" anchor="ctr">
            <a:spAutoFit/>
          </a:bodyPr>
          <a:lstStyle/>
          <a:p>
            <a:pPr algn="ctr">
              <a:lnSpc>
                <a:spcPct val="100000"/>
              </a:lnSpc>
            </a:pPr>
            <a:r>
              <a:rPr sz="850" b="1" i="0">
                <a:solidFill>
                  <a:srgbClr val="2F6B4F"/>
                </a:solidFill>
                <a:latin typeface="Calibri"/>
              </a:rPr>
              <a:t>ESTABLISHED</a:t>
            </a:r>
          </a:p>
        </p:txBody>
      </p:sp>
      <p:sp>
        <p:nvSpPr>
          <p:cNvPr id="21" name="TextBox 20"/>
          <p:cNvSpPr txBox="1"/>
          <p:nvPr/>
        </p:nvSpPr>
        <p:spPr>
          <a:xfrm>
            <a:off x="6263640" y="2130552"/>
            <a:ext cx="5166360" cy="640080"/>
          </a:xfrm>
          <a:prstGeom prst="rect">
            <a:avLst/>
          </a:prstGeom>
          <a:noFill/>
        </p:spPr>
        <p:txBody>
          <a:bodyPr wrap="square" lIns="0" tIns="0" rIns="0" bIns="0" anchor="t">
            <a:spAutoFit/>
          </a:bodyPr>
          <a:lstStyle/>
          <a:p>
            <a:pPr algn="l">
              <a:lnSpc>
                <a:spcPct val="105000"/>
              </a:lnSpc>
            </a:pPr>
            <a:r>
              <a:rPr sz="1200" b="0" i="0">
                <a:solidFill>
                  <a:srgbClr val="1F2933"/>
                </a:solidFill>
                <a:latin typeface="Calibri"/>
              </a:rPr>
              <a:t>Gamification is used to raise engagement in health interventions; the review finds the evidence promising but limited [3].</a:t>
            </a:r>
          </a:p>
        </p:txBody>
      </p:sp>
      <p:sp>
        <p:nvSpPr>
          <p:cNvPr id="22" name="Rounded Rectangle 21"/>
          <p:cNvSpPr/>
          <p:nvPr/>
        </p:nvSpPr>
        <p:spPr>
          <a:xfrm>
            <a:off x="6263640" y="2779776"/>
            <a:ext cx="900684" cy="201168"/>
          </a:xfrm>
          <a:prstGeom prst="roundRect">
            <a:avLst>
              <a:gd name="adj" fmla="val 50000"/>
            </a:avLst>
          </a:prstGeom>
          <a:noFill/>
          <a:ln w="12700">
            <a:solidFill>
              <a:srgbClr val="2F6B4F"/>
            </a:solidFill>
          </a:ln>
        </p:spPr>
        <p:txBody>
          <a:bodyPr rtlCol="0" anchor="ctr"/>
          <a:lstStyle/>
          <a:p>
            <a:pPr algn="ctr"/>
            <a:endParaRPr/>
          </a:p>
        </p:txBody>
      </p:sp>
      <p:sp>
        <p:nvSpPr>
          <p:cNvPr id="23" name="TextBox 22"/>
          <p:cNvSpPr txBox="1"/>
          <p:nvPr/>
        </p:nvSpPr>
        <p:spPr>
          <a:xfrm>
            <a:off x="6263640" y="2779776"/>
            <a:ext cx="900684" cy="201168"/>
          </a:xfrm>
          <a:prstGeom prst="rect">
            <a:avLst/>
          </a:prstGeom>
          <a:noFill/>
        </p:spPr>
        <p:txBody>
          <a:bodyPr wrap="square" lIns="0" tIns="0" rIns="0" bIns="0" anchor="ctr">
            <a:spAutoFit/>
          </a:bodyPr>
          <a:lstStyle/>
          <a:p>
            <a:pPr algn="ctr">
              <a:lnSpc>
                <a:spcPct val="100000"/>
              </a:lnSpc>
            </a:pPr>
            <a:r>
              <a:rPr sz="850" b="1" i="0">
                <a:solidFill>
                  <a:srgbClr val="2F6B4F"/>
                </a:solidFill>
                <a:latin typeface="Calibri"/>
              </a:rPr>
              <a:t>ESTABLISHED</a:t>
            </a:r>
          </a:p>
        </p:txBody>
      </p:sp>
      <p:sp>
        <p:nvSpPr>
          <p:cNvPr id="24" name="TextBox 23"/>
          <p:cNvSpPr txBox="1"/>
          <p:nvPr/>
        </p:nvSpPr>
        <p:spPr>
          <a:xfrm>
            <a:off x="6263640" y="3035808"/>
            <a:ext cx="5166360" cy="640080"/>
          </a:xfrm>
          <a:prstGeom prst="rect">
            <a:avLst/>
          </a:prstGeom>
          <a:noFill/>
        </p:spPr>
        <p:txBody>
          <a:bodyPr wrap="square" lIns="0" tIns="0" rIns="0" bIns="0" anchor="t">
            <a:spAutoFit/>
          </a:bodyPr>
          <a:lstStyle/>
          <a:p>
            <a:pPr algn="l">
              <a:lnSpc>
                <a:spcPct val="105000"/>
              </a:lnSpc>
            </a:pPr>
            <a:r>
              <a:rPr sz="1200" b="0" i="0">
                <a:solidFill>
                  <a:srgbClr val="1F2933"/>
                </a:solidFill>
                <a:latin typeface="Calibri"/>
              </a:rPr>
              <a:t>Smartphone tasks (voice, tapping, gait, balance, memory) can quantify Parkinson’s severity at scale [6]; eye-movement changes are documented in PD [7].</a:t>
            </a:r>
          </a:p>
        </p:txBody>
      </p:sp>
      <p:sp>
        <p:nvSpPr>
          <p:cNvPr id="25" name="Rounded Rectangle 24"/>
          <p:cNvSpPr/>
          <p:nvPr/>
        </p:nvSpPr>
        <p:spPr>
          <a:xfrm>
            <a:off x="6263640" y="3685032"/>
            <a:ext cx="900684" cy="201168"/>
          </a:xfrm>
          <a:prstGeom prst="roundRect">
            <a:avLst>
              <a:gd name="adj" fmla="val 50000"/>
            </a:avLst>
          </a:prstGeom>
          <a:noFill/>
          <a:ln w="12700">
            <a:solidFill>
              <a:srgbClr val="2F6B4F"/>
            </a:solidFill>
          </a:ln>
        </p:spPr>
        <p:txBody>
          <a:bodyPr rtlCol="0" anchor="ctr"/>
          <a:lstStyle/>
          <a:p>
            <a:pPr algn="ctr"/>
            <a:endParaRPr/>
          </a:p>
        </p:txBody>
      </p:sp>
      <p:sp>
        <p:nvSpPr>
          <p:cNvPr id="26" name="TextBox 25"/>
          <p:cNvSpPr txBox="1"/>
          <p:nvPr/>
        </p:nvSpPr>
        <p:spPr>
          <a:xfrm>
            <a:off x="6263640" y="3685032"/>
            <a:ext cx="900684" cy="201168"/>
          </a:xfrm>
          <a:prstGeom prst="rect">
            <a:avLst/>
          </a:prstGeom>
          <a:noFill/>
        </p:spPr>
        <p:txBody>
          <a:bodyPr wrap="square" lIns="0" tIns="0" rIns="0" bIns="0" anchor="ctr">
            <a:spAutoFit/>
          </a:bodyPr>
          <a:lstStyle/>
          <a:p>
            <a:pPr algn="ctr">
              <a:lnSpc>
                <a:spcPct val="100000"/>
              </a:lnSpc>
            </a:pPr>
            <a:r>
              <a:rPr sz="850" b="1" i="0">
                <a:solidFill>
                  <a:srgbClr val="2F6B4F"/>
                </a:solidFill>
                <a:latin typeface="Calibri"/>
              </a:rPr>
              <a:t>ESTABLISHED</a:t>
            </a:r>
          </a:p>
        </p:txBody>
      </p:sp>
      <p:sp>
        <p:nvSpPr>
          <p:cNvPr id="27" name="TextBox 26"/>
          <p:cNvSpPr txBox="1"/>
          <p:nvPr/>
        </p:nvSpPr>
        <p:spPr>
          <a:xfrm>
            <a:off x="6263640" y="3941064"/>
            <a:ext cx="5166360" cy="640080"/>
          </a:xfrm>
          <a:prstGeom prst="rect">
            <a:avLst/>
          </a:prstGeom>
          <a:noFill/>
        </p:spPr>
        <p:txBody>
          <a:bodyPr wrap="square" lIns="0" tIns="0" rIns="0" bIns="0" anchor="t">
            <a:spAutoFit/>
          </a:bodyPr>
          <a:lstStyle/>
          <a:p>
            <a:pPr algn="l">
              <a:lnSpc>
                <a:spcPct val="105000"/>
              </a:lnSpc>
            </a:pPr>
            <a:r>
              <a:rPr sz="1200" b="0" i="0">
                <a:solidFill>
                  <a:srgbClr val="1F2933"/>
                </a:solidFill>
                <a:latin typeface="Calibri"/>
              </a:rPr>
              <a:t>VR / exergames are feasible and safe in PD; versus conventional exercise results were similar, with low-certainty evidence (8 trials, 263 people) [4,5].</a:t>
            </a:r>
          </a:p>
        </p:txBody>
      </p:sp>
      <p:sp>
        <p:nvSpPr>
          <p:cNvPr id="28" name="Rounded Rectangle 27"/>
          <p:cNvSpPr/>
          <p:nvPr/>
        </p:nvSpPr>
        <p:spPr>
          <a:xfrm>
            <a:off x="6263640" y="4590288"/>
            <a:ext cx="1586484" cy="201168"/>
          </a:xfrm>
          <a:prstGeom prst="roundRect">
            <a:avLst>
              <a:gd name="adj" fmla="val 50000"/>
            </a:avLst>
          </a:prstGeom>
          <a:noFill/>
          <a:ln w="12700">
            <a:solidFill>
              <a:srgbClr val="6B7785"/>
            </a:solidFill>
          </a:ln>
        </p:spPr>
        <p:txBody>
          <a:bodyPr rtlCol="0" anchor="ctr"/>
          <a:lstStyle/>
          <a:p>
            <a:pPr algn="ctr"/>
            <a:endParaRPr/>
          </a:p>
        </p:txBody>
      </p:sp>
      <p:sp>
        <p:nvSpPr>
          <p:cNvPr id="29" name="TextBox 28"/>
          <p:cNvSpPr txBox="1"/>
          <p:nvPr/>
        </p:nvSpPr>
        <p:spPr>
          <a:xfrm>
            <a:off x="6263640" y="4590288"/>
            <a:ext cx="1586484" cy="201168"/>
          </a:xfrm>
          <a:prstGeom prst="rect">
            <a:avLst/>
          </a:prstGeom>
          <a:noFill/>
        </p:spPr>
        <p:txBody>
          <a:bodyPr wrap="square" lIns="0" tIns="0" rIns="0" bIns="0" anchor="ctr">
            <a:spAutoFit/>
          </a:bodyPr>
          <a:lstStyle/>
          <a:p>
            <a:pPr algn="ctr">
              <a:lnSpc>
                <a:spcPct val="100000"/>
              </a:lnSpc>
            </a:pPr>
            <a:r>
              <a:rPr sz="850" b="1" i="0">
                <a:solidFill>
                  <a:srgbClr val="6B7785"/>
                </a:solidFill>
                <a:latin typeface="Calibri"/>
              </a:rPr>
              <a:t>NEUROVERSE · PROPOSED</a:t>
            </a:r>
          </a:p>
        </p:txBody>
      </p:sp>
      <p:sp>
        <p:nvSpPr>
          <p:cNvPr id="30" name="TextBox 29"/>
          <p:cNvSpPr txBox="1"/>
          <p:nvPr/>
        </p:nvSpPr>
        <p:spPr>
          <a:xfrm>
            <a:off x="6263640" y="4846320"/>
            <a:ext cx="5166360" cy="640080"/>
          </a:xfrm>
          <a:prstGeom prst="rect">
            <a:avLst/>
          </a:prstGeom>
          <a:noFill/>
        </p:spPr>
        <p:txBody>
          <a:bodyPr wrap="square" lIns="0" tIns="0" rIns="0" bIns="0" anchor="t">
            <a:spAutoFit/>
          </a:bodyPr>
          <a:lstStyle/>
          <a:p>
            <a:pPr algn="l">
              <a:lnSpc>
                <a:spcPct val="105000"/>
              </a:lnSpc>
            </a:pPr>
            <a:r>
              <a:rPr sz="1200" b="0" i="0">
                <a:solidFill>
                  <a:srgbClr val="1F2933"/>
                </a:solidFill>
                <a:latin typeface="Calibri"/>
              </a:rPr>
              <a:t>Neuroverse turns these tasks into one 3-level story with avatars, feedback and a skip on every task, so repeat sessions at home stay tolerable. Engagement and diagnostic value are not yet tested.</a:t>
            </a:r>
          </a:p>
        </p:txBody>
      </p:sp>
      <p:sp>
        <p:nvSpPr>
          <p:cNvPr id="31" name="Rounded Rectangle 30"/>
          <p:cNvSpPr/>
          <p:nvPr/>
        </p:nvSpPr>
        <p:spPr>
          <a:xfrm>
            <a:off x="548640" y="5669280"/>
            <a:ext cx="11091672" cy="502920"/>
          </a:xfrm>
          <a:prstGeom prst="roundRect">
            <a:avLst>
              <a:gd name="adj" fmla="val 2000"/>
            </a:avLst>
          </a:prstGeom>
          <a:solidFill>
            <a:srgbClr val="F3F5F7"/>
          </a:solidFill>
          <a:ln w="9525">
            <a:solidFill>
              <a:srgbClr val="1F3A5F"/>
            </a:solidFill>
          </a:ln>
        </p:spPr>
        <p:txBody>
          <a:bodyPr rtlCol="0" anchor="ctr"/>
          <a:lstStyle/>
          <a:p>
            <a:pPr algn="ctr"/>
            <a:endParaRPr/>
          </a:p>
        </p:txBody>
      </p:sp>
      <p:sp>
        <p:nvSpPr>
          <p:cNvPr id="32" name="TextBox 31"/>
          <p:cNvSpPr txBox="1"/>
          <p:nvPr/>
        </p:nvSpPr>
        <p:spPr>
          <a:xfrm>
            <a:off x="777240" y="5669280"/>
            <a:ext cx="10698480" cy="502920"/>
          </a:xfrm>
          <a:prstGeom prst="rect">
            <a:avLst/>
          </a:prstGeom>
          <a:noFill/>
        </p:spPr>
        <p:txBody>
          <a:bodyPr wrap="square" lIns="0" tIns="0" rIns="0" bIns="0" anchor="ctr">
            <a:spAutoFit/>
          </a:bodyPr>
          <a:lstStyle/>
          <a:p>
            <a:pPr algn="l">
              <a:lnSpc>
                <a:spcPct val="100000"/>
              </a:lnSpc>
            </a:pPr>
            <a:r>
              <a:rPr sz="1200" b="1" i="0">
                <a:solidFill>
                  <a:srgbClr val="1F3A5F"/>
                </a:solidFill>
                <a:latin typeface="Calibri"/>
              </a:rPr>
              <a:t>Not a standalone diagnostic tool.  </a:t>
            </a:r>
            <a:r>
              <a:rPr sz="1200" b="0" i="0">
                <a:solidFill>
                  <a:srgbClr val="1F2933"/>
                </a:solidFill>
                <a:latin typeface="Calibri"/>
              </a:rPr>
              <a:t>Neuroverse records objective measures with quality flags so a clinician can compare sessions. The overall Parkinson’s classification is withheld until it is validated on clinician-labelled sessions.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Complete game flow: assessments as objectives</a:t>
            </a:r>
          </a:p>
        </p:txBody>
      </p:sp>
      <p:sp>
        <p:nvSpPr>
          <p:cNvPr id="3" name="TextBox 2"/>
          <p:cNvSpPr txBox="1"/>
          <p:nvPr/>
        </p:nvSpPr>
        <p:spPr>
          <a:xfrm>
            <a:off x="548640" y="841248"/>
            <a:ext cx="10789920" cy="274320"/>
          </a:xfrm>
          <a:prstGeom prst="rect">
            <a:avLst/>
          </a:prstGeom>
          <a:noFill/>
        </p:spPr>
        <p:txBody>
          <a:bodyPr wrap="square" lIns="0" tIns="0" rIns="0" bIns="0" anchor="t">
            <a:spAutoFit/>
          </a:bodyPr>
          <a:lstStyle/>
          <a:p>
            <a:pPr algn="l">
              <a:lnSpc>
                <a:spcPct val="100000"/>
              </a:lnSpc>
            </a:pPr>
            <a:r>
              <a:rPr sz="1300" b="0" i="0">
                <a:solidFill>
                  <a:srgbClr val="5F6B7A"/>
                </a:solidFill>
                <a:latin typeface="Calibri"/>
              </a:rPr>
              <a:t>Each assessment is a game objective in one continuous story, never a separate test. Every task can be skipped; a skip is recorded as not collected.</a:t>
            </a:r>
          </a:p>
        </p:txBody>
      </p:sp>
      <p:cxnSp>
        <p:nvCxnSpPr>
          <p:cNvPr id="4" name="Connector 3"/>
          <p:cNvCxnSpPr/>
          <p:nvPr/>
        </p:nvCxnSpPr>
        <p:spPr>
          <a:xfrm>
            <a:off x="548640" y="1207008"/>
            <a:ext cx="11091672" cy="0"/>
          </a:xfrm>
          <a:prstGeom prst="line">
            <a:avLst/>
          </a:prstGeom>
          <a:ln w="9525">
            <a:solidFill>
              <a:srgbClr val="C9D0D8"/>
            </a:solidFill>
          </a:ln>
        </p:spPr>
      </p:cxnSp>
      <p:sp>
        <p:nvSpPr>
          <p:cNvPr id="6" name="TextBox 5"/>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3 / 10</a:t>
            </a:r>
          </a:p>
        </p:txBody>
      </p:sp>
      <p:sp>
        <p:nvSpPr>
          <p:cNvPr id="7" name="Rounded Rectangle 6"/>
          <p:cNvSpPr/>
          <p:nvPr/>
        </p:nvSpPr>
        <p:spPr>
          <a:xfrm>
            <a:off x="548640" y="1371600"/>
            <a:ext cx="1444752" cy="658368"/>
          </a:xfrm>
          <a:prstGeom prst="roundRect">
            <a:avLst>
              <a:gd name="adj" fmla="val 2000"/>
            </a:avLst>
          </a:prstGeom>
          <a:solidFill>
            <a:srgbClr val="FFFFFF"/>
          </a:solidFill>
          <a:ln w="9525">
            <a:solidFill>
              <a:srgbClr val="C9D0D8"/>
            </a:solidFill>
          </a:ln>
        </p:spPr>
        <p:txBody>
          <a:bodyPr rtlCol="0" anchor="ctr"/>
          <a:lstStyle/>
          <a:p>
            <a:pPr algn="ctr"/>
            <a:endParaRPr/>
          </a:p>
        </p:txBody>
      </p:sp>
      <p:sp>
        <p:nvSpPr>
          <p:cNvPr id="8" name="TextBox 7"/>
          <p:cNvSpPr txBox="1"/>
          <p:nvPr/>
        </p:nvSpPr>
        <p:spPr>
          <a:xfrm>
            <a:off x="548640" y="1417320"/>
            <a:ext cx="1444752" cy="274320"/>
          </a:xfrm>
          <a:prstGeom prst="rect">
            <a:avLst/>
          </a:prstGeom>
          <a:noFill/>
        </p:spPr>
        <p:txBody>
          <a:bodyPr wrap="square" lIns="0" tIns="0" rIns="0" bIns="0" anchor="t">
            <a:spAutoFit/>
          </a:bodyPr>
          <a:lstStyle/>
          <a:p>
            <a:pPr algn="ctr">
              <a:lnSpc>
                <a:spcPct val="100000"/>
              </a:lnSpc>
            </a:pPr>
            <a:r>
              <a:rPr sz="1200" b="1" i="0">
                <a:solidFill>
                  <a:srgbClr val="1F2933"/>
                </a:solidFill>
                <a:latin typeface="Calibri"/>
              </a:rPr>
              <a:t>Start</a:t>
            </a:r>
          </a:p>
        </p:txBody>
      </p:sp>
      <p:sp>
        <p:nvSpPr>
          <p:cNvPr id="9" name="TextBox 8"/>
          <p:cNvSpPr txBox="1"/>
          <p:nvPr/>
        </p:nvSpPr>
        <p:spPr>
          <a:xfrm>
            <a:off x="548640" y="1691640"/>
            <a:ext cx="1444752" cy="274320"/>
          </a:xfrm>
          <a:prstGeom prst="rect">
            <a:avLst/>
          </a:prstGeom>
          <a:noFill/>
        </p:spPr>
        <p:txBody>
          <a:bodyPr wrap="square" lIns="0" tIns="0" rIns="0" bIns="0" anchor="t">
            <a:spAutoFit/>
          </a:bodyPr>
          <a:lstStyle/>
          <a:p>
            <a:pPr algn="ctr">
              <a:lnSpc>
                <a:spcPct val="100000"/>
              </a:lnSpc>
            </a:pPr>
            <a:r>
              <a:rPr sz="1000" b="0" i="0">
                <a:solidFill>
                  <a:srgbClr val="5F6B7A"/>
                </a:solidFill>
                <a:latin typeface="Calibri"/>
              </a:rPr>
              <a:t>language · avatar</a:t>
            </a:r>
          </a:p>
        </p:txBody>
      </p:sp>
      <p:cxnSp>
        <p:nvCxnSpPr>
          <p:cNvPr id="10" name="Connector 9"/>
          <p:cNvCxnSpPr/>
          <p:nvPr/>
        </p:nvCxnSpPr>
        <p:spPr>
          <a:xfrm>
            <a:off x="1993392" y="1700784"/>
            <a:ext cx="162763" cy="0"/>
          </a:xfrm>
          <a:prstGeom prst="line">
            <a:avLst/>
          </a:prstGeom>
          <a:ln w="15875">
            <a:solidFill>
              <a:srgbClr val="1F3A5F"/>
            </a:solidFill>
            <a:tailEnd type="triangle" w="med" len="med"/>
          </a:ln>
        </p:spPr>
      </p:cxnSp>
      <p:sp>
        <p:nvSpPr>
          <p:cNvPr id="11" name="Rounded Rectangle 10"/>
          <p:cNvSpPr/>
          <p:nvPr/>
        </p:nvSpPr>
        <p:spPr>
          <a:xfrm>
            <a:off x="2156155" y="1371600"/>
            <a:ext cx="1444752" cy="658368"/>
          </a:xfrm>
          <a:prstGeom prst="roundRect">
            <a:avLst>
              <a:gd name="adj" fmla="val 2000"/>
            </a:avLst>
          </a:prstGeom>
          <a:solidFill>
            <a:srgbClr val="F3F5F7"/>
          </a:solidFill>
          <a:ln w="15875">
            <a:solidFill>
              <a:srgbClr val="1F3A5F"/>
            </a:solidFill>
          </a:ln>
        </p:spPr>
        <p:txBody>
          <a:bodyPr rtlCol="0" anchor="ctr"/>
          <a:lstStyle/>
          <a:p>
            <a:pPr algn="ctr"/>
            <a:endParaRPr/>
          </a:p>
        </p:txBody>
      </p:sp>
      <p:sp>
        <p:nvSpPr>
          <p:cNvPr id="12" name="TextBox 11"/>
          <p:cNvSpPr txBox="1"/>
          <p:nvPr/>
        </p:nvSpPr>
        <p:spPr>
          <a:xfrm>
            <a:off x="2156155" y="1417320"/>
            <a:ext cx="1444752" cy="274320"/>
          </a:xfrm>
          <a:prstGeom prst="rect">
            <a:avLst/>
          </a:prstGeom>
          <a:noFill/>
        </p:spPr>
        <p:txBody>
          <a:bodyPr wrap="square" lIns="0" tIns="0" rIns="0" bIns="0" anchor="t">
            <a:spAutoFit/>
          </a:bodyPr>
          <a:lstStyle/>
          <a:p>
            <a:pPr algn="ctr">
              <a:lnSpc>
                <a:spcPct val="100000"/>
              </a:lnSpc>
            </a:pPr>
            <a:r>
              <a:rPr sz="1200" b="1" i="0">
                <a:solidFill>
                  <a:srgbClr val="1F3A5F"/>
                </a:solidFill>
                <a:latin typeface="Calibri"/>
              </a:rPr>
              <a:t>Level 1</a:t>
            </a:r>
          </a:p>
        </p:txBody>
      </p:sp>
      <p:sp>
        <p:nvSpPr>
          <p:cNvPr id="13" name="TextBox 12"/>
          <p:cNvSpPr txBox="1"/>
          <p:nvPr/>
        </p:nvSpPr>
        <p:spPr>
          <a:xfrm>
            <a:off x="2156155" y="1691640"/>
            <a:ext cx="1444752" cy="274320"/>
          </a:xfrm>
          <a:prstGeom prst="rect">
            <a:avLst/>
          </a:prstGeom>
          <a:noFill/>
        </p:spPr>
        <p:txBody>
          <a:bodyPr wrap="square" lIns="0" tIns="0" rIns="0" bIns="0" anchor="t">
            <a:spAutoFit/>
          </a:bodyPr>
          <a:lstStyle/>
          <a:p>
            <a:pPr algn="ctr">
              <a:lnSpc>
                <a:spcPct val="100000"/>
              </a:lnSpc>
            </a:pPr>
            <a:r>
              <a:rPr sz="1000" b="0" i="0">
                <a:solidFill>
                  <a:srgbClr val="5F6B7A"/>
                </a:solidFill>
                <a:latin typeface="Calibri"/>
              </a:rPr>
              <a:t>The Awakening</a:t>
            </a:r>
          </a:p>
        </p:txBody>
      </p:sp>
      <p:cxnSp>
        <p:nvCxnSpPr>
          <p:cNvPr id="14" name="Connector 13"/>
          <p:cNvCxnSpPr/>
          <p:nvPr/>
        </p:nvCxnSpPr>
        <p:spPr>
          <a:xfrm>
            <a:off x="3600907" y="1700784"/>
            <a:ext cx="162763" cy="0"/>
          </a:xfrm>
          <a:prstGeom prst="line">
            <a:avLst/>
          </a:prstGeom>
          <a:ln w="15875">
            <a:solidFill>
              <a:srgbClr val="1F3A5F"/>
            </a:solidFill>
            <a:tailEnd type="triangle" w="med" len="med"/>
          </a:ln>
        </p:spPr>
      </p:cxnSp>
      <p:sp>
        <p:nvSpPr>
          <p:cNvPr id="15" name="Rounded Rectangle 14"/>
          <p:cNvSpPr/>
          <p:nvPr/>
        </p:nvSpPr>
        <p:spPr>
          <a:xfrm>
            <a:off x="3763670" y="1371600"/>
            <a:ext cx="1444752" cy="658368"/>
          </a:xfrm>
          <a:prstGeom prst="roundRect">
            <a:avLst>
              <a:gd name="adj" fmla="val 2000"/>
            </a:avLst>
          </a:prstGeom>
          <a:solidFill>
            <a:srgbClr val="F3F5F7"/>
          </a:solidFill>
          <a:ln w="15875">
            <a:solidFill>
              <a:srgbClr val="1F3A5F"/>
            </a:solidFill>
          </a:ln>
        </p:spPr>
        <p:txBody>
          <a:bodyPr rtlCol="0" anchor="ctr"/>
          <a:lstStyle/>
          <a:p>
            <a:pPr algn="ctr"/>
            <a:endParaRPr/>
          </a:p>
        </p:txBody>
      </p:sp>
      <p:sp>
        <p:nvSpPr>
          <p:cNvPr id="16" name="TextBox 15"/>
          <p:cNvSpPr txBox="1"/>
          <p:nvPr/>
        </p:nvSpPr>
        <p:spPr>
          <a:xfrm>
            <a:off x="3763670" y="1417320"/>
            <a:ext cx="1444752" cy="274320"/>
          </a:xfrm>
          <a:prstGeom prst="rect">
            <a:avLst/>
          </a:prstGeom>
          <a:noFill/>
        </p:spPr>
        <p:txBody>
          <a:bodyPr wrap="square" lIns="0" tIns="0" rIns="0" bIns="0" anchor="t">
            <a:spAutoFit/>
          </a:bodyPr>
          <a:lstStyle/>
          <a:p>
            <a:pPr algn="ctr">
              <a:lnSpc>
                <a:spcPct val="100000"/>
              </a:lnSpc>
            </a:pPr>
            <a:r>
              <a:rPr sz="1200" b="1" i="0">
                <a:solidFill>
                  <a:srgbClr val="1F3A5F"/>
                </a:solidFill>
                <a:latin typeface="Calibri"/>
              </a:rPr>
              <a:t>Level 2</a:t>
            </a:r>
          </a:p>
        </p:txBody>
      </p:sp>
      <p:sp>
        <p:nvSpPr>
          <p:cNvPr id="17" name="TextBox 16"/>
          <p:cNvSpPr txBox="1"/>
          <p:nvPr/>
        </p:nvSpPr>
        <p:spPr>
          <a:xfrm>
            <a:off x="3763670" y="1691640"/>
            <a:ext cx="1444752" cy="274320"/>
          </a:xfrm>
          <a:prstGeom prst="rect">
            <a:avLst/>
          </a:prstGeom>
          <a:noFill/>
        </p:spPr>
        <p:txBody>
          <a:bodyPr wrap="square" lIns="0" tIns="0" rIns="0" bIns="0" anchor="t">
            <a:spAutoFit/>
          </a:bodyPr>
          <a:lstStyle/>
          <a:p>
            <a:pPr algn="ctr">
              <a:lnSpc>
                <a:spcPct val="100000"/>
              </a:lnSpc>
            </a:pPr>
            <a:r>
              <a:rPr sz="1000" b="0" i="0">
                <a:solidFill>
                  <a:srgbClr val="5F6B7A"/>
                </a:solidFill>
                <a:latin typeface="Calibri"/>
              </a:rPr>
              <a:t>Repair Land</a:t>
            </a:r>
          </a:p>
        </p:txBody>
      </p:sp>
      <p:cxnSp>
        <p:nvCxnSpPr>
          <p:cNvPr id="18" name="Connector 17"/>
          <p:cNvCxnSpPr/>
          <p:nvPr/>
        </p:nvCxnSpPr>
        <p:spPr>
          <a:xfrm>
            <a:off x="5208422" y="1700784"/>
            <a:ext cx="162763" cy="0"/>
          </a:xfrm>
          <a:prstGeom prst="line">
            <a:avLst/>
          </a:prstGeom>
          <a:ln w="15875">
            <a:solidFill>
              <a:srgbClr val="1F3A5F"/>
            </a:solidFill>
            <a:tailEnd type="triangle" w="med" len="med"/>
          </a:ln>
        </p:spPr>
      </p:cxnSp>
      <p:sp>
        <p:nvSpPr>
          <p:cNvPr id="19" name="Rounded Rectangle 18"/>
          <p:cNvSpPr/>
          <p:nvPr/>
        </p:nvSpPr>
        <p:spPr>
          <a:xfrm>
            <a:off x="5371185" y="1371600"/>
            <a:ext cx="1444752" cy="658368"/>
          </a:xfrm>
          <a:prstGeom prst="roundRect">
            <a:avLst>
              <a:gd name="adj" fmla="val 2000"/>
            </a:avLst>
          </a:prstGeom>
          <a:solidFill>
            <a:srgbClr val="F3F5F7"/>
          </a:solidFill>
          <a:ln w="15875">
            <a:solidFill>
              <a:srgbClr val="1F3A5F"/>
            </a:solidFill>
          </a:ln>
        </p:spPr>
        <p:txBody>
          <a:bodyPr rtlCol="0" anchor="ctr"/>
          <a:lstStyle/>
          <a:p>
            <a:pPr algn="ctr"/>
            <a:endParaRPr/>
          </a:p>
        </p:txBody>
      </p:sp>
      <p:sp>
        <p:nvSpPr>
          <p:cNvPr id="20" name="TextBox 19"/>
          <p:cNvSpPr txBox="1"/>
          <p:nvPr/>
        </p:nvSpPr>
        <p:spPr>
          <a:xfrm>
            <a:off x="5371185" y="1417320"/>
            <a:ext cx="1444752" cy="274320"/>
          </a:xfrm>
          <a:prstGeom prst="rect">
            <a:avLst/>
          </a:prstGeom>
          <a:noFill/>
        </p:spPr>
        <p:txBody>
          <a:bodyPr wrap="square" lIns="0" tIns="0" rIns="0" bIns="0" anchor="t">
            <a:spAutoFit/>
          </a:bodyPr>
          <a:lstStyle/>
          <a:p>
            <a:pPr algn="ctr">
              <a:lnSpc>
                <a:spcPct val="100000"/>
              </a:lnSpc>
            </a:pPr>
            <a:r>
              <a:rPr sz="1200" b="1" i="0">
                <a:solidFill>
                  <a:srgbClr val="1F3A5F"/>
                </a:solidFill>
                <a:latin typeface="Calibri"/>
              </a:rPr>
              <a:t>Level 3</a:t>
            </a:r>
          </a:p>
        </p:txBody>
      </p:sp>
      <p:sp>
        <p:nvSpPr>
          <p:cNvPr id="21" name="TextBox 20"/>
          <p:cNvSpPr txBox="1"/>
          <p:nvPr/>
        </p:nvSpPr>
        <p:spPr>
          <a:xfrm>
            <a:off x="5371185" y="1691640"/>
            <a:ext cx="1444752" cy="274320"/>
          </a:xfrm>
          <a:prstGeom prst="rect">
            <a:avLst/>
          </a:prstGeom>
          <a:noFill/>
        </p:spPr>
        <p:txBody>
          <a:bodyPr wrap="square" lIns="0" tIns="0" rIns="0" bIns="0" anchor="t">
            <a:spAutoFit/>
          </a:bodyPr>
          <a:lstStyle/>
          <a:p>
            <a:pPr algn="ctr">
              <a:lnSpc>
                <a:spcPct val="100000"/>
              </a:lnSpc>
            </a:pPr>
            <a:r>
              <a:rPr sz="1000" b="0" i="0">
                <a:solidFill>
                  <a:srgbClr val="5F6B7A"/>
                </a:solidFill>
                <a:latin typeface="Calibri"/>
              </a:rPr>
              <a:t>Lost Path</a:t>
            </a:r>
          </a:p>
        </p:txBody>
      </p:sp>
      <p:cxnSp>
        <p:nvCxnSpPr>
          <p:cNvPr id="22" name="Connector 21"/>
          <p:cNvCxnSpPr/>
          <p:nvPr/>
        </p:nvCxnSpPr>
        <p:spPr>
          <a:xfrm>
            <a:off x="6815937" y="1700784"/>
            <a:ext cx="162763" cy="0"/>
          </a:xfrm>
          <a:prstGeom prst="line">
            <a:avLst/>
          </a:prstGeom>
          <a:ln w="15875">
            <a:solidFill>
              <a:srgbClr val="1F3A5F"/>
            </a:solidFill>
            <a:tailEnd type="triangle" w="med" len="med"/>
          </a:ln>
        </p:spPr>
      </p:cxnSp>
      <p:sp>
        <p:nvSpPr>
          <p:cNvPr id="23" name="Rounded Rectangle 22"/>
          <p:cNvSpPr/>
          <p:nvPr/>
        </p:nvSpPr>
        <p:spPr>
          <a:xfrm>
            <a:off x="6978700" y="1371600"/>
            <a:ext cx="1444752" cy="658368"/>
          </a:xfrm>
          <a:prstGeom prst="roundRect">
            <a:avLst>
              <a:gd name="adj" fmla="val 2000"/>
            </a:avLst>
          </a:prstGeom>
          <a:solidFill>
            <a:srgbClr val="FFFFFF"/>
          </a:solidFill>
          <a:ln w="9525">
            <a:solidFill>
              <a:srgbClr val="C9D0D8"/>
            </a:solidFill>
          </a:ln>
        </p:spPr>
        <p:txBody>
          <a:bodyPr rtlCol="0" anchor="ctr"/>
          <a:lstStyle/>
          <a:p>
            <a:pPr algn="ctr"/>
            <a:endParaRPr/>
          </a:p>
        </p:txBody>
      </p:sp>
      <p:sp>
        <p:nvSpPr>
          <p:cNvPr id="24" name="TextBox 23"/>
          <p:cNvSpPr txBox="1"/>
          <p:nvPr/>
        </p:nvSpPr>
        <p:spPr>
          <a:xfrm>
            <a:off x="6978700" y="1417320"/>
            <a:ext cx="1444752" cy="274320"/>
          </a:xfrm>
          <a:prstGeom prst="rect">
            <a:avLst/>
          </a:prstGeom>
          <a:noFill/>
        </p:spPr>
        <p:txBody>
          <a:bodyPr wrap="square" lIns="0" tIns="0" rIns="0" bIns="0" anchor="t">
            <a:spAutoFit/>
          </a:bodyPr>
          <a:lstStyle/>
          <a:p>
            <a:pPr algn="ctr">
              <a:lnSpc>
                <a:spcPct val="100000"/>
              </a:lnSpc>
            </a:pPr>
            <a:r>
              <a:rPr sz="1200" b="1" i="0">
                <a:solidFill>
                  <a:srgbClr val="1F2933"/>
                </a:solidFill>
                <a:latin typeface="Calibri"/>
              </a:rPr>
              <a:t>Return to</a:t>
            </a:r>
          </a:p>
        </p:txBody>
      </p:sp>
      <p:sp>
        <p:nvSpPr>
          <p:cNvPr id="25" name="TextBox 24"/>
          <p:cNvSpPr txBox="1"/>
          <p:nvPr/>
        </p:nvSpPr>
        <p:spPr>
          <a:xfrm>
            <a:off x="6978700" y="1691640"/>
            <a:ext cx="1444752" cy="274320"/>
          </a:xfrm>
          <a:prstGeom prst="rect">
            <a:avLst/>
          </a:prstGeom>
          <a:noFill/>
        </p:spPr>
        <p:txBody>
          <a:bodyPr wrap="square" lIns="0" tIns="0" rIns="0" bIns="0" anchor="t">
            <a:spAutoFit/>
          </a:bodyPr>
          <a:lstStyle/>
          <a:p>
            <a:pPr algn="ctr">
              <a:lnSpc>
                <a:spcPct val="100000"/>
              </a:lnSpc>
            </a:pPr>
            <a:r>
              <a:rPr sz="1000" b="0" i="0">
                <a:solidFill>
                  <a:srgbClr val="5F6B7A"/>
                </a:solidFill>
                <a:latin typeface="Calibri"/>
              </a:rPr>
              <a:t>homeland</a:t>
            </a:r>
          </a:p>
        </p:txBody>
      </p:sp>
      <p:cxnSp>
        <p:nvCxnSpPr>
          <p:cNvPr id="26" name="Connector 25"/>
          <p:cNvCxnSpPr/>
          <p:nvPr/>
        </p:nvCxnSpPr>
        <p:spPr>
          <a:xfrm>
            <a:off x="8423452" y="1700784"/>
            <a:ext cx="162764" cy="0"/>
          </a:xfrm>
          <a:prstGeom prst="line">
            <a:avLst/>
          </a:prstGeom>
          <a:ln w="15875">
            <a:solidFill>
              <a:srgbClr val="1F3A5F"/>
            </a:solidFill>
            <a:tailEnd type="triangle" w="med" len="med"/>
          </a:ln>
        </p:spPr>
      </p:cxnSp>
      <p:sp>
        <p:nvSpPr>
          <p:cNvPr id="27" name="Rounded Rectangle 26"/>
          <p:cNvSpPr/>
          <p:nvPr/>
        </p:nvSpPr>
        <p:spPr>
          <a:xfrm>
            <a:off x="8586215" y="1371600"/>
            <a:ext cx="1444752" cy="658368"/>
          </a:xfrm>
          <a:prstGeom prst="roundRect">
            <a:avLst>
              <a:gd name="adj" fmla="val 2000"/>
            </a:avLst>
          </a:prstGeom>
          <a:solidFill>
            <a:srgbClr val="FFFFFF"/>
          </a:solidFill>
          <a:ln w="9525">
            <a:solidFill>
              <a:srgbClr val="C9D0D8"/>
            </a:solidFill>
          </a:ln>
        </p:spPr>
        <p:txBody>
          <a:bodyPr rtlCol="0" anchor="ctr"/>
          <a:lstStyle/>
          <a:p>
            <a:pPr algn="ctr"/>
            <a:endParaRPr/>
          </a:p>
        </p:txBody>
      </p:sp>
      <p:sp>
        <p:nvSpPr>
          <p:cNvPr id="28" name="TextBox 27"/>
          <p:cNvSpPr txBox="1"/>
          <p:nvPr/>
        </p:nvSpPr>
        <p:spPr>
          <a:xfrm>
            <a:off x="8586215" y="1417320"/>
            <a:ext cx="1444752" cy="274320"/>
          </a:xfrm>
          <a:prstGeom prst="rect">
            <a:avLst/>
          </a:prstGeom>
          <a:noFill/>
        </p:spPr>
        <p:txBody>
          <a:bodyPr wrap="square" lIns="0" tIns="0" rIns="0" bIns="0" anchor="t">
            <a:spAutoFit/>
          </a:bodyPr>
          <a:lstStyle/>
          <a:p>
            <a:pPr algn="ctr">
              <a:lnSpc>
                <a:spcPct val="100000"/>
              </a:lnSpc>
            </a:pPr>
            <a:r>
              <a:rPr sz="1200" b="1" i="0">
                <a:solidFill>
                  <a:srgbClr val="1F2933"/>
                </a:solidFill>
                <a:latin typeface="Calibri"/>
              </a:rPr>
              <a:t>Twin report</a:t>
            </a:r>
          </a:p>
        </p:txBody>
      </p:sp>
      <p:sp>
        <p:nvSpPr>
          <p:cNvPr id="29" name="TextBox 28"/>
          <p:cNvSpPr txBox="1"/>
          <p:nvPr/>
        </p:nvSpPr>
        <p:spPr>
          <a:xfrm>
            <a:off x="8586215" y="1691640"/>
            <a:ext cx="1444752" cy="274320"/>
          </a:xfrm>
          <a:prstGeom prst="rect">
            <a:avLst/>
          </a:prstGeom>
          <a:noFill/>
        </p:spPr>
        <p:txBody>
          <a:bodyPr wrap="square" lIns="0" tIns="0" rIns="0" bIns="0" anchor="t">
            <a:spAutoFit/>
          </a:bodyPr>
          <a:lstStyle/>
          <a:p>
            <a:pPr algn="ctr">
              <a:lnSpc>
                <a:spcPct val="100000"/>
              </a:lnSpc>
            </a:pPr>
            <a:r>
              <a:rPr sz="1000" b="0" i="0">
                <a:solidFill>
                  <a:srgbClr val="5F6B7A"/>
                </a:solidFill>
                <a:latin typeface="Calibri"/>
              </a:rPr>
              <a:t>6 charts</a:t>
            </a:r>
          </a:p>
        </p:txBody>
      </p:sp>
      <p:cxnSp>
        <p:nvCxnSpPr>
          <p:cNvPr id="30" name="Connector 29"/>
          <p:cNvCxnSpPr/>
          <p:nvPr/>
        </p:nvCxnSpPr>
        <p:spPr>
          <a:xfrm>
            <a:off x="10030967" y="1700784"/>
            <a:ext cx="162764" cy="0"/>
          </a:xfrm>
          <a:prstGeom prst="line">
            <a:avLst/>
          </a:prstGeom>
          <a:ln w="15875">
            <a:solidFill>
              <a:srgbClr val="1F3A5F"/>
            </a:solidFill>
            <a:tailEnd type="triangle" w="med" len="med"/>
          </a:ln>
        </p:spPr>
      </p:cxnSp>
      <p:sp>
        <p:nvSpPr>
          <p:cNvPr id="31" name="Rounded Rectangle 30"/>
          <p:cNvSpPr/>
          <p:nvPr/>
        </p:nvSpPr>
        <p:spPr>
          <a:xfrm>
            <a:off x="10193731" y="1371600"/>
            <a:ext cx="1444752" cy="658368"/>
          </a:xfrm>
          <a:prstGeom prst="roundRect">
            <a:avLst>
              <a:gd name="adj" fmla="val 2000"/>
            </a:avLst>
          </a:prstGeom>
          <a:solidFill>
            <a:srgbClr val="FFFFFF"/>
          </a:solidFill>
          <a:ln w="9525">
            <a:solidFill>
              <a:srgbClr val="C9D0D8"/>
            </a:solidFill>
          </a:ln>
        </p:spPr>
        <p:txBody>
          <a:bodyPr rtlCol="0" anchor="ctr"/>
          <a:lstStyle/>
          <a:p>
            <a:pPr algn="ctr"/>
            <a:endParaRPr/>
          </a:p>
        </p:txBody>
      </p:sp>
      <p:sp>
        <p:nvSpPr>
          <p:cNvPr id="32" name="TextBox 31"/>
          <p:cNvSpPr txBox="1"/>
          <p:nvPr/>
        </p:nvSpPr>
        <p:spPr>
          <a:xfrm>
            <a:off x="10193731" y="1417320"/>
            <a:ext cx="1444752" cy="274320"/>
          </a:xfrm>
          <a:prstGeom prst="rect">
            <a:avLst/>
          </a:prstGeom>
          <a:noFill/>
        </p:spPr>
        <p:txBody>
          <a:bodyPr wrap="square" lIns="0" tIns="0" rIns="0" bIns="0" anchor="t">
            <a:spAutoFit/>
          </a:bodyPr>
          <a:lstStyle/>
          <a:p>
            <a:pPr algn="ctr">
              <a:lnSpc>
                <a:spcPct val="100000"/>
              </a:lnSpc>
            </a:pPr>
            <a:r>
              <a:rPr sz="1200" b="1" i="0">
                <a:solidFill>
                  <a:srgbClr val="1F2933"/>
                </a:solidFill>
                <a:latin typeface="Calibri"/>
              </a:rPr>
              <a:t>Clinician</a:t>
            </a:r>
          </a:p>
        </p:txBody>
      </p:sp>
      <p:sp>
        <p:nvSpPr>
          <p:cNvPr id="33" name="TextBox 32"/>
          <p:cNvSpPr txBox="1"/>
          <p:nvPr/>
        </p:nvSpPr>
        <p:spPr>
          <a:xfrm>
            <a:off x="10193731" y="1691640"/>
            <a:ext cx="1444752" cy="274320"/>
          </a:xfrm>
          <a:prstGeom prst="rect">
            <a:avLst/>
          </a:prstGeom>
          <a:noFill/>
        </p:spPr>
        <p:txBody>
          <a:bodyPr wrap="square" lIns="0" tIns="0" rIns="0" bIns="0" anchor="t">
            <a:spAutoFit/>
          </a:bodyPr>
          <a:lstStyle/>
          <a:p>
            <a:pPr algn="ctr">
              <a:lnSpc>
                <a:spcPct val="100000"/>
              </a:lnSpc>
            </a:pPr>
            <a:r>
              <a:rPr sz="1000" b="0" i="0">
                <a:solidFill>
                  <a:srgbClr val="5F6B7A"/>
                </a:solidFill>
                <a:latin typeface="Calibri"/>
              </a:rPr>
              <a:t>dashboard</a:t>
            </a:r>
          </a:p>
        </p:txBody>
      </p:sp>
      <p:sp>
        <p:nvSpPr>
          <p:cNvPr id="34" name="Rounded Rectangle 33"/>
          <p:cNvSpPr/>
          <p:nvPr/>
        </p:nvSpPr>
        <p:spPr>
          <a:xfrm>
            <a:off x="548640" y="2240280"/>
            <a:ext cx="3630168" cy="342900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35" name="TextBox 34"/>
          <p:cNvSpPr txBox="1"/>
          <p:nvPr/>
        </p:nvSpPr>
        <p:spPr>
          <a:xfrm>
            <a:off x="731520" y="2359152"/>
            <a:ext cx="3291840" cy="228600"/>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LEVEL 1 · VISUAL · VOICE · MEMORY</a:t>
            </a:r>
          </a:p>
        </p:txBody>
      </p:sp>
      <p:sp>
        <p:nvSpPr>
          <p:cNvPr id="36" name="TextBox 35"/>
          <p:cNvSpPr txBox="1"/>
          <p:nvPr/>
        </p:nvSpPr>
        <p:spPr>
          <a:xfrm>
            <a:off x="731520" y="2670048"/>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Follow the Memory Lantern</a:t>
            </a:r>
          </a:p>
          <a:p>
            <a:pPr algn="l">
              <a:lnSpc>
                <a:spcPct val="100000"/>
              </a:lnSpc>
              <a:spcBef>
                <a:spcPts val="200"/>
              </a:spcBef>
            </a:pPr>
            <a:r>
              <a:rPr sz="1150" b="0" i="0">
                <a:solidFill>
                  <a:srgbClr val="5F6B7A"/>
                </a:solidFill>
                <a:latin typeface="Calibri"/>
              </a:rPr>
              <a:t>Webcam iris gaze after a 5-point check. Pointer error, % on target, re-acquisition latency, flash reaction time.</a:t>
            </a:r>
          </a:p>
        </p:txBody>
      </p:sp>
      <p:sp>
        <p:nvSpPr>
          <p:cNvPr id="37" name="TextBox 36"/>
          <p:cNvSpPr txBox="1"/>
          <p:nvPr/>
        </p:nvSpPr>
        <p:spPr>
          <a:xfrm>
            <a:off x="731520" y="3657600"/>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Memory Core (microphone)</a:t>
            </a:r>
          </a:p>
          <a:p>
            <a:pPr algn="l">
              <a:lnSpc>
                <a:spcPct val="100000"/>
              </a:lnSpc>
              <a:spcBef>
                <a:spcPts val="200"/>
              </a:spcBef>
            </a:pPr>
            <a:r>
              <a:rPr sz="1150" b="0" i="0">
                <a:solidFill>
                  <a:srgbClr val="5F6B7A"/>
                </a:solidFill>
                <a:latin typeface="Calibri"/>
              </a:rPr>
              <a:t>Sustained “Ahh”, pa-ta-ka, clap to 90 BPM, repeat a sentence. F0, jitter and shimmer proxies, HNR, pauses, rhythm CV, speech rate.</a:t>
            </a:r>
          </a:p>
        </p:txBody>
      </p:sp>
      <p:sp>
        <p:nvSpPr>
          <p:cNvPr id="38" name="TextBox 37"/>
          <p:cNvSpPr txBox="1"/>
          <p:nvPr/>
        </p:nvSpPr>
        <p:spPr>
          <a:xfrm>
            <a:off x="731520" y="4645152"/>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Recover the lost memory</a:t>
            </a:r>
          </a:p>
          <a:p>
            <a:pPr algn="l">
              <a:lnSpc>
                <a:spcPct val="100000"/>
              </a:lnSpc>
              <a:spcBef>
                <a:spcPts val="200"/>
              </a:spcBef>
            </a:pPr>
            <a:r>
              <a:rPr sz="1150" b="0" i="0">
                <a:solidFill>
                  <a:srgbClr val="5F6B7A"/>
                </a:solidFill>
                <a:latin typeface="Calibri"/>
              </a:rPr>
              <a:t>Hits, omissions, false recognitions, order match, recall time.</a:t>
            </a:r>
          </a:p>
        </p:txBody>
      </p:sp>
      <p:sp>
        <p:nvSpPr>
          <p:cNvPr id="39" name="Rounded Rectangle 38"/>
          <p:cNvSpPr/>
          <p:nvPr/>
        </p:nvSpPr>
        <p:spPr>
          <a:xfrm>
            <a:off x="4279392" y="2240280"/>
            <a:ext cx="3630168" cy="342900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40" name="TextBox 39"/>
          <p:cNvSpPr txBox="1"/>
          <p:nvPr/>
        </p:nvSpPr>
        <p:spPr>
          <a:xfrm>
            <a:off x="4462272" y="2359152"/>
            <a:ext cx="3291840" cy="228600"/>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LEVEL 2 · FINE MOTOR · COGNITION · REACTION</a:t>
            </a:r>
          </a:p>
        </p:txBody>
      </p:sp>
      <p:sp>
        <p:nvSpPr>
          <p:cNvPr id="41" name="TextBox 40"/>
          <p:cNvSpPr txBox="1"/>
          <p:nvPr/>
        </p:nvSpPr>
        <p:spPr>
          <a:xfrm>
            <a:off x="4462272" y="2670048"/>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Trace the neural circuit (spiral)</a:t>
            </a:r>
          </a:p>
          <a:p>
            <a:pPr algn="l">
              <a:lnSpc>
                <a:spcPct val="100000"/>
              </a:lnSpc>
              <a:spcBef>
                <a:spcPts val="200"/>
              </a:spcBef>
            </a:pPr>
            <a:r>
              <a:rPr sz="1150" b="0" i="0">
                <a:solidFill>
                  <a:srgbClr val="5F6B7A"/>
                </a:solidFill>
                <a:latin typeface="Calibri"/>
              </a:rPr>
              <a:t>Radial deviation, 4–7 Hz tremor-band proxy, LDLJ smoothness, pen lifts.</a:t>
            </a:r>
          </a:p>
        </p:txBody>
      </p:sp>
      <p:sp>
        <p:nvSpPr>
          <p:cNvPr id="42" name="TextBox 41"/>
          <p:cNvSpPr txBox="1"/>
          <p:nvPr/>
        </p:nvSpPr>
        <p:spPr>
          <a:xfrm>
            <a:off x="4462272" y="3657600"/>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Connect nodes · Repair component</a:t>
            </a:r>
          </a:p>
          <a:p>
            <a:pPr algn="l">
              <a:lnSpc>
                <a:spcPct val="100000"/>
              </a:lnSpc>
              <a:spcBef>
                <a:spcPts val="200"/>
              </a:spcBef>
            </a:pPr>
            <a:r>
              <a:rPr sz="1150" b="0" i="0">
                <a:solidFill>
                  <a:srgbClr val="5F6B7A"/>
                </a:solidFill>
                <a:latin typeface="Calibri"/>
              </a:rPr>
              <a:t>Sequencing accuracy, wrong links, inter-selection time, placement and rotation error.</a:t>
            </a:r>
          </a:p>
        </p:txBody>
      </p:sp>
      <p:sp>
        <p:nvSpPr>
          <p:cNvPr id="43" name="TextBox 42"/>
          <p:cNvSpPr txBox="1"/>
          <p:nvPr/>
        </p:nvSpPr>
        <p:spPr>
          <a:xfrm>
            <a:off x="4462272" y="4645152"/>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Reactor signal</a:t>
            </a:r>
          </a:p>
          <a:p>
            <a:pPr algn="l">
              <a:lnSpc>
                <a:spcPct val="100000"/>
              </a:lnSpc>
              <a:spcBef>
                <a:spcPts val="200"/>
              </a:spcBef>
            </a:pPr>
            <a:r>
              <a:rPr sz="1150" b="0" i="0">
                <a:solidFill>
                  <a:srgbClr val="5F6B7A"/>
                </a:solidFill>
                <a:latin typeface="Calibri"/>
              </a:rPr>
              <a:t>Reaction time mean and SD, false and missed responses.</a:t>
            </a:r>
          </a:p>
        </p:txBody>
      </p:sp>
      <p:sp>
        <p:nvSpPr>
          <p:cNvPr id="44" name="Rounded Rectangle 43"/>
          <p:cNvSpPr/>
          <p:nvPr/>
        </p:nvSpPr>
        <p:spPr>
          <a:xfrm>
            <a:off x="8010144" y="2240280"/>
            <a:ext cx="3630168" cy="342900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45" name="TextBox 44"/>
          <p:cNvSpPr txBox="1"/>
          <p:nvPr/>
        </p:nvSpPr>
        <p:spPr>
          <a:xfrm>
            <a:off x="8193023" y="2359152"/>
            <a:ext cx="3291840" cy="228600"/>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LEVEL 3 · WEBCAM POSE · GAIT · SELF-REPORT</a:t>
            </a:r>
          </a:p>
        </p:txBody>
      </p:sp>
      <p:sp>
        <p:nvSpPr>
          <p:cNvPr id="46" name="TextBox 45"/>
          <p:cNvSpPr txBox="1"/>
          <p:nvPr/>
        </p:nvSpPr>
        <p:spPr>
          <a:xfrm>
            <a:off x="8193023" y="2670048"/>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Mirror the Memory Avatar</a:t>
            </a:r>
          </a:p>
          <a:p>
            <a:pPr algn="l">
              <a:lnSpc>
                <a:spcPct val="100000"/>
              </a:lnSpc>
              <a:spcBef>
                <a:spcPts val="200"/>
              </a:spcBef>
            </a:pPr>
            <a:r>
              <a:rPr sz="1150" b="0" i="0">
                <a:solidFill>
                  <a:srgbClr val="5F6B7A"/>
                </a:solidFill>
                <a:latin typeface="Calibri"/>
              </a:rPr>
              <a:t>Five arm movements: peak elevation, pose similarity, tracking confidence.</a:t>
            </a:r>
          </a:p>
        </p:txBody>
      </p:sp>
      <p:sp>
        <p:nvSpPr>
          <p:cNvPr id="47" name="TextBox 46"/>
          <p:cNvSpPr txBox="1"/>
          <p:nvPr/>
        </p:nvSpPr>
        <p:spPr>
          <a:xfrm>
            <a:off x="8193023" y="3657600"/>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Standing path or seated drive</a:t>
            </a:r>
          </a:p>
          <a:p>
            <a:pPr algn="l">
              <a:lnSpc>
                <a:spcPct val="100000"/>
              </a:lnSpc>
              <a:spcBef>
                <a:spcPts val="200"/>
              </a:spcBef>
            </a:pPr>
            <a:r>
              <a:rPr sz="1150" b="0" i="0">
                <a:solidFill>
                  <a:srgbClr val="5F6B7A"/>
                </a:solidFill>
                <a:latin typeface="Calibri"/>
              </a:rPr>
              <a:t>March on the spot: steps, cadence, step-interval SD, stop/go latency. Seated: steering wheel, lane offset, brake and go latency.</a:t>
            </a:r>
          </a:p>
        </p:txBody>
      </p:sp>
      <p:sp>
        <p:nvSpPr>
          <p:cNvPr id="48" name="TextBox 47"/>
          <p:cNvSpPr txBox="1"/>
          <p:nvPr/>
        </p:nvSpPr>
        <p:spPr>
          <a:xfrm>
            <a:off x="8193023" y="4645152"/>
            <a:ext cx="3291840" cy="960120"/>
          </a:xfrm>
          <a:prstGeom prst="rect">
            <a:avLst/>
          </a:prstGeom>
          <a:noFill/>
        </p:spPr>
        <p:txBody>
          <a:bodyPr wrap="square" lIns="0" tIns="0" rIns="0" bIns="0" anchor="t">
            <a:spAutoFit/>
          </a:bodyPr>
          <a:lstStyle/>
          <a:p>
            <a:pPr algn="l">
              <a:lnSpc>
                <a:spcPct val="100000"/>
              </a:lnSpc>
            </a:pPr>
            <a:r>
              <a:rPr sz="1300" b="1" i="0">
                <a:solidFill>
                  <a:srgbClr val="1F2933"/>
                </a:solidFill>
                <a:latin typeface="Calibri"/>
              </a:rPr>
              <a:t>Six check-ins (questionnaire)</a:t>
            </a:r>
          </a:p>
          <a:p>
            <a:pPr algn="l">
              <a:lnSpc>
                <a:spcPct val="100000"/>
              </a:lnSpc>
              <a:spcBef>
                <a:spcPts val="200"/>
              </a:spcBef>
            </a:pPr>
            <a:r>
              <a:rPr sz="1150" b="0" i="0">
                <a:solidFill>
                  <a:srgbClr val="5F6B7A"/>
                </a:solidFill>
                <a:latin typeface="Calibri"/>
              </a:rPr>
              <a:t>Self-report per domain, shown as given, never scored.</a:t>
            </a:r>
          </a:p>
        </p:txBody>
      </p:sp>
      <p:sp>
        <p:nvSpPr>
          <p:cNvPr id="49" name="Rounded Rectangle 48"/>
          <p:cNvSpPr/>
          <p:nvPr/>
        </p:nvSpPr>
        <p:spPr>
          <a:xfrm>
            <a:off x="548640" y="5779008"/>
            <a:ext cx="11091672" cy="402336"/>
          </a:xfrm>
          <a:prstGeom prst="roundRect">
            <a:avLst>
              <a:gd name="adj" fmla="val 2000"/>
            </a:avLst>
          </a:prstGeom>
          <a:solidFill>
            <a:srgbClr val="F3F5F7"/>
          </a:solidFill>
          <a:ln w="9525">
            <a:solidFill>
              <a:srgbClr val="1F3A5F"/>
            </a:solidFill>
          </a:ln>
        </p:spPr>
        <p:txBody>
          <a:bodyPr rtlCol="0" anchor="ctr"/>
          <a:lstStyle/>
          <a:p>
            <a:pPr algn="ctr"/>
            <a:endParaRPr/>
          </a:p>
        </p:txBody>
      </p:sp>
      <p:sp>
        <p:nvSpPr>
          <p:cNvPr id="50" name="TextBox 49"/>
          <p:cNvSpPr txBox="1"/>
          <p:nvPr/>
        </p:nvSpPr>
        <p:spPr>
          <a:xfrm>
            <a:off x="777240" y="5779008"/>
            <a:ext cx="10698480" cy="402336"/>
          </a:xfrm>
          <a:prstGeom prst="rect">
            <a:avLst/>
          </a:prstGeom>
          <a:noFill/>
        </p:spPr>
        <p:txBody>
          <a:bodyPr wrap="square" lIns="0" tIns="0" rIns="0" bIns="0" anchor="ctr">
            <a:spAutoFit/>
          </a:bodyPr>
          <a:lstStyle/>
          <a:p>
            <a:pPr algn="l">
              <a:lnSpc>
                <a:spcPct val="100000"/>
              </a:lnSpc>
            </a:pPr>
            <a:r>
              <a:rPr sz="1150" b="1" i="0">
                <a:solidFill>
                  <a:srgbClr val="1F3A5F"/>
                </a:solidFill>
                <a:latin typeface="Calibri"/>
              </a:rPr>
              <a:t>Telemetry on every task:  </a:t>
            </a:r>
            <a:r>
              <a:rPr sz="1150" b="0" i="0">
                <a:solidFill>
                  <a:srgbClr val="1F2933"/>
                </a:solidFill>
                <a:latin typeface="Calibri"/>
              </a:rPr>
              <a:t>completion time, accuracy, errors, response pattern, input source and a data-quality state (valid, caveats, insufficient, invalid, not collected).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Real-time sensors: what comes from where</a:t>
            </a:r>
          </a:p>
        </p:txBody>
      </p:sp>
      <p:sp>
        <p:nvSpPr>
          <p:cNvPr id="3" name="TextBox 2"/>
          <p:cNvSpPr txBox="1"/>
          <p:nvPr/>
        </p:nvSpPr>
        <p:spPr>
          <a:xfrm>
            <a:off x="548640" y="841248"/>
            <a:ext cx="10789920" cy="274320"/>
          </a:xfrm>
          <a:prstGeom prst="rect">
            <a:avLst/>
          </a:prstGeom>
          <a:noFill/>
        </p:spPr>
        <p:txBody>
          <a:bodyPr wrap="square" lIns="0" tIns="0" rIns="0" bIns="0" anchor="t">
            <a:spAutoFit/>
          </a:bodyPr>
          <a:lstStyle/>
          <a:p>
            <a:pPr algn="l">
              <a:lnSpc>
                <a:spcPct val="100000"/>
              </a:lnSpc>
            </a:pPr>
            <a:r>
              <a:rPr sz="1300" b="0" i="0">
                <a:solidFill>
                  <a:srgbClr val="5F6B7A"/>
                </a:solidFill>
                <a:latin typeface="Calibri"/>
              </a:rPr>
              <a:t>Three separate sources, never mixed up: webcam and microphone, wearable IMUs, and the game itself.</a:t>
            </a:r>
          </a:p>
        </p:txBody>
      </p:sp>
      <p:cxnSp>
        <p:nvCxnSpPr>
          <p:cNvPr id="4" name="Connector 3"/>
          <p:cNvCxnSpPr/>
          <p:nvPr/>
        </p:nvCxnSpPr>
        <p:spPr>
          <a:xfrm>
            <a:off x="548640" y="1207008"/>
            <a:ext cx="11091672" cy="0"/>
          </a:xfrm>
          <a:prstGeom prst="line">
            <a:avLst/>
          </a:prstGeom>
          <a:ln w="9525">
            <a:solidFill>
              <a:srgbClr val="C9D0D8"/>
            </a:solidFill>
          </a:ln>
        </p:spPr>
      </p:cxnSp>
      <p:sp>
        <p:nvSpPr>
          <p:cNvPr id="6" name="TextBox 5"/>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4 / 10</a:t>
            </a:r>
          </a:p>
        </p:txBody>
      </p:sp>
      <p:sp>
        <p:nvSpPr>
          <p:cNvPr id="7" name="TextBox 6"/>
          <p:cNvSpPr txBox="1"/>
          <p:nvPr/>
        </p:nvSpPr>
        <p:spPr>
          <a:xfrm>
            <a:off x="548640" y="6254496"/>
            <a:ext cx="11064240" cy="201168"/>
          </a:xfrm>
          <a:prstGeom prst="rect">
            <a:avLst/>
          </a:prstGeom>
          <a:noFill/>
        </p:spPr>
        <p:txBody>
          <a:bodyPr wrap="square" lIns="0" tIns="0" rIns="0" bIns="0" anchor="t">
            <a:spAutoFit/>
          </a:bodyPr>
          <a:lstStyle/>
          <a:p>
            <a:pPr algn="l">
              <a:lnSpc>
                <a:spcPct val="100000"/>
              </a:lnSpc>
            </a:pPr>
            <a:r>
              <a:rPr sz="900" b="0" i="0">
                <a:solidFill>
                  <a:srgbClr val="5F6B7A"/>
                </a:solidFill>
                <a:latin typeface="Calibri"/>
              </a:rPr>
              <a:t>Moore-type freeze index and Daphnet data: Bächlin et al. 2010 [9] · Wearable technology in PD: Espay et al. 2016 [8]</a:t>
            </a:r>
          </a:p>
        </p:txBody>
      </p:sp>
      <p:sp>
        <p:nvSpPr>
          <p:cNvPr id="8" name="Rounded Rectangle 7"/>
          <p:cNvSpPr/>
          <p:nvPr/>
        </p:nvSpPr>
        <p:spPr>
          <a:xfrm>
            <a:off x="548640" y="1417320"/>
            <a:ext cx="3630168" cy="2395728"/>
          </a:xfrm>
          <a:prstGeom prst="roundRect">
            <a:avLst>
              <a:gd name="adj" fmla="val 2000"/>
            </a:avLst>
          </a:prstGeom>
          <a:solidFill>
            <a:srgbClr val="FFFFFF"/>
          </a:solidFill>
          <a:ln w="15875">
            <a:solidFill>
              <a:srgbClr val="1F3A5F"/>
            </a:solidFill>
          </a:ln>
        </p:spPr>
        <p:txBody>
          <a:bodyPr rtlCol="0" anchor="ctr"/>
          <a:lstStyle/>
          <a:p>
            <a:pPr algn="ctr"/>
            <a:endParaRPr/>
          </a:p>
        </p:txBody>
      </p:sp>
      <p:sp>
        <p:nvSpPr>
          <p:cNvPr id="9" name="TextBox 8"/>
          <p:cNvSpPr txBox="1"/>
          <p:nvPr/>
        </p:nvSpPr>
        <p:spPr>
          <a:xfrm>
            <a:off x="731520" y="1536192"/>
            <a:ext cx="3291840" cy="228600"/>
          </a:xfrm>
          <a:prstGeom prst="rect">
            <a:avLst/>
          </a:prstGeom>
          <a:noFill/>
        </p:spPr>
        <p:txBody>
          <a:bodyPr wrap="square" lIns="0" tIns="0" rIns="0" bIns="0" anchor="t">
            <a:spAutoFit/>
          </a:bodyPr>
          <a:lstStyle/>
          <a:p>
            <a:pPr algn="l">
              <a:lnSpc>
                <a:spcPct val="100000"/>
              </a:lnSpc>
            </a:pPr>
            <a:r>
              <a:rPr sz="1200" b="1" i="0">
                <a:solidFill>
                  <a:srgbClr val="1F3A5F"/>
                </a:solidFill>
                <a:latin typeface="Calibri"/>
              </a:rPr>
              <a:t>WEBCAM + MICROPHONE</a:t>
            </a:r>
          </a:p>
        </p:txBody>
      </p:sp>
      <p:sp>
        <p:nvSpPr>
          <p:cNvPr id="10" name="TextBox 9"/>
          <p:cNvSpPr txBox="1"/>
          <p:nvPr/>
        </p:nvSpPr>
        <p:spPr>
          <a:xfrm>
            <a:off x="731520" y="1783080"/>
            <a:ext cx="3291840" cy="228600"/>
          </a:xfrm>
          <a:prstGeom prst="rect">
            <a:avLst/>
          </a:prstGeom>
          <a:noFill/>
        </p:spPr>
        <p:txBody>
          <a:bodyPr wrap="square" lIns="0" tIns="0" rIns="0" bIns="0" anchor="t">
            <a:spAutoFit/>
          </a:bodyPr>
          <a:lstStyle/>
          <a:p>
            <a:pPr algn="l">
              <a:lnSpc>
                <a:spcPct val="100000"/>
              </a:lnSpc>
            </a:pPr>
            <a:r>
              <a:rPr sz="1000" b="0" i="0">
                <a:solidFill>
                  <a:srgbClr val="5F6B7A"/>
                </a:solidFill>
                <a:latin typeface="Calibri"/>
              </a:rPr>
              <a:t>on-device, no upload</a:t>
            </a:r>
          </a:p>
        </p:txBody>
      </p:sp>
      <p:sp>
        <p:nvSpPr>
          <p:cNvPr id="11" name="TextBox 10"/>
          <p:cNvSpPr txBox="1"/>
          <p:nvPr/>
        </p:nvSpPr>
        <p:spPr>
          <a:xfrm>
            <a:off x="731520" y="2103120"/>
            <a:ext cx="3291840" cy="164592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150" b="0" i="0">
                <a:solidFill>
                  <a:srgbClr val="1F2933"/>
                </a:solidFill>
                <a:latin typeface="Calibri"/>
              </a:rPr>
              <a:t>Face and iris mesh (478 points): gaze for the lantern</a:t>
            </a:r>
          </a:p>
          <a:p>
            <a:pPr marL="155448" indent="-155448" algn="l">
              <a:lnSpc>
                <a:spcPct val="100000"/>
              </a:lnSpc>
              <a:spcBef>
                <a:spcPts val="300"/>
              </a:spcBef>
              <a:buClr>
                <a:srgbClr val="1F3A5F"/>
              </a:buClr>
              <a:buFont typeface="Arial"/>
              <a:buChar char="•"/>
            </a:pPr>
            <a:r>
              <a:rPr sz="1150" b="0" i="0">
                <a:solidFill>
                  <a:srgbClr val="1F2933"/>
                </a:solidFill>
                <a:latin typeface="Calibri"/>
              </a:rPr>
              <a:t>BlazePose (33 points): arm elevation, steps, wheel steering</a:t>
            </a:r>
          </a:p>
          <a:p>
            <a:pPr marL="155448" indent="-155448" algn="l">
              <a:lnSpc>
                <a:spcPct val="100000"/>
              </a:lnSpc>
              <a:spcBef>
                <a:spcPts val="300"/>
              </a:spcBef>
              <a:buClr>
                <a:srgbClr val="1F3A5F"/>
              </a:buClr>
              <a:buFont typeface="Arial"/>
              <a:buChar char="•"/>
            </a:pPr>
            <a:r>
              <a:rPr sz="1150" b="0" i="0">
                <a:solidFill>
                  <a:srgbClr val="1F2933"/>
                </a:solidFill>
                <a:latin typeface="Calibri"/>
              </a:rPr>
              <a:t>Microphone: voice features and clap timing</a:t>
            </a:r>
          </a:p>
          <a:p>
            <a:pPr marL="155448" indent="-155448" algn="l">
              <a:lnSpc>
                <a:spcPct val="100000"/>
              </a:lnSpc>
              <a:spcBef>
                <a:spcPts val="300"/>
              </a:spcBef>
              <a:buClr>
                <a:srgbClr val="1F3A5F"/>
              </a:buClr>
              <a:buFont typeface="Arial"/>
              <a:buChar char="•"/>
            </a:pPr>
            <a:r>
              <a:rPr sz="1150" b="0" i="0">
                <a:solidFill>
                  <a:srgbClr val="1F2933"/>
                </a:solidFill>
                <a:latin typeface="Calibri"/>
              </a:rPr>
              <a:t>2-D, single camera: an estimate, not a clinical-grade measure</a:t>
            </a:r>
          </a:p>
        </p:txBody>
      </p:sp>
      <p:sp>
        <p:nvSpPr>
          <p:cNvPr id="12" name="Rounded Rectangle 11"/>
          <p:cNvSpPr/>
          <p:nvPr/>
        </p:nvSpPr>
        <p:spPr>
          <a:xfrm>
            <a:off x="3095244" y="1536192"/>
            <a:ext cx="900684" cy="201168"/>
          </a:xfrm>
          <a:prstGeom prst="roundRect">
            <a:avLst>
              <a:gd name="adj" fmla="val 50000"/>
            </a:avLst>
          </a:prstGeom>
          <a:noFill/>
          <a:ln w="12700">
            <a:solidFill>
              <a:srgbClr val="2F6B4F"/>
            </a:solidFill>
          </a:ln>
        </p:spPr>
        <p:txBody>
          <a:bodyPr rtlCol="0" anchor="ctr"/>
          <a:lstStyle/>
          <a:p>
            <a:pPr algn="ctr"/>
            <a:endParaRPr/>
          </a:p>
        </p:txBody>
      </p:sp>
      <p:sp>
        <p:nvSpPr>
          <p:cNvPr id="13" name="TextBox 12"/>
          <p:cNvSpPr txBox="1"/>
          <p:nvPr/>
        </p:nvSpPr>
        <p:spPr>
          <a:xfrm>
            <a:off x="3095244" y="1536192"/>
            <a:ext cx="900684" cy="201168"/>
          </a:xfrm>
          <a:prstGeom prst="rect">
            <a:avLst/>
          </a:prstGeom>
          <a:noFill/>
        </p:spPr>
        <p:txBody>
          <a:bodyPr wrap="square" lIns="0" tIns="0" rIns="0" bIns="0" anchor="ctr">
            <a:spAutoFit/>
          </a:bodyPr>
          <a:lstStyle/>
          <a:p>
            <a:pPr algn="ctr">
              <a:lnSpc>
                <a:spcPct val="100000"/>
              </a:lnSpc>
            </a:pPr>
            <a:r>
              <a:rPr sz="800" b="1" i="0">
                <a:solidFill>
                  <a:srgbClr val="2F6B4F"/>
                </a:solidFill>
                <a:latin typeface="Calibri"/>
              </a:rPr>
              <a:t>IMPLEMENTED</a:t>
            </a:r>
          </a:p>
        </p:txBody>
      </p:sp>
      <p:sp>
        <p:nvSpPr>
          <p:cNvPr id="14" name="Rounded Rectangle 13"/>
          <p:cNvSpPr/>
          <p:nvPr/>
        </p:nvSpPr>
        <p:spPr>
          <a:xfrm>
            <a:off x="4279392" y="1417320"/>
            <a:ext cx="3630168" cy="2395728"/>
          </a:xfrm>
          <a:prstGeom prst="roundRect">
            <a:avLst>
              <a:gd name="adj" fmla="val 2000"/>
            </a:avLst>
          </a:prstGeom>
          <a:solidFill>
            <a:srgbClr val="FFFFFF"/>
          </a:solidFill>
          <a:ln w="15875">
            <a:solidFill>
              <a:srgbClr val="6B7785"/>
            </a:solidFill>
          </a:ln>
        </p:spPr>
        <p:txBody>
          <a:bodyPr rtlCol="0" anchor="ctr"/>
          <a:lstStyle/>
          <a:p>
            <a:pPr algn="ctr"/>
            <a:endParaRPr/>
          </a:p>
        </p:txBody>
      </p:sp>
      <p:sp>
        <p:nvSpPr>
          <p:cNvPr id="15" name="TextBox 14"/>
          <p:cNvSpPr txBox="1"/>
          <p:nvPr/>
        </p:nvSpPr>
        <p:spPr>
          <a:xfrm>
            <a:off x="4462272" y="1536192"/>
            <a:ext cx="3291840" cy="228600"/>
          </a:xfrm>
          <a:prstGeom prst="rect">
            <a:avLst/>
          </a:prstGeom>
          <a:noFill/>
        </p:spPr>
        <p:txBody>
          <a:bodyPr wrap="square" lIns="0" tIns="0" rIns="0" bIns="0" anchor="t">
            <a:spAutoFit/>
          </a:bodyPr>
          <a:lstStyle/>
          <a:p>
            <a:pPr algn="l">
              <a:lnSpc>
                <a:spcPct val="100000"/>
              </a:lnSpc>
            </a:pPr>
            <a:r>
              <a:rPr sz="1200" b="1" i="0">
                <a:solidFill>
                  <a:srgbClr val="6B7785"/>
                </a:solidFill>
                <a:latin typeface="Calibri"/>
              </a:rPr>
              <a:t>WRIST + ANKLE IMU</a:t>
            </a:r>
          </a:p>
        </p:txBody>
      </p:sp>
      <p:sp>
        <p:nvSpPr>
          <p:cNvPr id="16" name="TextBox 15"/>
          <p:cNvSpPr txBox="1"/>
          <p:nvPr/>
        </p:nvSpPr>
        <p:spPr>
          <a:xfrm>
            <a:off x="4462272" y="1783080"/>
            <a:ext cx="3291840" cy="228600"/>
          </a:xfrm>
          <a:prstGeom prst="rect">
            <a:avLst/>
          </a:prstGeom>
          <a:noFill/>
        </p:spPr>
        <p:txBody>
          <a:bodyPr wrap="square" lIns="0" tIns="0" rIns="0" bIns="0" anchor="t">
            <a:spAutoFit/>
          </a:bodyPr>
          <a:lstStyle/>
          <a:p>
            <a:pPr algn="l">
              <a:lnSpc>
                <a:spcPct val="100000"/>
              </a:lnSpc>
            </a:pPr>
            <a:r>
              <a:rPr sz="1000" b="0" i="0">
                <a:solidFill>
                  <a:srgbClr val="5F6B7A"/>
                </a:solidFill>
                <a:latin typeface="Calibri"/>
              </a:rPr>
              <a:t>ESP32 + MPU-6050 · 100 Hz · ±4 g · ±500 °/s</a:t>
            </a:r>
          </a:p>
        </p:txBody>
      </p:sp>
      <p:sp>
        <p:nvSpPr>
          <p:cNvPr id="17" name="TextBox 16"/>
          <p:cNvSpPr txBox="1"/>
          <p:nvPr/>
        </p:nvSpPr>
        <p:spPr>
          <a:xfrm>
            <a:off x="4462272" y="2103120"/>
            <a:ext cx="3291840" cy="164592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150" b="0" i="0">
                <a:solidFill>
                  <a:srgbClr val="1F2933"/>
                </a:solidFill>
                <a:latin typeface="Calibri"/>
              </a:rPr>
              <a:t>Wrist: acceleration and angular velocity, 4–7 Hz tremor-band ratio, peak frequency, gyro RMS</a:t>
            </a:r>
          </a:p>
          <a:p>
            <a:pPr marL="155448" indent="-155448" algn="l">
              <a:lnSpc>
                <a:spcPct val="100000"/>
              </a:lnSpc>
              <a:spcBef>
                <a:spcPts val="300"/>
              </a:spcBef>
              <a:buClr>
                <a:srgbClr val="1F3A5F"/>
              </a:buClr>
              <a:buFont typeface="Arial"/>
              <a:buChar char="•"/>
            </a:pPr>
            <a:r>
              <a:rPr sz="1150" b="0" i="0">
                <a:solidFill>
                  <a:srgbClr val="1F2933"/>
                </a:solidFill>
                <a:latin typeface="Calibri"/>
              </a:rPr>
              <a:t>Ankle: cadence, step regularity, freeze index and band power (as in Model A)</a:t>
            </a:r>
          </a:p>
          <a:p>
            <a:pPr marL="155448" indent="-155448" algn="l">
              <a:lnSpc>
                <a:spcPct val="100000"/>
              </a:lnSpc>
              <a:spcBef>
                <a:spcPts val="300"/>
              </a:spcBef>
              <a:buClr>
                <a:srgbClr val="1F3A5F"/>
              </a:buClr>
              <a:buFont typeface="Arial"/>
              <a:buChar char="•"/>
            </a:pPr>
            <a:r>
              <a:rPr sz="1150" b="0" i="0">
                <a:solidFill>
                  <a:srgbClr val="1F2933"/>
                </a:solidFill>
                <a:latin typeface="Calibri"/>
              </a:rPr>
              <a:t>Complements the camera in spiral, gait and seated tasks</a:t>
            </a:r>
          </a:p>
        </p:txBody>
      </p:sp>
      <p:sp>
        <p:nvSpPr>
          <p:cNvPr id="18" name="Rounded Rectangle 17"/>
          <p:cNvSpPr/>
          <p:nvPr/>
        </p:nvSpPr>
        <p:spPr>
          <a:xfrm>
            <a:off x="6551676" y="1536192"/>
            <a:ext cx="1175004" cy="201168"/>
          </a:xfrm>
          <a:prstGeom prst="roundRect">
            <a:avLst>
              <a:gd name="adj" fmla="val 50000"/>
            </a:avLst>
          </a:prstGeom>
          <a:noFill/>
          <a:ln w="12700">
            <a:solidFill>
              <a:srgbClr val="B7791F"/>
            </a:solidFill>
          </a:ln>
        </p:spPr>
        <p:txBody>
          <a:bodyPr rtlCol="0" anchor="ctr"/>
          <a:lstStyle/>
          <a:p>
            <a:pPr algn="ctr"/>
            <a:endParaRPr/>
          </a:p>
        </p:txBody>
      </p:sp>
      <p:sp>
        <p:nvSpPr>
          <p:cNvPr id="19" name="TextBox 18"/>
          <p:cNvSpPr txBox="1"/>
          <p:nvPr/>
        </p:nvSpPr>
        <p:spPr>
          <a:xfrm>
            <a:off x="6551676" y="1536192"/>
            <a:ext cx="1175004" cy="201168"/>
          </a:xfrm>
          <a:prstGeom prst="rect">
            <a:avLst/>
          </a:prstGeom>
          <a:noFill/>
        </p:spPr>
        <p:txBody>
          <a:bodyPr wrap="square" lIns="0" tIns="0" rIns="0" bIns="0" anchor="ctr">
            <a:spAutoFit/>
          </a:bodyPr>
          <a:lstStyle/>
          <a:p>
            <a:pPr algn="ctr">
              <a:lnSpc>
                <a:spcPct val="100000"/>
              </a:lnSpc>
            </a:pPr>
            <a:r>
              <a:rPr sz="800" b="1" i="0">
                <a:solidFill>
                  <a:srgbClr val="B7791F"/>
                </a:solidFill>
                <a:latin typeface="Calibri"/>
              </a:rPr>
              <a:t>BUILT · LIMITED</a:t>
            </a:r>
          </a:p>
        </p:txBody>
      </p:sp>
      <p:sp>
        <p:nvSpPr>
          <p:cNvPr id="20" name="Rounded Rectangle 19"/>
          <p:cNvSpPr/>
          <p:nvPr/>
        </p:nvSpPr>
        <p:spPr>
          <a:xfrm>
            <a:off x="8010144" y="1417320"/>
            <a:ext cx="3630168" cy="2395728"/>
          </a:xfrm>
          <a:prstGeom prst="roundRect">
            <a:avLst>
              <a:gd name="adj" fmla="val 2000"/>
            </a:avLst>
          </a:prstGeom>
          <a:solidFill>
            <a:srgbClr val="FFFFFF"/>
          </a:solidFill>
          <a:ln w="15875">
            <a:solidFill>
              <a:srgbClr val="2F6B4F"/>
            </a:solidFill>
          </a:ln>
        </p:spPr>
        <p:txBody>
          <a:bodyPr rtlCol="0" anchor="ctr"/>
          <a:lstStyle/>
          <a:p>
            <a:pPr algn="ctr"/>
            <a:endParaRPr/>
          </a:p>
        </p:txBody>
      </p:sp>
      <p:sp>
        <p:nvSpPr>
          <p:cNvPr id="21" name="TextBox 20"/>
          <p:cNvSpPr txBox="1"/>
          <p:nvPr/>
        </p:nvSpPr>
        <p:spPr>
          <a:xfrm>
            <a:off x="8193023" y="1536192"/>
            <a:ext cx="3291840" cy="228600"/>
          </a:xfrm>
          <a:prstGeom prst="rect">
            <a:avLst/>
          </a:prstGeom>
          <a:noFill/>
        </p:spPr>
        <p:txBody>
          <a:bodyPr wrap="square" lIns="0" tIns="0" rIns="0" bIns="0" anchor="t">
            <a:spAutoFit/>
          </a:bodyPr>
          <a:lstStyle/>
          <a:p>
            <a:pPr algn="l">
              <a:lnSpc>
                <a:spcPct val="100000"/>
              </a:lnSpc>
            </a:pPr>
            <a:r>
              <a:rPr sz="1200" b="1" i="0">
                <a:solidFill>
                  <a:srgbClr val="2F6B4F"/>
                </a:solidFill>
                <a:latin typeface="Calibri"/>
              </a:rPr>
              <a:t>GAME TELEMETRY</a:t>
            </a:r>
          </a:p>
        </p:txBody>
      </p:sp>
      <p:sp>
        <p:nvSpPr>
          <p:cNvPr id="22" name="TextBox 21"/>
          <p:cNvSpPr txBox="1"/>
          <p:nvPr/>
        </p:nvSpPr>
        <p:spPr>
          <a:xfrm>
            <a:off x="8193023" y="1783080"/>
            <a:ext cx="3291840" cy="228600"/>
          </a:xfrm>
          <a:prstGeom prst="rect">
            <a:avLst/>
          </a:prstGeom>
          <a:noFill/>
        </p:spPr>
        <p:txBody>
          <a:bodyPr wrap="square" lIns="0" tIns="0" rIns="0" bIns="0" anchor="t">
            <a:spAutoFit/>
          </a:bodyPr>
          <a:lstStyle/>
          <a:p>
            <a:pPr algn="l">
              <a:lnSpc>
                <a:spcPct val="100000"/>
              </a:lnSpc>
            </a:pPr>
            <a:r>
              <a:rPr sz="1000" b="0" i="0">
                <a:solidFill>
                  <a:srgbClr val="5F6B7A"/>
                </a:solidFill>
                <a:latin typeface="Calibri"/>
              </a:rPr>
              <a:t>every task, every session</a:t>
            </a:r>
          </a:p>
        </p:txBody>
      </p:sp>
      <p:sp>
        <p:nvSpPr>
          <p:cNvPr id="23" name="TextBox 22"/>
          <p:cNvSpPr txBox="1"/>
          <p:nvPr/>
        </p:nvSpPr>
        <p:spPr>
          <a:xfrm>
            <a:off x="8193023" y="2103120"/>
            <a:ext cx="3291840" cy="164592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150" b="0" i="0">
                <a:solidFill>
                  <a:srgbClr val="1F2933"/>
                </a:solidFill>
                <a:latin typeface="Calibri"/>
              </a:rPr>
              <a:t>Task completion time, accuracy, errors, response latency</a:t>
            </a:r>
          </a:p>
          <a:p>
            <a:pPr marL="155448" indent="-155448" algn="l">
              <a:lnSpc>
                <a:spcPct val="100000"/>
              </a:lnSpc>
              <a:spcBef>
                <a:spcPts val="300"/>
              </a:spcBef>
              <a:buClr>
                <a:srgbClr val="1F3A5F"/>
              </a:buClr>
              <a:buFont typeface="Arial"/>
              <a:buChar char="•"/>
            </a:pPr>
            <a:r>
              <a:rPr sz="1150" b="0" i="0">
                <a:solidFill>
                  <a:srgbClr val="1F2933"/>
                </a:solidFill>
                <a:latin typeface="Calibri"/>
              </a:rPr>
              <a:t>Pointer and trace paths, input source, skip state</a:t>
            </a:r>
          </a:p>
          <a:p>
            <a:pPr marL="155448" indent="-155448" algn="l">
              <a:lnSpc>
                <a:spcPct val="100000"/>
              </a:lnSpc>
              <a:spcBef>
                <a:spcPts val="300"/>
              </a:spcBef>
              <a:buClr>
                <a:srgbClr val="1F3A5F"/>
              </a:buClr>
              <a:buFont typeface="Arial"/>
              <a:buChar char="•"/>
            </a:pPr>
            <a:r>
              <a:rPr sz="1150" b="0" i="0">
                <a:solidFill>
                  <a:srgbClr val="1F2933"/>
                </a:solidFill>
                <a:latin typeface="Calibri"/>
              </a:rPr>
              <a:t>Per-domain quality flags; QA or simulated runs are labelled</a:t>
            </a:r>
          </a:p>
        </p:txBody>
      </p:sp>
      <p:sp>
        <p:nvSpPr>
          <p:cNvPr id="24" name="Rounded Rectangle 23"/>
          <p:cNvSpPr/>
          <p:nvPr/>
        </p:nvSpPr>
        <p:spPr>
          <a:xfrm>
            <a:off x="10556748" y="1536192"/>
            <a:ext cx="900684" cy="201168"/>
          </a:xfrm>
          <a:prstGeom prst="roundRect">
            <a:avLst>
              <a:gd name="adj" fmla="val 50000"/>
            </a:avLst>
          </a:prstGeom>
          <a:noFill/>
          <a:ln w="12700">
            <a:solidFill>
              <a:srgbClr val="2F6B4F"/>
            </a:solidFill>
          </a:ln>
        </p:spPr>
        <p:txBody>
          <a:bodyPr rtlCol="0" anchor="ctr"/>
          <a:lstStyle/>
          <a:p>
            <a:pPr algn="ctr"/>
            <a:endParaRPr/>
          </a:p>
        </p:txBody>
      </p:sp>
      <p:sp>
        <p:nvSpPr>
          <p:cNvPr id="25" name="TextBox 24"/>
          <p:cNvSpPr txBox="1"/>
          <p:nvPr/>
        </p:nvSpPr>
        <p:spPr>
          <a:xfrm>
            <a:off x="10556748" y="1536192"/>
            <a:ext cx="900684" cy="201168"/>
          </a:xfrm>
          <a:prstGeom prst="rect">
            <a:avLst/>
          </a:prstGeom>
          <a:noFill/>
        </p:spPr>
        <p:txBody>
          <a:bodyPr wrap="square" lIns="0" tIns="0" rIns="0" bIns="0" anchor="ctr">
            <a:spAutoFit/>
          </a:bodyPr>
          <a:lstStyle/>
          <a:p>
            <a:pPr algn="ctr">
              <a:lnSpc>
                <a:spcPct val="100000"/>
              </a:lnSpc>
            </a:pPr>
            <a:r>
              <a:rPr sz="800" b="1" i="0">
                <a:solidFill>
                  <a:srgbClr val="2F6B4F"/>
                </a:solidFill>
                <a:latin typeface="Calibri"/>
              </a:rPr>
              <a:t>IMPLEMENTED</a:t>
            </a:r>
          </a:p>
        </p:txBody>
      </p:sp>
      <p:sp>
        <p:nvSpPr>
          <p:cNvPr id="26" name="TextBox 25"/>
          <p:cNvSpPr txBox="1"/>
          <p:nvPr/>
        </p:nvSpPr>
        <p:spPr>
          <a:xfrm>
            <a:off x="548640" y="3977639"/>
            <a:ext cx="73152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IMU DATA PATH: TIMESTAMP → TRANSMIT → VALIDATE → SYNCHRONISE → FEATURES</a:t>
            </a:r>
          </a:p>
        </p:txBody>
      </p:sp>
      <p:sp>
        <p:nvSpPr>
          <p:cNvPr id="27" name="Rounded Rectangle 26"/>
          <p:cNvSpPr/>
          <p:nvPr/>
        </p:nvSpPr>
        <p:spPr>
          <a:xfrm>
            <a:off x="548640" y="4251960"/>
            <a:ext cx="1719072" cy="105156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28" name="TextBox 27"/>
          <p:cNvSpPr txBox="1"/>
          <p:nvPr/>
        </p:nvSpPr>
        <p:spPr>
          <a:xfrm>
            <a:off x="640080" y="4315968"/>
            <a:ext cx="1536192" cy="27432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ESP32 + MPU-6050</a:t>
            </a:r>
          </a:p>
        </p:txBody>
      </p:sp>
      <p:sp>
        <p:nvSpPr>
          <p:cNvPr id="29" name="TextBox 28"/>
          <p:cNvSpPr txBox="1"/>
          <p:nvPr/>
        </p:nvSpPr>
        <p:spPr>
          <a:xfrm>
            <a:off x="640080" y="4590288"/>
            <a:ext cx="1536192" cy="713232"/>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seq, t_ms, t_us per sample · 921600 baud JSON</a:t>
            </a:r>
          </a:p>
        </p:txBody>
      </p:sp>
      <p:cxnSp>
        <p:nvCxnSpPr>
          <p:cNvPr id="30" name="Connector 29"/>
          <p:cNvCxnSpPr/>
          <p:nvPr/>
        </p:nvCxnSpPr>
        <p:spPr>
          <a:xfrm>
            <a:off x="2267712" y="4773168"/>
            <a:ext cx="155448" cy="0"/>
          </a:xfrm>
          <a:prstGeom prst="line">
            <a:avLst/>
          </a:prstGeom>
          <a:ln w="15875">
            <a:solidFill>
              <a:srgbClr val="1F3A5F"/>
            </a:solidFill>
            <a:tailEnd type="triangle" w="med" len="med"/>
          </a:ln>
        </p:spPr>
      </p:cxnSp>
      <p:sp>
        <p:nvSpPr>
          <p:cNvPr id="31" name="Rounded Rectangle 30"/>
          <p:cNvSpPr/>
          <p:nvPr/>
        </p:nvSpPr>
        <p:spPr>
          <a:xfrm>
            <a:off x="2423160" y="4251960"/>
            <a:ext cx="1719072" cy="105156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32" name="TextBox 31"/>
          <p:cNvSpPr txBox="1"/>
          <p:nvPr/>
        </p:nvSpPr>
        <p:spPr>
          <a:xfrm>
            <a:off x="2514600" y="4315968"/>
            <a:ext cx="1536192" cy="27432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Python receiver</a:t>
            </a:r>
          </a:p>
        </p:txBody>
      </p:sp>
      <p:sp>
        <p:nvSpPr>
          <p:cNvPr id="33" name="TextBox 32"/>
          <p:cNvSpPr txBox="1"/>
          <p:nvPr/>
        </p:nvSpPr>
        <p:spPr>
          <a:xfrm>
            <a:off x="2514600" y="4590288"/>
            <a:ext cx="1536192" cy="713232"/>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schema and range checks; duplicates, out-of-order and stale data rejected</a:t>
            </a:r>
          </a:p>
        </p:txBody>
      </p:sp>
      <p:cxnSp>
        <p:nvCxnSpPr>
          <p:cNvPr id="34" name="Connector 33"/>
          <p:cNvCxnSpPr/>
          <p:nvPr/>
        </p:nvCxnSpPr>
        <p:spPr>
          <a:xfrm>
            <a:off x="4142231" y="4773168"/>
            <a:ext cx="155448" cy="0"/>
          </a:xfrm>
          <a:prstGeom prst="line">
            <a:avLst/>
          </a:prstGeom>
          <a:ln w="15875">
            <a:solidFill>
              <a:srgbClr val="1F3A5F"/>
            </a:solidFill>
            <a:tailEnd type="triangle" w="med" len="med"/>
          </a:ln>
        </p:spPr>
      </p:cxnSp>
      <p:sp>
        <p:nvSpPr>
          <p:cNvPr id="35" name="Rounded Rectangle 34"/>
          <p:cNvSpPr/>
          <p:nvPr/>
        </p:nvSpPr>
        <p:spPr>
          <a:xfrm>
            <a:off x="4297679" y="4251960"/>
            <a:ext cx="1719072" cy="105156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36" name="TextBox 35"/>
          <p:cNvSpPr txBox="1"/>
          <p:nvPr/>
        </p:nvSpPr>
        <p:spPr>
          <a:xfrm>
            <a:off x="4389119" y="4315968"/>
            <a:ext cx="1536192" cy="27432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Local UDP 127.0.0.1</a:t>
            </a:r>
          </a:p>
        </p:txBody>
      </p:sp>
      <p:sp>
        <p:nvSpPr>
          <p:cNvPr id="37" name="TextBox 36"/>
          <p:cNvSpPr txBox="1"/>
          <p:nvPr/>
        </p:nvSpPr>
        <p:spPr>
          <a:xfrm>
            <a:off x="4389119" y="4590288"/>
            <a:ext cx="1536192" cy="713232"/>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validated samples only; simulated packets flagged</a:t>
            </a:r>
          </a:p>
        </p:txBody>
      </p:sp>
      <p:cxnSp>
        <p:nvCxnSpPr>
          <p:cNvPr id="38" name="Connector 37"/>
          <p:cNvCxnSpPr/>
          <p:nvPr/>
        </p:nvCxnSpPr>
        <p:spPr>
          <a:xfrm>
            <a:off x="6016751" y="4773168"/>
            <a:ext cx="155448" cy="0"/>
          </a:xfrm>
          <a:prstGeom prst="line">
            <a:avLst/>
          </a:prstGeom>
          <a:ln w="15875">
            <a:solidFill>
              <a:srgbClr val="1F3A5F"/>
            </a:solidFill>
            <a:tailEnd type="triangle" w="med" len="med"/>
          </a:ln>
        </p:spPr>
      </p:cxnSp>
      <p:sp>
        <p:nvSpPr>
          <p:cNvPr id="39" name="Rounded Rectangle 38"/>
          <p:cNvSpPr/>
          <p:nvPr/>
        </p:nvSpPr>
        <p:spPr>
          <a:xfrm>
            <a:off x="6172199" y="4251960"/>
            <a:ext cx="1719072" cy="105156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40" name="TextBox 39"/>
          <p:cNvSpPr txBox="1"/>
          <p:nvPr/>
        </p:nvSpPr>
        <p:spPr>
          <a:xfrm>
            <a:off x="6263639" y="4315968"/>
            <a:ext cx="1536192" cy="27432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Unity bridge</a:t>
            </a:r>
          </a:p>
        </p:txBody>
      </p:sp>
      <p:sp>
        <p:nvSpPr>
          <p:cNvPr id="41" name="TextBox 40"/>
          <p:cNvSpPr txBox="1"/>
          <p:nvPr/>
        </p:nvSpPr>
        <p:spPr>
          <a:xfrm>
            <a:off x="6263639" y="4590288"/>
            <a:ext cx="1536192" cy="713232"/>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placement-tagged; aligned to the game clock</a:t>
            </a:r>
          </a:p>
        </p:txBody>
      </p:sp>
      <p:cxnSp>
        <p:nvCxnSpPr>
          <p:cNvPr id="42" name="Connector 41"/>
          <p:cNvCxnSpPr/>
          <p:nvPr/>
        </p:nvCxnSpPr>
        <p:spPr>
          <a:xfrm>
            <a:off x="7891271" y="4773168"/>
            <a:ext cx="155448" cy="0"/>
          </a:xfrm>
          <a:prstGeom prst="line">
            <a:avLst/>
          </a:prstGeom>
          <a:ln w="15875">
            <a:solidFill>
              <a:srgbClr val="1F3A5F"/>
            </a:solidFill>
            <a:tailEnd type="triangle" w="med" len="med"/>
          </a:ln>
        </p:spPr>
      </p:cxnSp>
      <p:sp>
        <p:nvSpPr>
          <p:cNvPr id="43" name="Rounded Rectangle 42"/>
          <p:cNvSpPr/>
          <p:nvPr/>
        </p:nvSpPr>
        <p:spPr>
          <a:xfrm>
            <a:off x="8046719" y="4251960"/>
            <a:ext cx="1719072" cy="105156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44" name="TextBox 43"/>
          <p:cNvSpPr txBox="1"/>
          <p:nvPr/>
        </p:nvSpPr>
        <p:spPr>
          <a:xfrm>
            <a:off x="8138159" y="4315968"/>
            <a:ext cx="1536192" cy="27432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Per-task window</a:t>
            </a:r>
          </a:p>
        </p:txBody>
      </p:sp>
      <p:sp>
        <p:nvSpPr>
          <p:cNvPr id="45" name="TextBox 44"/>
          <p:cNvSpPr txBox="1"/>
          <p:nvPr/>
        </p:nvSpPr>
        <p:spPr>
          <a:xfrm>
            <a:off x="8138159" y="4590288"/>
            <a:ext cx="1536192" cy="713232"/>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features stored with the task record; raw readings kept as CSV</a:t>
            </a:r>
          </a:p>
        </p:txBody>
      </p:sp>
      <p:cxnSp>
        <p:nvCxnSpPr>
          <p:cNvPr id="46" name="Connector 45"/>
          <p:cNvCxnSpPr/>
          <p:nvPr/>
        </p:nvCxnSpPr>
        <p:spPr>
          <a:xfrm>
            <a:off x="9765792" y="4773168"/>
            <a:ext cx="155448" cy="0"/>
          </a:xfrm>
          <a:prstGeom prst="line">
            <a:avLst/>
          </a:prstGeom>
          <a:ln w="15875">
            <a:solidFill>
              <a:srgbClr val="1F3A5F"/>
            </a:solidFill>
            <a:tailEnd type="triangle" w="med" len="med"/>
          </a:ln>
        </p:spPr>
      </p:cxnSp>
      <p:sp>
        <p:nvSpPr>
          <p:cNvPr id="47" name="Rounded Rectangle 46"/>
          <p:cNvSpPr/>
          <p:nvPr/>
        </p:nvSpPr>
        <p:spPr>
          <a:xfrm>
            <a:off x="9921240" y="4251960"/>
            <a:ext cx="1719072" cy="105156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48" name="TextBox 47"/>
          <p:cNvSpPr txBox="1"/>
          <p:nvPr/>
        </p:nvSpPr>
        <p:spPr>
          <a:xfrm>
            <a:off x="10012680" y="4315968"/>
            <a:ext cx="1536192" cy="27432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Session record</a:t>
            </a:r>
          </a:p>
        </p:txBody>
      </p:sp>
      <p:sp>
        <p:nvSpPr>
          <p:cNvPr id="49" name="TextBox 48"/>
          <p:cNvSpPr txBox="1"/>
          <p:nvPr/>
        </p:nvSpPr>
        <p:spPr>
          <a:xfrm>
            <a:off x="10012680" y="4590288"/>
            <a:ext cx="1536192" cy="713232"/>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stored with the session; the twin’s wearable grid is simulated or Daphnet today</a:t>
            </a:r>
          </a:p>
        </p:txBody>
      </p:sp>
      <p:sp>
        <p:nvSpPr>
          <p:cNvPr id="50" name="Rounded Rectangle 49"/>
          <p:cNvSpPr/>
          <p:nvPr/>
        </p:nvSpPr>
        <p:spPr>
          <a:xfrm>
            <a:off x="548640" y="5468112"/>
            <a:ext cx="11091672" cy="658368"/>
          </a:xfrm>
          <a:prstGeom prst="roundRect">
            <a:avLst>
              <a:gd name="adj" fmla="val 2000"/>
            </a:avLst>
          </a:prstGeom>
          <a:solidFill>
            <a:srgbClr val="F3F5F7"/>
          </a:solidFill>
          <a:ln w="9525">
            <a:solidFill>
              <a:srgbClr val="B7791F"/>
            </a:solidFill>
          </a:ln>
        </p:spPr>
        <p:txBody>
          <a:bodyPr rtlCol="0" anchor="ctr"/>
          <a:lstStyle/>
          <a:p>
            <a:pPr algn="ctr"/>
            <a:endParaRPr/>
          </a:p>
        </p:txBody>
      </p:sp>
      <p:sp>
        <p:nvSpPr>
          <p:cNvPr id="51" name="TextBox 50"/>
          <p:cNvSpPr txBox="1"/>
          <p:nvPr/>
        </p:nvSpPr>
        <p:spPr>
          <a:xfrm>
            <a:off x="777240" y="5468112"/>
            <a:ext cx="10698480" cy="658368"/>
          </a:xfrm>
          <a:prstGeom prst="rect">
            <a:avLst/>
          </a:prstGeom>
          <a:noFill/>
        </p:spPr>
        <p:txBody>
          <a:bodyPr wrap="square" lIns="0" tIns="0" rIns="0" bIns="0" anchor="ctr">
            <a:spAutoFit/>
          </a:bodyPr>
          <a:lstStyle/>
          <a:p>
            <a:pPr algn="l">
              <a:lnSpc>
                <a:spcPct val="100000"/>
              </a:lnSpc>
            </a:pPr>
            <a:r>
              <a:rPr sz="1100" b="1" i="0">
                <a:solidFill>
                  <a:srgbClr val="B7791F"/>
                </a:solidFill>
                <a:latin typeface="Calibri"/>
              </a:rPr>
              <a:t>Status.  </a:t>
            </a:r>
            <a:r>
              <a:rPr sz="1100" b="0" i="0">
                <a:solidFill>
                  <a:srgbClr val="1F2933"/>
                </a:solidFill>
                <a:latin typeface="Calibri"/>
              </a:rPr>
              <a:t>Firmware, receiver, Unity bridge, simulator and tests are built. The ankle model is trained on real Daphnet accelerometer data; the wrist and ankle boards have not yet been run through a full play session on live hardware. The wrist tremor features exist, but no wrist model is trained.</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AI, datasets and methodology</a:t>
            </a:r>
          </a:p>
        </p:txBody>
      </p:sp>
      <p:sp>
        <p:nvSpPr>
          <p:cNvPr id="3" name="TextBox 2"/>
          <p:cNvSpPr txBox="1"/>
          <p:nvPr/>
        </p:nvSpPr>
        <p:spPr>
          <a:xfrm>
            <a:off x="548640" y="841248"/>
            <a:ext cx="10789920" cy="274320"/>
          </a:xfrm>
          <a:prstGeom prst="rect">
            <a:avLst/>
          </a:prstGeom>
          <a:noFill/>
        </p:spPr>
        <p:txBody>
          <a:bodyPr wrap="square" lIns="0" tIns="0" rIns="0" bIns="0" anchor="t">
            <a:spAutoFit/>
          </a:bodyPr>
          <a:lstStyle/>
          <a:p>
            <a:pPr algn="l">
              <a:lnSpc>
                <a:spcPct val="100000"/>
              </a:lnSpc>
            </a:pPr>
            <a:r>
              <a:rPr sz="1300" b="0" i="0">
                <a:solidFill>
                  <a:srgbClr val="5F6B7A"/>
                </a:solidFill>
                <a:latin typeface="Calibri"/>
              </a:rPr>
              <a:t>Ten datasets reviewed. Seven were used for training or evaluation, all with participant-grouped validation; three are proposed.</a:t>
            </a:r>
          </a:p>
        </p:txBody>
      </p:sp>
      <p:cxnSp>
        <p:nvCxnSpPr>
          <p:cNvPr id="4" name="Connector 3"/>
          <p:cNvCxnSpPr/>
          <p:nvPr/>
        </p:nvCxnSpPr>
        <p:spPr>
          <a:xfrm>
            <a:off x="548640" y="1207008"/>
            <a:ext cx="11091672" cy="0"/>
          </a:xfrm>
          <a:prstGeom prst="line">
            <a:avLst/>
          </a:prstGeom>
          <a:ln w="9525">
            <a:solidFill>
              <a:srgbClr val="C9D0D8"/>
            </a:solidFill>
          </a:ln>
        </p:spPr>
      </p:cxnSp>
      <p:sp>
        <p:nvSpPr>
          <p:cNvPr id="6" name="TextBox 5"/>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5 / 10</a:t>
            </a:r>
          </a:p>
        </p:txBody>
      </p:sp>
      <p:sp>
        <p:nvSpPr>
          <p:cNvPr id="7" name="TextBox 6"/>
          <p:cNvSpPr txBox="1"/>
          <p:nvPr/>
        </p:nvSpPr>
        <p:spPr>
          <a:xfrm>
            <a:off x="548640" y="6254496"/>
            <a:ext cx="11064240" cy="201168"/>
          </a:xfrm>
          <a:prstGeom prst="rect">
            <a:avLst/>
          </a:prstGeom>
          <a:noFill/>
        </p:spPr>
        <p:txBody>
          <a:bodyPr wrap="square" lIns="0" tIns="0" rIns="0" bIns="0" anchor="t">
            <a:spAutoFit/>
          </a:bodyPr>
          <a:lstStyle/>
          <a:p>
            <a:pPr algn="l">
              <a:lnSpc>
                <a:spcPct val="100000"/>
              </a:lnSpc>
            </a:pPr>
            <a:r>
              <a:rPr sz="900" b="0" i="0">
                <a:solidFill>
                  <a:srgbClr val="5F6B7A"/>
                </a:solidFill>
                <a:latin typeface="Calibri"/>
              </a:rPr>
              <a:t>Voice biomarkers for PD telemonitoring [10] · Daphnet [9] · Datasets: Hausdorff 2000, Isenkul 2014, Little 2007, Sakar 2013/2018, Tsanas 2010, Mendeley Data ET_PD_VIS and TMT-PD (2026)</a:t>
            </a:r>
          </a:p>
        </p:txBody>
      </p:sp>
      <p:graphicFrame>
        <p:nvGraphicFramePr>
          <p:cNvPr id="8" name="Table 7"/>
          <p:cNvGraphicFramePr>
            <a:graphicFrameLocks noGrp="1"/>
          </p:cNvGraphicFramePr>
          <p:nvPr/>
        </p:nvGraphicFramePr>
        <p:xfrm>
          <a:off x="548640" y="1371600"/>
          <a:ext cx="9144000" cy="4023360"/>
        </p:xfrm>
        <a:graphic>
          <a:graphicData uri="http://schemas.openxmlformats.org/drawingml/2006/table">
            <a:tbl>
              <a:tblPr/>
              <a:tblGrid>
                <a:gridCol w="2240280">
                  <a:extLst>
                    <a:ext uri="{9D8B030D-6E8A-4147-A177-3AD203B41FA5}">
                      <a16:colId xmlns:a16="http://schemas.microsoft.com/office/drawing/2014/main" val="20000"/>
                    </a:ext>
                  </a:extLst>
                </a:gridCol>
                <a:gridCol w="233172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tblGrid>
              <a:tr h="365760">
                <a:tc>
                  <a:txBody>
                    <a:bodyPr/>
                    <a:lstStyle/>
                    <a:p>
                      <a:r>
                        <a:rPr sz="850" b="1" i="0">
                          <a:solidFill>
                            <a:srgbClr val="1F3A5F"/>
                          </a:solidFill>
                          <a:latin typeface="Calibri"/>
                        </a:rPr>
                        <a:t>Dataset</a:t>
                      </a:r>
                    </a:p>
                  </a:txBody>
                  <a:tcPr marL="64008" marR="64008" marT="27432" marB="27432" anchor="ctr">
                    <a:lnL w="0">
                      <a:noFill/>
                    </a:lnL>
                    <a:lnR w="0">
                      <a:noFill/>
                    </a:lnR>
                    <a:lnT w="0">
                      <a:noFill/>
                    </a:lnT>
                    <a:lnB w="12700">
                      <a:solidFill>
                        <a:srgbClr val="1F3A5F"/>
                      </a:solidFill>
                    </a:lnB>
                    <a:noFill/>
                  </a:tcPr>
                </a:tc>
                <a:tc>
                  <a:txBody>
                    <a:bodyPr/>
                    <a:lstStyle/>
                    <a:p>
                      <a:r>
                        <a:rPr sz="850" b="1" i="0">
                          <a:solidFill>
                            <a:srgbClr val="1F3A5F"/>
                          </a:solidFill>
                          <a:latin typeface="Calibri"/>
                        </a:rPr>
                        <a:t>Modality</a:t>
                      </a:r>
                    </a:p>
                  </a:txBody>
                  <a:tcPr marL="64008" marR="64008" marT="27432" marB="27432" anchor="ctr">
                    <a:lnL w="0">
                      <a:noFill/>
                    </a:lnL>
                    <a:lnR w="0">
                      <a:noFill/>
                    </a:lnR>
                    <a:lnT w="0">
                      <a:noFill/>
                    </a:lnT>
                    <a:lnB w="12700">
                      <a:solidFill>
                        <a:srgbClr val="1F3A5F"/>
                      </a:solidFill>
                    </a:lnB>
                    <a:noFill/>
                  </a:tcPr>
                </a:tc>
                <a:tc>
                  <a:txBody>
                    <a:bodyPr/>
                    <a:lstStyle/>
                    <a:p>
                      <a:r>
                        <a:rPr sz="850" b="1" i="0">
                          <a:solidFill>
                            <a:srgbClr val="1F3A5F"/>
                          </a:solidFill>
                          <a:latin typeface="Calibri"/>
                        </a:rPr>
                        <a:t>Role in Neuroverse</a:t>
                      </a:r>
                    </a:p>
                  </a:txBody>
                  <a:tcPr marL="64008" marR="64008" marT="27432" marB="27432" anchor="ctr">
                    <a:lnL w="0">
                      <a:noFill/>
                    </a:lnL>
                    <a:lnR w="0">
                      <a:noFill/>
                    </a:lnR>
                    <a:lnT w="0">
                      <a:noFill/>
                    </a:lnT>
                    <a:lnB w="12700">
                      <a:solidFill>
                        <a:srgbClr val="1F3A5F"/>
                      </a:solidFill>
                    </a:lnB>
                    <a:noFill/>
                  </a:tcPr>
                </a:tc>
                <a:tc>
                  <a:txBody>
                    <a:bodyPr/>
                    <a:lstStyle/>
                    <a:p>
                      <a:r>
                        <a:rPr sz="850" b="1" i="0">
                          <a:solidFill>
                            <a:srgbClr val="1F3A5F"/>
                          </a:solidFill>
                          <a:latin typeface="Calibri"/>
                        </a:rPr>
                        <a:t>Status</a:t>
                      </a:r>
                    </a:p>
                  </a:txBody>
                  <a:tcPr marL="64008" marR="64008" marT="27432" marB="27432" anchor="ctr">
                    <a:lnL w="0">
                      <a:noFill/>
                    </a:lnL>
                    <a:lnR w="0">
                      <a:noFill/>
                    </a:lnR>
                    <a:lnT w="0">
                      <a:noFill/>
                    </a:lnT>
                    <a:lnB w="12700">
                      <a:solidFill>
                        <a:srgbClr val="1F3A5F"/>
                      </a:solidFill>
                    </a:lnB>
                    <a:noFill/>
                  </a:tcPr>
                </a:tc>
                <a:extLst>
                  <a:ext uri="{0D108BD9-81ED-4DB2-BD59-A6C34878D82A}">
                    <a16:rowId xmlns:a16="http://schemas.microsoft.com/office/drawing/2014/main" val="10000"/>
                  </a:ext>
                </a:extLst>
              </a:tr>
              <a:tr h="365760">
                <a:tc>
                  <a:txBody>
                    <a:bodyPr/>
                    <a:lstStyle/>
                    <a:p>
                      <a:r>
                        <a:rPr sz="950" b="1" i="0">
                          <a:solidFill>
                            <a:srgbClr val="1F2933"/>
                          </a:solidFill>
                          <a:latin typeface="Calibri"/>
                        </a:rPr>
                        <a:t>Daphnet Freezing of Gait</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3 accelerometers, 10 people, 64 Hz</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Model A (freeze in 3 s); 1-D CNN; twin clinical header</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tc>
                  <a:txBody>
                    <a:bodyPr/>
                    <a:lstStyle/>
                    <a:p>
                      <a:r>
                        <a:rPr sz="950" b="0" i="0">
                          <a:solidFill>
                            <a:srgbClr val="2F6B4F"/>
                          </a:solidFill>
                          <a:latin typeface="Calibri"/>
                        </a:rPr>
                        <a:t>Trained · LOSO</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1"/>
                  </a:ext>
                </a:extLst>
              </a:tr>
              <a:tr h="365760">
                <a:tc>
                  <a:txBody>
                    <a:bodyPr/>
                    <a:lstStyle/>
                    <a:p>
                      <a:r>
                        <a:rPr sz="950" b="1" i="0">
                          <a:solidFill>
                            <a:srgbClr val="1F2933"/>
                          </a:solidFill>
                          <a:latin typeface="Calibri"/>
                        </a:rPr>
                        <a:t>Gait in Neurodegenerative Disease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Insole stride intervals, 31 people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Gait PD vs control; severity (research)</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2F6B4F"/>
                          </a:solidFill>
                          <a:latin typeface="Calibri"/>
                        </a:rPr>
                        <a:t>Trained · tiny set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2"/>
                  </a:ext>
                </a:extLst>
              </a:tr>
              <a:tr h="365760">
                <a:tc>
                  <a:txBody>
                    <a:bodyPr/>
                    <a:lstStyle/>
                    <a:p>
                      <a:r>
                        <a:rPr sz="950" b="1" i="0">
                          <a:solidFill>
                            <a:srgbClr val="1F2933"/>
                          </a:solidFill>
                          <a:latin typeface="Calibri"/>
                        </a:rPr>
                        <a:t>Spiral drawings (digitised tablet)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Pen trajectories, 40 people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Spiral model, same extractor as the game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2F6B4F"/>
                          </a:solidFill>
                          <a:latin typeface="Calibri"/>
                        </a:rPr>
                        <a:t>Trained · experimental</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3"/>
                  </a:ext>
                </a:extLst>
              </a:tr>
              <a:tr h="365760">
                <a:tc>
                  <a:txBody>
                    <a:bodyPr/>
                    <a:lstStyle/>
                    <a:p>
                      <a:r>
                        <a:rPr sz="950" b="1" i="0">
                          <a:solidFill>
                            <a:srgbClr val="1F2933"/>
                          </a:solidFill>
                          <a:latin typeface="Calibri"/>
                        </a:rPr>
                        <a:t>Parkinsons (Oxford voice)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Sustained-vowel features, 32 people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Voice research model, not applied to game audio</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2F6B4F"/>
                          </a:solidFill>
                          <a:latin typeface="Calibri"/>
                        </a:rPr>
                        <a:t>Trained · research only</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4"/>
                  </a:ext>
                </a:extLst>
              </a:tr>
              <a:tr h="365760">
                <a:tc>
                  <a:txBody>
                    <a:bodyPr/>
                    <a:lstStyle/>
                    <a:p>
                      <a:r>
                        <a:rPr sz="950" b="1" i="0">
                          <a:solidFill>
                            <a:srgbClr val="1F2933"/>
                          </a:solidFill>
                          <a:latin typeface="Calibri"/>
                        </a:rPr>
                        <a:t>Parkinson’s speech recordings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26 recordings × 40 people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Speech research model</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B7791F"/>
                          </a:solidFill>
                          <a:latin typeface="Calibri"/>
                        </a:rPr>
                        <a:t>Flagged · failed held-out test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5"/>
                  </a:ext>
                </a:extLst>
              </a:tr>
              <a:tr h="365760">
                <a:tc>
                  <a:txBody>
                    <a:bodyPr/>
                    <a:lstStyle/>
                    <a:p>
                      <a:r>
                        <a:rPr sz="950" b="1" i="0">
                          <a:solidFill>
                            <a:srgbClr val="1F2933"/>
                          </a:solidFill>
                          <a:latin typeface="Calibri"/>
                        </a:rPr>
                        <a:t>Parkinson’s Telemonitoring</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Home voice, UPDRS, 42 people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UPDRS regression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B7791F"/>
                          </a:solidFill>
                          <a:latin typeface="Calibri"/>
                        </a:rPr>
                        <a:t>Flagged · below mean baseline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6"/>
                  </a:ext>
                </a:extLst>
              </a:tr>
              <a:tr h="365760">
                <a:tc>
                  <a:txBody>
                    <a:bodyPr/>
                    <a:lstStyle/>
                    <a:p>
                      <a:r>
                        <a:rPr sz="950" b="1" i="0">
                          <a:solidFill>
                            <a:srgbClr val="1F2933"/>
                          </a:solidFill>
                          <a:latin typeface="Calibri"/>
                        </a:rPr>
                        <a:t>ET_PD_VIS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Gaze heat-map and scan-path images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Image-feature model on TMT A/B/C</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B7791F"/>
                          </a:solidFill>
                          <a:latin typeface="Calibri"/>
                        </a:rPr>
                        <a:t>Flagged · AUC 1.00, likely confound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7"/>
                  </a:ext>
                </a:extLst>
              </a:tr>
              <a:tr h="365760">
                <a:tc>
                  <a:txBody>
                    <a:bodyPr/>
                    <a:lstStyle/>
                    <a:p>
                      <a:r>
                        <a:rPr sz="950" b="1" i="0">
                          <a:solidFill>
                            <a:srgbClr val="1F2933"/>
                          </a:solidFill>
                          <a:latin typeface="Calibri"/>
                        </a:rPr>
                        <a:t>NDDCNN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Not verified by us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Not in the repository</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6B7785"/>
                          </a:solidFill>
                          <a:latin typeface="Calibri"/>
                        </a:rPr>
                        <a:t>Proposed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8"/>
                  </a:ext>
                </a:extLst>
              </a:tr>
              <a:tr h="365760">
                <a:tc>
                  <a:txBody>
                    <a:bodyPr/>
                    <a:lstStyle/>
                    <a:p>
                      <a:r>
                        <a:rPr sz="950" b="1" i="0">
                          <a:solidFill>
                            <a:srgbClr val="1F2933"/>
                          </a:solidFill>
                          <a:latin typeface="Calibri"/>
                        </a:rPr>
                        <a:t>Parkinson’s Disease Classification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Vowel /a/ ×3, 252 people, 754 features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Candidate for voice-model evaluation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6B7785"/>
                          </a:solidFill>
                          <a:latin typeface="Calibri"/>
                        </a:rPr>
                        <a:t>Proposed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9"/>
                  </a:ext>
                </a:extLst>
              </a:tr>
              <a:tr h="365760">
                <a:tc>
                  <a:txBody>
                    <a:bodyPr/>
                    <a:lstStyle/>
                    <a:p>
                      <a:r>
                        <a:rPr sz="950" b="1" i="0">
                          <a:solidFill>
                            <a:srgbClr val="1F2933"/>
                          </a:solidFill>
                          <a:latin typeface="Calibri"/>
                        </a:rPr>
                        <a:t>TMT-PD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Eye-tracker events, 28 PD + 12 controls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Candidate for gaze-task validation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6B7785"/>
                          </a:solidFill>
                          <a:latin typeface="Calibri"/>
                        </a:rPr>
                        <a:t>Proposed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10"/>
                  </a:ext>
                </a:extLst>
              </a:tr>
            </a:tbl>
          </a:graphicData>
        </a:graphic>
      </p:graphicFrame>
      <p:sp>
        <p:nvSpPr>
          <p:cNvPr id="9" name="TextBox 8"/>
          <p:cNvSpPr txBox="1"/>
          <p:nvPr/>
        </p:nvSpPr>
        <p:spPr>
          <a:xfrm>
            <a:off x="548640" y="5504688"/>
            <a:ext cx="45720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MODEL FAMILIES AND THEIR ACTUAL ROLES</a:t>
            </a:r>
          </a:p>
        </p:txBody>
      </p:sp>
      <p:sp>
        <p:nvSpPr>
          <p:cNvPr id="10" name="TextBox 9"/>
          <p:cNvSpPr txBox="1"/>
          <p:nvPr/>
        </p:nvSpPr>
        <p:spPr>
          <a:xfrm>
            <a:off x="548640" y="5733288"/>
            <a:ext cx="2697480" cy="502920"/>
          </a:xfrm>
          <a:prstGeom prst="rect">
            <a:avLst/>
          </a:prstGeom>
          <a:noFill/>
        </p:spPr>
        <p:txBody>
          <a:bodyPr wrap="square" lIns="0" tIns="0" rIns="0" bIns="0" anchor="t">
            <a:spAutoFit/>
          </a:bodyPr>
          <a:lstStyle/>
          <a:p>
            <a:pPr algn="l">
              <a:lnSpc>
                <a:spcPct val="100000"/>
              </a:lnSpc>
            </a:pPr>
            <a:r>
              <a:rPr sz="1000" b="1" i="0">
                <a:solidFill>
                  <a:srgbClr val="1F2933"/>
                </a:solidFill>
                <a:latin typeface="Calibri"/>
              </a:rPr>
              <a:t>Gradient boosting · random forest · MLP</a:t>
            </a:r>
          </a:p>
          <a:p>
            <a:pPr algn="l">
              <a:lnSpc>
                <a:spcPct val="100000"/>
              </a:lnSpc>
              <a:spcBef>
                <a:spcPts val="0"/>
              </a:spcBef>
            </a:pPr>
            <a:r>
              <a:rPr sz="900" b="0" i="0">
                <a:solidFill>
                  <a:srgbClr val="5F6B7A"/>
                </a:solidFill>
                <a:latin typeface="Calibri"/>
              </a:rPr>
              <a:t>tabular features: Models A and B, spiral, voice, gait</a:t>
            </a:r>
          </a:p>
        </p:txBody>
      </p:sp>
      <p:sp>
        <p:nvSpPr>
          <p:cNvPr id="11" name="TextBox 10"/>
          <p:cNvSpPr txBox="1"/>
          <p:nvPr/>
        </p:nvSpPr>
        <p:spPr>
          <a:xfrm>
            <a:off x="3346704" y="5733288"/>
            <a:ext cx="2697480" cy="502920"/>
          </a:xfrm>
          <a:prstGeom prst="rect">
            <a:avLst/>
          </a:prstGeom>
          <a:noFill/>
        </p:spPr>
        <p:txBody>
          <a:bodyPr wrap="square" lIns="0" tIns="0" rIns="0" bIns="0" anchor="t">
            <a:spAutoFit/>
          </a:bodyPr>
          <a:lstStyle/>
          <a:p>
            <a:pPr algn="l">
              <a:lnSpc>
                <a:spcPct val="100000"/>
              </a:lnSpc>
            </a:pPr>
            <a:r>
              <a:rPr sz="1000" b="1" i="0">
                <a:solidFill>
                  <a:srgbClr val="1F2933"/>
                </a:solidFill>
                <a:latin typeface="Calibri"/>
              </a:rPr>
              <a:t>1-D CNN (raw 3×256 windows)</a:t>
            </a:r>
          </a:p>
          <a:p>
            <a:pPr algn="l">
              <a:lnSpc>
                <a:spcPct val="100000"/>
              </a:lnSpc>
              <a:spcBef>
                <a:spcPts val="0"/>
              </a:spcBef>
            </a:pPr>
            <a:r>
              <a:rPr sz="900" b="0" i="0">
                <a:solidFill>
                  <a:srgbClr val="5F6B7A"/>
                </a:solidFill>
                <a:latin typeface="Calibri"/>
              </a:rPr>
              <a:t>Daphnet detection, AUC 0.85 vs 0.88 boosting</a:t>
            </a:r>
          </a:p>
        </p:txBody>
      </p:sp>
      <p:sp>
        <p:nvSpPr>
          <p:cNvPr id="12" name="TextBox 11"/>
          <p:cNvSpPr txBox="1"/>
          <p:nvPr/>
        </p:nvSpPr>
        <p:spPr>
          <a:xfrm>
            <a:off x="6144768" y="5733288"/>
            <a:ext cx="2697480" cy="502920"/>
          </a:xfrm>
          <a:prstGeom prst="rect">
            <a:avLst/>
          </a:prstGeom>
          <a:noFill/>
        </p:spPr>
        <p:txBody>
          <a:bodyPr wrap="square" lIns="0" tIns="0" rIns="0" bIns="0" anchor="t">
            <a:spAutoFit/>
          </a:bodyPr>
          <a:lstStyle/>
          <a:p>
            <a:pPr algn="l">
              <a:lnSpc>
                <a:spcPct val="100000"/>
              </a:lnSpc>
            </a:pPr>
            <a:r>
              <a:rPr sz="1000" b="1" i="0">
                <a:solidFill>
                  <a:srgbClr val="1F2933"/>
                </a:solidFill>
                <a:latin typeface="Calibri"/>
              </a:rPr>
              <a:t>Pretrained CNN perception</a:t>
            </a:r>
          </a:p>
          <a:p>
            <a:pPr algn="l">
              <a:lnSpc>
                <a:spcPct val="100000"/>
              </a:lnSpc>
              <a:spcBef>
                <a:spcPts val="0"/>
              </a:spcBef>
            </a:pPr>
            <a:r>
              <a:rPr sz="900" b="0" i="0">
                <a:solidFill>
                  <a:srgbClr val="5F6B7A"/>
                </a:solidFill>
                <a:latin typeface="Calibri"/>
              </a:rPr>
              <a:t>BlazeFace, Face Landmarker, BlazePose: gaze and pose, not trained by us</a:t>
            </a:r>
          </a:p>
        </p:txBody>
      </p:sp>
      <p:sp>
        <p:nvSpPr>
          <p:cNvPr id="13" name="TextBox 12"/>
          <p:cNvSpPr txBox="1"/>
          <p:nvPr/>
        </p:nvSpPr>
        <p:spPr>
          <a:xfrm>
            <a:off x="8942832" y="5733288"/>
            <a:ext cx="2697480" cy="502920"/>
          </a:xfrm>
          <a:prstGeom prst="rect">
            <a:avLst/>
          </a:prstGeom>
          <a:noFill/>
        </p:spPr>
        <p:txBody>
          <a:bodyPr wrap="square" lIns="0" tIns="0" rIns="0" bIns="0" anchor="t">
            <a:spAutoFit/>
          </a:bodyPr>
          <a:lstStyle/>
          <a:p>
            <a:pPr algn="l">
              <a:lnSpc>
                <a:spcPct val="100000"/>
              </a:lnSpc>
            </a:pPr>
            <a:r>
              <a:rPr sz="1000" b="1" i="0">
                <a:solidFill>
                  <a:srgbClr val="1F2933"/>
                </a:solidFill>
                <a:latin typeface="Calibri"/>
              </a:rPr>
              <a:t>Transformer ASR (faster-whisper, local)</a:t>
            </a:r>
          </a:p>
          <a:p>
            <a:pPr algn="l">
              <a:lnSpc>
                <a:spcPct val="100000"/>
              </a:lnSpc>
              <a:spcBef>
                <a:spcPts val="0"/>
              </a:spcBef>
            </a:pPr>
            <a:r>
              <a:rPr sz="900" b="0" i="0">
                <a:solidFill>
                  <a:srgbClr val="5F6B7A"/>
                </a:solidFill>
                <a:latin typeface="Calibri"/>
              </a:rPr>
              <a:t>follows the sentence task; not a diagnostic model</a:t>
            </a:r>
          </a:p>
        </p:txBody>
      </p:sp>
      <p:sp>
        <p:nvSpPr>
          <p:cNvPr id="14" name="Rounded Rectangle 13"/>
          <p:cNvSpPr/>
          <p:nvPr/>
        </p:nvSpPr>
        <p:spPr>
          <a:xfrm>
            <a:off x="10058400" y="1371600"/>
            <a:ext cx="1581912" cy="402336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15" name="TextBox 14"/>
          <p:cNvSpPr txBox="1"/>
          <p:nvPr/>
        </p:nvSpPr>
        <p:spPr>
          <a:xfrm>
            <a:off x="10149840" y="1463040"/>
            <a:ext cx="1417320" cy="393192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Multimodal</a:t>
            </a:r>
          </a:p>
          <a:p>
            <a:pPr algn="l">
              <a:lnSpc>
                <a:spcPct val="100000"/>
              </a:lnSpc>
              <a:spcBef>
                <a:spcPts val="700"/>
              </a:spcBef>
            </a:pPr>
            <a:r>
              <a:rPr sz="950" b="0" i="0">
                <a:solidFill>
                  <a:srgbClr val="5F6B7A"/>
                </a:solidFill>
                <a:latin typeface="Calibri"/>
              </a:rPr>
              <a:t>Per-domain outputs sit side by side with quality flags. A fused classifier is proposed once clinician-labelled sessions exist.</a:t>
            </a:r>
          </a:p>
          <a:p>
            <a:pPr algn="l">
              <a:lnSpc>
                <a:spcPct val="100000"/>
              </a:lnSpc>
              <a:spcBef>
                <a:spcPts val="700"/>
              </a:spcBef>
            </a:pPr>
            <a:r>
              <a:rPr sz="1100" b="1" i="0">
                <a:solidFill>
                  <a:srgbClr val="6B7785"/>
                </a:solidFill>
                <a:latin typeface="Calibri"/>
              </a:rPr>
              <a:t>Proposed only</a:t>
            </a:r>
          </a:p>
          <a:p>
            <a:pPr algn="l">
              <a:lnSpc>
                <a:spcPct val="100000"/>
              </a:lnSpc>
              <a:spcBef>
                <a:spcPts val="700"/>
              </a:spcBef>
            </a:pPr>
            <a:r>
              <a:rPr sz="950" b="0" i="0">
                <a:solidFill>
                  <a:srgbClr val="5F6B7A"/>
                </a:solidFill>
                <a:latin typeface="Calibri"/>
              </a:rPr>
              <a:t>Vision Transformers, LSTMs and Transformer speech encoders for diagnosis are not implemented.</a:t>
            </a:r>
          </a:p>
          <a:p>
            <a:pPr algn="l">
              <a:lnSpc>
                <a:spcPct val="100000"/>
              </a:lnSpc>
              <a:spcBef>
                <a:spcPts val="700"/>
              </a:spcBef>
            </a:pPr>
            <a:r>
              <a:rPr sz="1000" b="1" i="0">
                <a:solidFill>
                  <a:srgbClr val="B7791F"/>
                </a:solidFill>
                <a:latin typeface="Calibri"/>
              </a:rPr>
              <a:t>No diagnostic accuracy is claimed.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System architecture</a:t>
            </a:r>
          </a:p>
        </p:txBody>
      </p:sp>
      <p:sp>
        <p:nvSpPr>
          <p:cNvPr id="3" name="TextBox 2"/>
          <p:cNvSpPr txBox="1"/>
          <p:nvPr/>
        </p:nvSpPr>
        <p:spPr>
          <a:xfrm>
            <a:off x="548640" y="841248"/>
            <a:ext cx="10789920" cy="274320"/>
          </a:xfrm>
          <a:prstGeom prst="rect">
            <a:avLst/>
          </a:prstGeom>
          <a:noFill/>
        </p:spPr>
        <p:txBody>
          <a:bodyPr wrap="square" lIns="0" tIns="0" rIns="0" bIns="0" anchor="t">
            <a:spAutoFit/>
          </a:bodyPr>
          <a:lstStyle/>
          <a:p>
            <a:pPr algn="l">
              <a:lnSpc>
                <a:spcPct val="100000"/>
              </a:lnSpc>
            </a:pPr>
            <a:r>
              <a:rPr sz="1300" b="0" i="0">
                <a:solidFill>
                  <a:srgbClr val="5F6B7A"/>
                </a:solidFill>
                <a:latin typeface="Calibri"/>
              </a:rPr>
              <a:t>Capture on the device, process locally, build one patient record, review with a clinician, feed the next session.</a:t>
            </a:r>
          </a:p>
        </p:txBody>
      </p:sp>
      <p:cxnSp>
        <p:nvCxnSpPr>
          <p:cNvPr id="4" name="Connector 3"/>
          <p:cNvCxnSpPr/>
          <p:nvPr/>
        </p:nvCxnSpPr>
        <p:spPr>
          <a:xfrm>
            <a:off x="548640" y="1207008"/>
            <a:ext cx="11091672" cy="0"/>
          </a:xfrm>
          <a:prstGeom prst="line">
            <a:avLst/>
          </a:prstGeom>
          <a:ln w="9525">
            <a:solidFill>
              <a:srgbClr val="C9D0D8"/>
            </a:solidFill>
          </a:ln>
        </p:spPr>
      </p:cxnSp>
      <p:sp>
        <p:nvSpPr>
          <p:cNvPr id="6" name="TextBox 5"/>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6 / 10</a:t>
            </a:r>
          </a:p>
        </p:txBody>
      </p:sp>
      <p:sp>
        <p:nvSpPr>
          <p:cNvPr id="7" name="TextBox 6"/>
          <p:cNvSpPr txBox="1"/>
          <p:nvPr/>
        </p:nvSpPr>
        <p:spPr>
          <a:xfrm>
            <a:off x="548640" y="1371600"/>
            <a:ext cx="224028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CAPTURE</a:t>
            </a:r>
          </a:p>
        </p:txBody>
      </p:sp>
      <p:sp>
        <p:nvSpPr>
          <p:cNvPr id="8" name="TextBox 7"/>
          <p:cNvSpPr txBox="1"/>
          <p:nvPr/>
        </p:nvSpPr>
        <p:spPr>
          <a:xfrm>
            <a:off x="3154680" y="1371600"/>
            <a:ext cx="27432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UNITY 3D GAME · ON THIS COMPUTER</a:t>
            </a:r>
          </a:p>
        </p:txBody>
      </p:sp>
      <p:sp>
        <p:nvSpPr>
          <p:cNvPr id="9" name="TextBox 8"/>
          <p:cNvSpPr txBox="1"/>
          <p:nvPr/>
        </p:nvSpPr>
        <p:spPr>
          <a:xfrm>
            <a:off x="6172200" y="1371600"/>
            <a:ext cx="269748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PARKISCANML SERVICE · 127.0.0.1</a:t>
            </a:r>
          </a:p>
        </p:txBody>
      </p:sp>
      <p:sp>
        <p:nvSpPr>
          <p:cNvPr id="10" name="TextBox 9"/>
          <p:cNvSpPr txBox="1"/>
          <p:nvPr/>
        </p:nvSpPr>
        <p:spPr>
          <a:xfrm>
            <a:off x="9189720" y="1371600"/>
            <a:ext cx="2450592"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RECORD, REVIEW, ACT</a:t>
            </a:r>
          </a:p>
        </p:txBody>
      </p:sp>
      <p:sp>
        <p:nvSpPr>
          <p:cNvPr id="11" name="Rounded Rectangle 10"/>
          <p:cNvSpPr/>
          <p:nvPr/>
        </p:nvSpPr>
        <p:spPr>
          <a:xfrm>
            <a:off x="548640" y="1691640"/>
            <a:ext cx="2240280" cy="96012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12" name="Oval 11"/>
          <p:cNvSpPr/>
          <p:nvPr/>
        </p:nvSpPr>
        <p:spPr>
          <a:xfrm>
            <a:off x="621792" y="1764792"/>
            <a:ext cx="237744" cy="237744"/>
          </a:xfrm>
          <a:prstGeom prst="ellipse">
            <a:avLst/>
          </a:prstGeom>
          <a:solidFill>
            <a:srgbClr val="2F6B4F"/>
          </a:solidFill>
          <a:ln>
            <a:noFill/>
          </a:ln>
        </p:spPr>
        <p:txBody>
          <a:bodyPr rtlCol="0" anchor="ctr"/>
          <a:lstStyle/>
          <a:p>
            <a:pPr algn="ctr"/>
            <a:endParaRPr/>
          </a:p>
        </p:txBody>
      </p:sp>
      <p:sp>
        <p:nvSpPr>
          <p:cNvPr id="13" name="TextBox 12"/>
          <p:cNvSpPr txBox="1"/>
          <p:nvPr/>
        </p:nvSpPr>
        <p:spPr>
          <a:xfrm>
            <a:off x="621792" y="176479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1</a:t>
            </a:r>
          </a:p>
        </p:txBody>
      </p:sp>
      <p:sp>
        <p:nvSpPr>
          <p:cNvPr id="14" name="TextBox 13"/>
          <p:cNvSpPr txBox="1"/>
          <p:nvPr/>
        </p:nvSpPr>
        <p:spPr>
          <a:xfrm>
            <a:off x="932688" y="1755648"/>
            <a:ext cx="17830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Patient + avatar</a:t>
            </a:r>
          </a:p>
        </p:txBody>
      </p:sp>
      <p:sp>
        <p:nvSpPr>
          <p:cNvPr id="15" name="TextBox 14"/>
          <p:cNvSpPr txBox="1"/>
          <p:nvPr/>
        </p:nvSpPr>
        <p:spPr>
          <a:xfrm>
            <a:off x="658368" y="2075688"/>
            <a:ext cx="2039112" cy="54864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avatar and language chosen once; persistent participant ID</a:t>
            </a:r>
          </a:p>
        </p:txBody>
      </p:sp>
      <p:sp>
        <p:nvSpPr>
          <p:cNvPr id="16" name="Rounded Rectangle 15"/>
          <p:cNvSpPr/>
          <p:nvPr/>
        </p:nvSpPr>
        <p:spPr>
          <a:xfrm>
            <a:off x="548640" y="2834640"/>
            <a:ext cx="2240280" cy="109728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17" name="Oval 16"/>
          <p:cNvSpPr/>
          <p:nvPr/>
        </p:nvSpPr>
        <p:spPr>
          <a:xfrm>
            <a:off x="621792" y="2907792"/>
            <a:ext cx="237744" cy="237744"/>
          </a:xfrm>
          <a:prstGeom prst="ellipse">
            <a:avLst/>
          </a:prstGeom>
          <a:solidFill>
            <a:srgbClr val="2F6B4F"/>
          </a:solidFill>
          <a:ln>
            <a:noFill/>
          </a:ln>
        </p:spPr>
        <p:txBody>
          <a:bodyPr rtlCol="0" anchor="ctr"/>
          <a:lstStyle/>
          <a:p>
            <a:pPr algn="ctr"/>
            <a:endParaRPr/>
          </a:p>
        </p:txBody>
      </p:sp>
      <p:sp>
        <p:nvSpPr>
          <p:cNvPr id="18" name="TextBox 17"/>
          <p:cNvSpPr txBox="1"/>
          <p:nvPr/>
        </p:nvSpPr>
        <p:spPr>
          <a:xfrm>
            <a:off x="621792" y="290779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3</a:t>
            </a:r>
          </a:p>
        </p:txBody>
      </p:sp>
      <p:sp>
        <p:nvSpPr>
          <p:cNvPr id="19" name="TextBox 18"/>
          <p:cNvSpPr txBox="1"/>
          <p:nvPr/>
        </p:nvSpPr>
        <p:spPr>
          <a:xfrm>
            <a:off x="932688" y="2898648"/>
            <a:ext cx="17830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Webcam + microphone</a:t>
            </a:r>
          </a:p>
        </p:txBody>
      </p:sp>
      <p:sp>
        <p:nvSpPr>
          <p:cNvPr id="20" name="TextBox 19"/>
          <p:cNvSpPr txBox="1"/>
          <p:nvPr/>
        </p:nvSpPr>
        <p:spPr>
          <a:xfrm>
            <a:off x="658368" y="3218688"/>
            <a:ext cx="2039112" cy="68580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iris gaze, body pose, voice, claps; processed on device</a:t>
            </a:r>
          </a:p>
        </p:txBody>
      </p:sp>
      <p:sp>
        <p:nvSpPr>
          <p:cNvPr id="21" name="Rounded Rectangle 20"/>
          <p:cNvSpPr/>
          <p:nvPr/>
        </p:nvSpPr>
        <p:spPr>
          <a:xfrm>
            <a:off x="548640" y="4114800"/>
            <a:ext cx="2240280" cy="1234440"/>
          </a:xfrm>
          <a:prstGeom prst="roundRect">
            <a:avLst>
              <a:gd name="adj" fmla="val 2000"/>
            </a:avLst>
          </a:prstGeom>
          <a:solidFill>
            <a:srgbClr val="FFFFFF"/>
          </a:solidFill>
          <a:ln w="17780">
            <a:solidFill>
              <a:srgbClr val="B7791F"/>
            </a:solidFill>
          </a:ln>
        </p:spPr>
        <p:txBody>
          <a:bodyPr rtlCol="0" anchor="ctr"/>
          <a:lstStyle/>
          <a:p>
            <a:pPr algn="ctr"/>
            <a:endParaRPr/>
          </a:p>
        </p:txBody>
      </p:sp>
      <p:sp>
        <p:nvSpPr>
          <p:cNvPr id="22" name="Oval 21"/>
          <p:cNvSpPr/>
          <p:nvPr/>
        </p:nvSpPr>
        <p:spPr>
          <a:xfrm>
            <a:off x="621792" y="4187952"/>
            <a:ext cx="237744" cy="237744"/>
          </a:xfrm>
          <a:prstGeom prst="ellipse">
            <a:avLst/>
          </a:prstGeom>
          <a:solidFill>
            <a:srgbClr val="B7791F"/>
          </a:solidFill>
          <a:ln>
            <a:noFill/>
          </a:ln>
        </p:spPr>
        <p:txBody>
          <a:bodyPr rtlCol="0" anchor="ctr"/>
          <a:lstStyle/>
          <a:p>
            <a:pPr algn="ctr"/>
            <a:endParaRPr/>
          </a:p>
        </p:txBody>
      </p:sp>
      <p:sp>
        <p:nvSpPr>
          <p:cNvPr id="23" name="TextBox 22"/>
          <p:cNvSpPr txBox="1"/>
          <p:nvPr/>
        </p:nvSpPr>
        <p:spPr>
          <a:xfrm>
            <a:off x="621792" y="418795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4</a:t>
            </a:r>
          </a:p>
        </p:txBody>
      </p:sp>
      <p:sp>
        <p:nvSpPr>
          <p:cNvPr id="24" name="TextBox 23"/>
          <p:cNvSpPr txBox="1"/>
          <p:nvPr/>
        </p:nvSpPr>
        <p:spPr>
          <a:xfrm>
            <a:off x="932688" y="4178808"/>
            <a:ext cx="17830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Wrist + ankle IMU</a:t>
            </a:r>
          </a:p>
        </p:txBody>
      </p:sp>
      <p:sp>
        <p:nvSpPr>
          <p:cNvPr id="25" name="TextBox 24"/>
          <p:cNvSpPr txBox="1"/>
          <p:nvPr/>
        </p:nvSpPr>
        <p:spPr>
          <a:xfrm>
            <a:off x="658368" y="4498848"/>
            <a:ext cx="2039112" cy="82296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ESP32 + MPU-6050, 100 Hz, via local receiver and UDP</a:t>
            </a:r>
          </a:p>
        </p:txBody>
      </p:sp>
      <p:sp>
        <p:nvSpPr>
          <p:cNvPr id="26" name="Rounded Rectangle 25"/>
          <p:cNvSpPr/>
          <p:nvPr/>
        </p:nvSpPr>
        <p:spPr>
          <a:xfrm>
            <a:off x="3154680" y="1691640"/>
            <a:ext cx="2743200" cy="3657600"/>
          </a:xfrm>
          <a:prstGeom prst="roundRect">
            <a:avLst>
              <a:gd name="adj" fmla="val 2000"/>
            </a:avLst>
          </a:prstGeom>
          <a:solidFill>
            <a:srgbClr val="FAFBFC"/>
          </a:solidFill>
          <a:ln w="15875">
            <a:solidFill>
              <a:srgbClr val="1F3A5F"/>
            </a:solidFill>
          </a:ln>
        </p:spPr>
        <p:txBody>
          <a:bodyPr rtlCol="0" anchor="ctr"/>
          <a:lstStyle/>
          <a:p>
            <a:pPr algn="ctr"/>
            <a:endParaRPr/>
          </a:p>
        </p:txBody>
      </p:sp>
      <p:sp>
        <p:nvSpPr>
          <p:cNvPr id="27" name="Oval 26"/>
          <p:cNvSpPr/>
          <p:nvPr/>
        </p:nvSpPr>
        <p:spPr>
          <a:xfrm>
            <a:off x="5550408" y="1737360"/>
            <a:ext cx="237744" cy="237744"/>
          </a:xfrm>
          <a:prstGeom prst="ellipse">
            <a:avLst/>
          </a:prstGeom>
          <a:solidFill>
            <a:srgbClr val="1F3A5F"/>
          </a:solidFill>
          <a:ln>
            <a:noFill/>
          </a:ln>
        </p:spPr>
        <p:txBody>
          <a:bodyPr rtlCol="0" anchor="ctr"/>
          <a:lstStyle/>
          <a:p>
            <a:pPr algn="ctr"/>
            <a:endParaRPr/>
          </a:p>
        </p:txBody>
      </p:sp>
      <p:sp>
        <p:nvSpPr>
          <p:cNvPr id="28" name="TextBox 27"/>
          <p:cNvSpPr txBox="1"/>
          <p:nvPr/>
        </p:nvSpPr>
        <p:spPr>
          <a:xfrm>
            <a:off x="5550408" y="1737360"/>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2</a:t>
            </a:r>
          </a:p>
        </p:txBody>
      </p:sp>
      <p:sp>
        <p:nvSpPr>
          <p:cNvPr id="29" name="Rounded Rectangle 28"/>
          <p:cNvSpPr/>
          <p:nvPr/>
        </p:nvSpPr>
        <p:spPr>
          <a:xfrm>
            <a:off x="3291840" y="2057400"/>
            <a:ext cx="2468880" cy="96012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30" name="TextBox 29"/>
          <p:cNvSpPr txBox="1"/>
          <p:nvPr/>
        </p:nvSpPr>
        <p:spPr>
          <a:xfrm>
            <a:off x="3419856" y="2121408"/>
            <a:ext cx="20116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Levels 1–3 + finale</a:t>
            </a:r>
          </a:p>
        </p:txBody>
      </p:sp>
      <p:sp>
        <p:nvSpPr>
          <p:cNvPr id="31" name="TextBox 30"/>
          <p:cNvSpPr txBox="1"/>
          <p:nvPr/>
        </p:nvSpPr>
        <p:spPr>
          <a:xfrm>
            <a:off x="3401568" y="2441448"/>
            <a:ext cx="2267712" cy="54864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lantern, Memory Core, spiral, nodes, mirror avatar, walking, drive</a:t>
            </a:r>
          </a:p>
        </p:txBody>
      </p:sp>
      <p:sp>
        <p:nvSpPr>
          <p:cNvPr id="32" name="Rounded Rectangle 31"/>
          <p:cNvSpPr/>
          <p:nvPr/>
        </p:nvSpPr>
        <p:spPr>
          <a:xfrm>
            <a:off x="3291840" y="3154680"/>
            <a:ext cx="2468880" cy="86868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33" name="TextBox 32"/>
          <p:cNvSpPr txBox="1"/>
          <p:nvPr/>
        </p:nvSpPr>
        <p:spPr>
          <a:xfrm>
            <a:off x="3419856" y="3218688"/>
            <a:ext cx="20116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On-device perception</a:t>
            </a:r>
          </a:p>
        </p:txBody>
      </p:sp>
      <p:sp>
        <p:nvSpPr>
          <p:cNvPr id="34" name="TextBox 33"/>
          <p:cNvSpPr txBox="1"/>
          <p:nvPr/>
        </p:nvSpPr>
        <p:spPr>
          <a:xfrm>
            <a:off x="3401568" y="3538728"/>
            <a:ext cx="2267712" cy="457199"/>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Face Landmarker, BlazePose (ONNX, GPU)</a:t>
            </a:r>
          </a:p>
        </p:txBody>
      </p:sp>
      <p:sp>
        <p:nvSpPr>
          <p:cNvPr id="35" name="Rounded Rectangle 34"/>
          <p:cNvSpPr/>
          <p:nvPr/>
        </p:nvSpPr>
        <p:spPr>
          <a:xfrm>
            <a:off x="3291840" y="4160520"/>
            <a:ext cx="2468880" cy="105156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36" name="Oval 35"/>
          <p:cNvSpPr/>
          <p:nvPr/>
        </p:nvSpPr>
        <p:spPr>
          <a:xfrm>
            <a:off x="3364992" y="4233672"/>
            <a:ext cx="237744" cy="237744"/>
          </a:xfrm>
          <a:prstGeom prst="ellipse">
            <a:avLst/>
          </a:prstGeom>
          <a:solidFill>
            <a:srgbClr val="2F6B4F"/>
          </a:solidFill>
          <a:ln>
            <a:noFill/>
          </a:ln>
        </p:spPr>
        <p:txBody>
          <a:bodyPr rtlCol="0" anchor="ctr"/>
          <a:lstStyle/>
          <a:p>
            <a:pPr algn="ctr"/>
            <a:endParaRPr/>
          </a:p>
        </p:txBody>
      </p:sp>
      <p:sp>
        <p:nvSpPr>
          <p:cNvPr id="37" name="TextBox 36"/>
          <p:cNvSpPr txBox="1"/>
          <p:nvPr/>
        </p:nvSpPr>
        <p:spPr>
          <a:xfrm>
            <a:off x="3364992" y="423367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5</a:t>
            </a:r>
          </a:p>
        </p:txBody>
      </p:sp>
      <p:sp>
        <p:nvSpPr>
          <p:cNvPr id="38" name="TextBox 37"/>
          <p:cNvSpPr txBox="1"/>
          <p:nvPr/>
        </p:nvSpPr>
        <p:spPr>
          <a:xfrm>
            <a:off x="3675888" y="4224528"/>
            <a:ext cx="20116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Questionnaire + telemetry</a:t>
            </a:r>
          </a:p>
        </p:txBody>
      </p:sp>
      <p:sp>
        <p:nvSpPr>
          <p:cNvPr id="39" name="TextBox 38"/>
          <p:cNvSpPr txBox="1"/>
          <p:nvPr/>
        </p:nvSpPr>
        <p:spPr>
          <a:xfrm>
            <a:off x="3401568" y="4544568"/>
            <a:ext cx="2267712" cy="64008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six check-ins; per-task metrics, quality flags, session ID</a:t>
            </a:r>
          </a:p>
        </p:txBody>
      </p:sp>
      <p:sp>
        <p:nvSpPr>
          <p:cNvPr id="40" name="Rounded Rectangle 39"/>
          <p:cNvSpPr/>
          <p:nvPr/>
        </p:nvSpPr>
        <p:spPr>
          <a:xfrm>
            <a:off x="6172200" y="1691640"/>
            <a:ext cx="2697480" cy="109728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41" name="Oval 40"/>
          <p:cNvSpPr/>
          <p:nvPr/>
        </p:nvSpPr>
        <p:spPr>
          <a:xfrm>
            <a:off x="6245352" y="1764792"/>
            <a:ext cx="237744" cy="237744"/>
          </a:xfrm>
          <a:prstGeom prst="ellipse">
            <a:avLst/>
          </a:prstGeom>
          <a:solidFill>
            <a:srgbClr val="2F6B4F"/>
          </a:solidFill>
          <a:ln>
            <a:noFill/>
          </a:ln>
        </p:spPr>
        <p:txBody>
          <a:bodyPr rtlCol="0" anchor="ctr"/>
          <a:lstStyle/>
          <a:p>
            <a:pPr algn="ctr"/>
            <a:endParaRPr/>
          </a:p>
        </p:txBody>
      </p:sp>
      <p:sp>
        <p:nvSpPr>
          <p:cNvPr id="42" name="TextBox 41"/>
          <p:cNvSpPr txBox="1"/>
          <p:nvPr/>
        </p:nvSpPr>
        <p:spPr>
          <a:xfrm>
            <a:off x="6245352" y="176479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6</a:t>
            </a:r>
          </a:p>
        </p:txBody>
      </p:sp>
      <p:sp>
        <p:nvSpPr>
          <p:cNvPr id="43" name="TextBox 42"/>
          <p:cNvSpPr txBox="1"/>
          <p:nvPr/>
        </p:nvSpPr>
        <p:spPr>
          <a:xfrm>
            <a:off x="6556248" y="1755648"/>
            <a:ext cx="22402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Sync · preprocessing · features</a:t>
            </a:r>
          </a:p>
        </p:txBody>
      </p:sp>
      <p:sp>
        <p:nvSpPr>
          <p:cNvPr id="44" name="TextBox 43"/>
          <p:cNvSpPr txBox="1"/>
          <p:nvPr/>
        </p:nvSpPr>
        <p:spPr>
          <a:xfrm>
            <a:off x="6281928" y="2075688"/>
            <a:ext cx="2496312" cy="68580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session JSON/CSV, IMU alignment, voice, spiral, gait and gaze features</a:t>
            </a:r>
          </a:p>
        </p:txBody>
      </p:sp>
      <p:sp>
        <p:nvSpPr>
          <p:cNvPr id="45" name="Rounded Rectangle 44"/>
          <p:cNvSpPr/>
          <p:nvPr/>
        </p:nvSpPr>
        <p:spPr>
          <a:xfrm>
            <a:off x="6172200" y="2971800"/>
            <a:ext cx="2697480" cy="1188720"/>
          </a:xfrm>
          <a:prstGeom prst="roundRect">
            <a:avLst>
              <a:gd name="adj" fmla="val 2000"/>
            </a:avLst>
          </a:prstGeom>
          <a:solidFill>
            <a:srgbClr val="FFFFFF"/>
          </a:solidFill>
          <a:ln w="17780">
            <a:solidFill>
              <a:srgbClr val="B7791F"/>
            </a:solidFill>
          </a:ln>
        </p:spPr>
        <p:txBody>
          <a:bodyPr rtlCol="0" anchor="ctr"/>
          <a:lstStyle/>
          <a:p>
            <a:pPr algn="ctr"/>
            <a:endParaRPr/>
          </a:p>
        </p:txBody>
      </p:sp>
      <p:sp>
        <p:nvSpPr>
          <p:cNvPr id="46" name="Oval 45"/>
          <p:cNvSpPr/>
          <p:nvPr/>
        </p:nvSpPr>
        <p:spPr>
          <a:xfrm>
            <a:off x="6245352" y="3044952"/>
            <a:ext cx="237744" cy="237744"/>
          </a:xfrm>
          <a:prstGeom prst="ellipse">
            <a:avLst/>
          </a:prstGeom>
          <a:solidFill>
            <a:srgbClr val="B7791F"/>
          </a:solidFill>
          <a:ln>
            <a:noFill/>
          </a:ln>
        </p:spPr>
        <p:txBody>
          <a:bodyPr rtlCol="0" anchor="ctr"/>
          <a:lstStyle/>
          <a:p>
            <a:pPr algn="ctr"/>
            <a:endParaRPr/>
          </a:p>
        </p:txBody>
      </p:sp>
      <p:sp>
        <p:nvSpPr>
          <p:cNvPr id="47" name="TextBox 46"/>
          <p:cNvSpPr txBox="1"/>
          <p:nvPr/>
        </p:nvSpPr>
        <p:spPr>
          <a:xfrm>
            <a:off x="6245352" y="304495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7</a:t>
            </a:r>
          </a:p>
        </p:txBody>
      </p:sp>
      <p:sp>
        <p:nvSpPr>
          <p:cNvPr id="48" name="TextBox 47"/>
          <p:cNvSpPr txBox="1"/>
          <p:nvPr/>
        </p:nvSpPr>
        <p:spPr>
          <a:xfrm>
            <a:off x="6556248" y="3035808"/>
            <a:ext cx="22402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Modality models</a:t>
            </a:r>
          </a:p>
        </p:txBody>
      </p:sp>
      <p:sp>
        <p:nvSpPr>
          <p:cNvPr id="49" name="TextBox 48"/>
          <p:cNvSpPr txBox="1"/>
          <p:nvPr/>
        </p:nvSpPr>
        <p:spPr>
          <a:xfrm>
            <a:off x="6281928" y="3355848"/>
            <a:ext cx="2496312" cy="77724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Daphnet freeze model, spiral (experimental); others research-only, never applied to game data</a:t>
            </a:r>
          </a:p>
        </p:txBody>
      </p:sp>
      <p:sp>
        <p:nvSpPr>
          <p:cNvPr id="50" name="Rounded Rectangle 49"/>
          <p:cNvSpPr/>
          <p:nvPr/>
        </p:nvSpPr>
        <p:spPr>
          <a:xfrm>
            <a:off x="6172200" y="4343400"/>
            <a:ext cx="2697480" cy="1005840"/>
          </a:xfrm>
          <a:prstGeom prst="roundRect">
            <a:avLst>
              <a:gd name="adj" fmla="val 2000"/>
            </a:avLst>
          </a:prstGeom>
          <a:solidFill>
            <a:srgbClr val="FFFFFF"/>
          </a:solidFill>
          <a:ln w="17780">
            <a:solidFill>
              <a:srgbClr val="B7791F"/>
            </a:solidFill>
          </a:ln>
        </p:spPr>
        <p:txBody>
          <a:bodyPr rtlCol="0" anchor="ctr"/>
          <a:lstStyle/>
          <a:p>
            <a:pPr algn="ctr"/>
            <a:endParaRPr/>
          </a:p>
        </p:txBody>
      </p:sp>
      <p:sp>
        <p:nvSpPr>
          <p:cNvPr id="51" name="Oval 50"/>
          <p:cNvSpPr/>
          <p:nvPr/>
        </p:nvSpPr>
        <p:spPr>
          <a:xfrm>
            <a:off x="6245352" y="4416552"/>
            <a:ext cx="237744" cy="237744"/>
          </a:xfrm>
          <a:prstGeom prst="ellipse">
            <a:avLst/>
          </a:prstGeom>
          <a:solidFill>
            <a:srgbClr val="B7791F"/>
          </a:solidFill>
          <a:ln>
            <a:noFill/>
          </a:ln>
        </p:spPr>
        <p:txBody>
          <a:bodyPr rtlCol="0" anchor="ctr"/>
          <a:lstStyle/>
          <a:p>
            <a:pPr algn="ctr"/>
            <a:endParaRPr/>
          </a:p>
        </p:txBody>
      </p:sp>
      <p:sp>
        <p:nvSpPr>
          <p:cNvPr id="52" name="TextBox 51"/>
          <p:cNvSpPr txBox="1"/>
          <p:nvPr/>
        </p:nvSpPr>
        <p:spPr>
          <a:xfrm>
            <a:off x="6245352" y="441655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8</a:t>
            </a:r>
          </a:p>
        </p:txBody>
      </p:sp>
      <p:sp>
        <p:nvSpPr>
          <p:cNvPr id="53" name="TextBox 52"/>
          <p:cNvSpPr txBox="1"/>
          <p:nvPr/>
        </p:nvSpPr>
        <p:spPr>
          <a:xfrm>
            <a:off x="6556248" y="4407408"/>
            <a:ext cx="2240280"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Multimodal assessment</a:t>
            </a:r>
          </a:p>
        </p:txBody>
      </p:sp>
      <p:sp>
        <p:nvSpPr>
          <p:cNvPr id="54" name="TextBox 53"/>
          <p:cNvSpPr txBox="1"/>
          <p:nvPr/>
        </p:nvSpPr>
        <p:spPr>
          <a:xfrm>
            <a:off x="6281928" y="4727448"/>
            <a:ext cx="2496312" cy="59436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per-domain metrics + data-quality state; overall class withheld</a:t>
            </a:r>
          </a:p>
        </p:txBody>
      </p:sp>
      <p:sp>
        <p:nvSpPr>
          <p:cNvPr id="55" name="Rounded Rectangle 54"/>
          <p:cNvSpPr/>
          <p:nvPr/>
        </p:nvSpPr>
        <p:spPr>
          <a:xfrm>
            <a:off x="9189720" y="1691640"/>
            <a:ext cx="2450592" cy="123444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56" name="Oval 55"/>
          <p:cNvSpPr/>
          <p:nvPr/>
        </p:nvSpPr>
        <p:spPr>
          <a:xfrm>
            <a:off x="9262872" y="1764792"/>
            <a:ext cx="237744" cy="237744"/>
          </a:xfrm>
          <a:prstGeom prst="ellipse">
            <a:avLst/>
          </a:prstGeom>
          <a:solidFill>
            <a:srgbClr val="2F6B4F"/>
          </a:solidFill>
          <a:ln>
            <a:noFill/>
          </a:ln>
        </p:spPr>
        <p:txBody>
          <a:bodyPr rtlCol="0" anchor="ctr"/>
          <a:lstStyle/>
          <a:p>
            <a:pPr algn="ctr"/>
            <a:endParaRPr/>
          </a:p>
        </p:txBody>
      </p:sp>
      <p:sp>
        <p:nvSpPr>
          <p:cNvPr id="57" name="TextBox 56"/>
          <p:cNvSpPr txBox="1"/>
          <p:nvPr/>
        </p:nvSpPr>
        <p:spPr>
          <a:xfrm>
            <a:off x="9262872" y="176479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9</a:t>
            </a:r>
          </a:p>
        </p:txBody>
      </p:sp>
      <p:sp>
        <p:nvSpPr>
          <p:cNvPr id="58" name="TextBox 57"/>
          <p:cNvSpPr txBox="1"/>
          <p:nvPr/>
        </p:nvSpPr>
        <p:spPr>
          <a:xfrm>
            <a:off x="9573768" y="1755648"/>
            <a:ext cx="1993392"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Record + digital twin</a:t>
            </a:r>
          </a:p>
        </p:txBody>
      </p:sp>
      <p:sp>
        <p:nvSpPr>
          <p:cNvPr id="59" name="TextBox 58"/>
          <p:cNvSpPr txBox="1"/>
          <p:nvPr/>
        </p:nvSpPr>
        <p:spPr>
          <a:xfrm>
            <a:off x="9299448" y="2075688"/>
            <a:ext cx="2249424" cy="82296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FHIR-style record, levodopa PK/PD, risk models A and B, what-if</a:t>
            </a:r>
          </a:p>
        </p:txBody>
      </p:sp>
      <p:sp>
        <p:nvSpPr>
          <p:cNvPr id="60" name="Rounded Rectangle 59"/>
          <p:cNvSpPr/>
          <p:nvPr/>
        </p:nvSpPr>
        <p:spPr>
          <a:xfrm>
            <a:off x="9189720" y="3108960"/>
            <a:ext cx="2450592" cy="1051560"/>
          </a:xfrm>
          <a:prstGeom prst="roundRect">
            <a:avLst>
              <a:gd name="adj" fmla="val 2000"/>
            </a:avLst>
          </a:prstGeom>
          <a:solidFill>
            <a:srgbClr val="FFFFFF"/>
          </a:solidFill>
          <a:ln w="17780">
            <a:solidFill>
              <a:srgbClr val="2F6B4F"/>
            </a:solidFill>
          </a:ln>
        </p:spPr>
        <p:txBody>
          <a:bodyPr rtlCol="0" anchor="ctr"/>
          <a:lstStyle/>
          <a:p>
            <a:pPr algn="ctr"/>
            <a:endParaRPr/>
          </a:p>
        </p:txBody>
      </p:sp>
      <p:sp>
        <p:nvSpPr>
          <p:cNvPr id="61" name="Oval 60"/>
          <p:cNvSpPr/>
          <p:nvPr/>
        </p:nvSpPr>
        <p:spPr>
          <a:xfrm>
            <a:off x="9262872" y="3182112"/>
            <a:ext cx="237744" cy="237744"/>
          </a:xfrm>
          <a:prstGeom prst="ellipse">
            <a:avLst/>
          </a:prstGeom>
          <a:solidFill>
            <a:srgbClr val="2F6B4F"/>
          </a:solidFill>
          <a:ln>
            <a:noFill/>
          </a:ln>
        </p:spPr>
        <p:txBody>
          <a:bodyPr rtlCol="0" anchor="ctr"/>
          <a:lstStyle/>
          <a:p>
            <a:pPr algn="ctr"/>
            <a:endParaRPr/>
          </a:p>
        </p:txBody>
      </p:sp>
      <p:sp>
        <p:nvSpPr>
          <p:cNvPr id="62" name="TextBox 61"/>
          <p:cNvSpPr txBox="1"/>
          <p:nvPr/>
        </p:nvSpPr>
        <p:spPr>
          <a:xfrm>
            <a:off x="9262872" y="318211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10</a:t>
            </a:r>
          </a:p>
        </p:txBody>
      </p:sp>
      <p:sp>
        <p:nvSpPr>
          <p:cNvPr id="63" name="TextBox 62"/>
          <p:cNvSpPr txBox="1"/>
          <p:nvPr/>
        </p:nvSpPr>
        <p:spPr>
          <a:xfrm>
            <a:off x="9573768" y="3172968"/>
            <a:ext cx="1993392"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Clinician dashboard</a:t>
            </a:r>
          </a:p>
        </p:txBody>
      </p:sp>
      <p:sp>
        <p:nvSpPr>
          <p:cNvPr id="64" name="TextBox 63"/>
          <p:cNvSpPr txBox="1"/>
          <p:nvPr/>
        </p:nvSpPr>
        <p:spPr>
          <a:xfrm>
            <a:off x="9299448" y="3493008"/>
            <a:ext cx="2249424" cy="64008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in the game (F2, post-game button) and in a browser</a:t>
            </a:r>
          </a:p>
        </p:txBody>
      </p:sp>
      <p:sp>
        <p:nvSpPr>
          <p:cNvPr id="65" name="Rounded Rectangle 64"/>
          <p:cNvSpPr/>
          <p:nvPr/>
        </p:nvSpPr>
        <p:spPr>
          <a:xfrm>
            <a:off x="9189720" y="4343400"/>
            <a:ext cx="2450592" cy="1005840"/>
          </a:xfrm>
          <a:prstGeom prst="roundRect">
            <a:avLst>
              <a:gd name="adj" fmla="val 2000"/>
            </a:avLst>
          </a:prstGeom>
          <a:solidFill>
            <a:srgbClr val="FFFFFF"/>
          </a:solidFill>
          <a:ln w="17780">
            <a:solidFill>
              <a:srgbClr val="6B7785"/>
            </a:solidFill>
            <a:prstDash val="dash"/>
          </a:ln>
        </p:spPr>
        <p:txBody>
          <a:bodyPr rtlCol="0" anchor="ctr"/>
          <a:lstStyle/>
          <a:p>
            <a:pPr algn="ctr"/>
            <a:endParaRPr/>
          </a:p>
        </p:txBody>
      </p:sp>
      <p:sp>
        <p:nvSpPr>
          <p:cNvPr id="66" name="Oval 65"/>
          <p:cNvSpPr/>
          <p:nvPr/>
        </p:nvSpPr>
        <p:spPr>
          <a:xfrm>
            <a:off x="9262872" y="4416552"/>
            <a:ext cx="237744" cy="237744"/>
          </a:xfrm>
          <a:prstGeom prst="ellipse">
            <a:avLst/>
          </a:prstGeom>
          <a:solidFill>
            <a:srgbClr val="6B7785"/>
          </a:solidFill>
          <a:ln>
            <a:noFill/>
          </a:ln>
        </p:spPr>
        <p:txBody>
          <a:bodyPr rtlCol="0" anchor="ctr"/>
          <a:lstStyle/>
          <a:p>
            <a:pPr algn="ctr"/>
            <a:endParaRPr/>
          </a:p>
        </p:txBody>
      </p:sp>
      <p:sp>
        <p:nvSpPr>
          <p:cNvPr id="67" name="TextBox 66"/>
          <p:cNvSpPr txBox="1"/>
          <p:nvPr/>
        </p:nvSpPr>
        <p:spPr>
          <a:xfrm>
            <a:off x="9262872" y="4416552"/>
            <a:ext cx="237744" cy="237744"/>
          </a:xfrm>
          <a:prstGeom prst="rect">
            <a:avLst/>
          </a:prstGeom>
          <a:noFill/>
        </p:spPr>
        <p:txBody>
          <a:bodyPr wrap="square" lIns="0" tIns="0" rIns="0" bIns="0" anchor="ctr">
            <a:spAutoFit/>
          </a:bodyPr>
          <a:lstStyle/>
          <a:p>
            <a:pPr algn="ctr">
              <a:lnSpc>
                <a:spcPct val="100000"/>
              </a:lnSpc>
            </a:pPr>
            <a:r>
              <a:rPr sz="950" b="1" i="0">
                <a:solidFill>
                  <a:srgbClr val="FFFFFF"/>
                </a:solidFill>
                <a:latin typeface="Calibri"/>
              </a:rPr>
              <a:t>11</a:t>
            </a:r>
          </a:p>
        </p:txBody>
      </p:sp>
      <p:sp>
        <p:nvSpPr>
          <p:cNvPr id="68" name="TextBox 67"/>
          <p:cNvSpPr txBox="1"/>
          <p:nvPr/>
        </p:nvSpPr>
        <p:spPr>
          <a:xfrm>
            <a:off x="9573768" y="4407408"/>
            <a:ext cx="1993392" cy="274320"/>
          </a:xfrm>
          <a:prstGeom prst="rect">
            <a:avLst/>
          </a:prstGeom>
          <a:noFill/>
        </p:spPr>
        <p:txBody>
          <a:bodyPr wrap="square" lIns="0" tIns="0" rIns="0" bIns="0" anchor="t">
            <a:spAutoFit/>
          </a:bodyPr>
          <a:lstStyle/>
          <a:p>
            <a:pPr algn="l">
              <a:lnSpc>
                <a:spcPct val="100000"/>
              </a:lnSpc>
            </a:pPr>
            <a:r>
              <a:rPr sz="1150" b="1" i="0">
                <a:solidFill>
                  <a:srgbClr val="1F2933"/>
                </a:solidFill>
                <a:latin typeface="Calibri"/>
              </a:rPr>
              <a:t>Rehabilitation + next session</a:t>
            </a:r>
          </a:p>
        </p:txBody>
      </p:sp>
      <p:sp>
        <p:nvSpPr>
          <p:cNvPr id="69" name="TextBox 68"/>
          <p:cNvSpPr txBox="1"/>
          <p:nvPr/>
        </p:nvSpPr>
        <p:spPr>
          <a:xfrm>
            <a:off x="9299448" y="4727448"/>
            <a:ext cx="2249424" cy="59436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clinician-set home activities, re-assessed</a:t>
            </a:r>
          </a:p>
        </p:txBody>
      </p:sp>
      <p:cxnSp>
        <p:nvCxnSpPr>
          <p:cNvPr id="70" name="Connector 69"/>
          <p:cNvCxnSpPr/>
          <p:nvPr/>
        </p:nvCxnSpPr>
        <p:spPr>
          <a:xfrm>
            <a:off x="2788920" y="2194560"/>
            <a:ext cx="365760" cy="0"/>
          </a:xfrm>
          <a:prstGeom prst="line">
            <a:avLst/>
          </a:prstGeom>
          <a:ln w="19050">
            <a:solidFill>
              <a:srgbClr val="1F3A5F"/>
            </a:solidFill>
            <a:tailEnd type="triangle" w="med" len="med"/>
          </a:ln>
        </p:spPr>
      </p:cxnSp>
      <p:cxnSp>
        <p:nvCxnSpPr>
          <p:cNvPr id="71" name="Connector 70"/>
          <p:cNvCxnSpPr/>
          <p:nvPr/>
        </p:nvCxnSpPr>
        <p:spPr>
          <a:xfrm>
            <a:off x="2788920" y="3383280"/>
            <a:ext cx="365760" cy="0"/>
          </a:xfrm>
          <a:prstGeom prst="line">
            <a:avLst/>
          </a:prstGeom>
          <a:ln w="19050">
            <a:solidFill>
              <a:srgbClr val="1F3A5F"/>
            </a:solidFill>
            <a:tailEnd type="triangle" w="med" len="med"/>
          </a:ln>
        </p:spPr>
      </p:cxnSp>
      <p:cxnSp>
        <p:nvCxnSpPr>
          <p:cNvPr id="72" name="Connector 71"/>
          <p:cNvCxnSpPr/>
          <p:nvPr/>
        </p:nvCxnSpPr>
        <p:spPr>
          <a:xfrm>
            <a:off x="2788920" y="4727448"/>
            <a:ext cx="365760" cy="0"/>
          </a:xfrm>
          <a:prstGeom prst="line">
            <a:avLst/>
          </a:prstGeom>
          <a:ln w="19050">
            <a:solidFill>
              <a:srgbClr val="6B7785"/>
            </a:solidFill>
            <a:prstDash val="dash"/>
            <a:tailEnd type="triangle" w="med" len="med"/>
          </a:ln>
        </p:spPr>
      </p:cxnSp>
      <p:cxnSp>
        <p:nvCxnSpPr>
          <p:cNvPr id="73" name="Connector 72"/>
          <p:cNvCxnSpPr/>
          <p:nvPr/>
        </p:nvCxnSpPr>
        <p:spPr>
          <a:xfrm>
            <a:off x="5897880" y="2240280"/>
            <a:ext cx="274320" cy="0"/>
          </a:xfrm>
          <a:prstGeom prst="line">
            <a:avLst/>
          </a:prstGeom>
          <a:ln w="19050">
            <a:solidFill>
              <a:srgbClr val="1F3A5F"/>
            </a:solidFill>
            <a:tailEnd type="triangle" w="med" len="med"/>
          </a:ln>
        </p:spPr>
      </p:cxnSp>
      <p:cxnSp>
        <p:nvCxnSpPr>
          <p:cNvPr id="74" name="Connector 73"/>
          <p:cNvCxnSpPr/>
          <p:nvPr/>
        </p:nvCxnSpPr>
        <p:spPr>
          <a:xfrm>
            <a:off x="7520940" y="2788920"/>
            <a:ext cx="0" cy="182880"/>
          </a:xfrm>
          <a:prstGeom prst="line">
            <a:avLst/>
          </a:prstGeom>
          <a:ln w="19050">
            <a:solidFill>
              <a:srgbClr val="1F3A5F"/>
            </a:solidFill>
            <a:tailEnd type="triangle" w="med" len="med"/>
          </a:ln>
        </p:spPr>
      </p:cxnSp>
      <p:cxnSp>
        <p:nvCxnSpPr>
          <p:cNvPr id="75" name="Connector 74"/>
          <p:cNvCxnSpPr/>
          <p:nvPr/>
        </p:nvCxnSpPr>
        <p:spPr>
          <a:xfrm>
            <a:off x="7520940" y="4160520"/>
            <a:ext cx="0" cy="182880"/>
          </a:xfrm>
          <a:prstGeom prst="line">
            <a:avLst/>
          </a:prstGeom>
          <a:ln w="19050">
            <a:solidFill>
              <a:srgbClr val="1F3A5F"/>
            </a:solidFill>
            <a:tailEnd type="triangle" w="med" len="med"/>
          </a:ln>
        </p:spPr>
      </p:cxnSp>
      <p:cxnSp>
        <p:nvCxnSpPr>
          <p:cNvPr id="76" name="Connector 75"/>
          <p:cNvCxnSpPr/>
          <p:nvPr/>
        </p:nvCxnSpPr>
        <p:spPr>
          <a:xfrm>
            <a:off x="8869680" y="4846320"/>
            <a:ext cx="164592" cy="0"/>
          </a:xfrm>
          <a:prstGeom prst="line">
            <a:avLst/>
          </a:prstGeom>
          <a:ln w="19050">
            <a:solidFill>
              <a:srgbClr val="1F3A5F"/>
            </a:solidFill>
          </a:ln>
        </p:spPr>
      </p:cxnSp>
      <p:cxnSp>
        <p:nvCxnSpPr>
          <p:cNvPr id="77" name="Connector 76"/>
          <p:cNvCxnSpPr/>
          <p:nvPr/>
        </p:nvCxnSpPr>
        <p:spPr>
          <a:xfrm flipV="1">
            <a:off x="9034272" y="2286000"/>
            <a:ext cx="0" cy="2560320"/>
          </a:xfrm>
          <a:prstGeom prst="line">
            <a:avLst/>
          </a:prstGeom>
          <a:ln w="19050">
            <a:solidFill>
              <a:srgbClr val="1F3A5F"/>
            </a:solidFill>
          </a:ln>
        </p:spPr>
      </p:cxnSp>
      <p:cxnSp>
        <p:nvCxnSpPr>
          <p:cNvPr id="78" name="Connector 77"/>
          <p:cNvCxnSpPr/>
          <p:nvPr/>
        </p:nvCxnSpPr>
        <p:spPr>
          <a:xfrm>
            <a:off x="9034272" y="2286000"/>
            <a:ext cx="155448" cy="0"/>
          </a:xfrm>
          <a:prstGeom prst="line">
            <a:avLst/>
          </a:prstGeom>
          <a:ln w="19050">
            <a:solidFill>
              <a:srgbClr val="1F3A5F"/>
            </a:solidFill>
            <a:tailEnd type="triangle" w="med" len="med"/>
          </a:ln>
        </p:spPr>
      </p:cxnSp>
      <p:cxnSp>
        <p:nvCxnSpPr>
          <p:cNvPr id="79" name="Connector 78"/>
          <p:cNvCxnSpPr/>
          <p:nvPr/>
        </p:nvCxnSpPr>
        <p:spPr>
          <a:xfrm>
            <a:off x="10415016" y="2926080"/>
            <a:ext cx="0" cy="182880"/>
          </a:xfrm>
          <a:prstGeom prst="line">
            <a:avLst/>
          </a:prstGeom>
          <a:ln w="19050">
            <a:solidFill>
              <a:srgbClr val="1F3A5F"/>
            </a:solidFill>
            <a:tailEnd type="triangle" w="med" len="med"/>
          </a:ln>
        </p:spPr>
      </p:cxnSp>
      <p:cxnSp>
        <p:nvCxnSpPr>
          <p:cNvPr id="80" name="Connector 79"/>
          <p:cNvCxnSpPr/>
          <p:nvPr/>
        </p:nvCxnSpPr>
        <p:spPr>
          <a:xfrm>
            <a:off x="10415016" y="4160520"/>
            <a:ext cx="0" cy="182880"/>
          </a:xfrm>
          <a:prstGeom prst="line">
            <a:avLst/>
          </a:prstGeom>
          <a:ln w="19050">
            <a:solidFill>
              <a:srgbClr val="1F3A5F"/>
            </a:solidFill>
            <a:prstDash val="dash"/>
            <a:tailEnd type="triangle" w="med" len="med"/>
          </a:ln>
        </p:spPr>
      </p:cxnSp>
      <p:cxnSp>
        <p:nvCxnSpPr>
          <p:cNvPr id="81" name="Connector 80"/>
          <p:cNvCxnSpPr/>
          <p:nvPr/>
        </p:nvCxnSpPr>
        <p:spPr>
          <a:xfrm>
            <a:off x="10415016" y="5349240"/>
            <a:ext cx="0" cy="274320"/>
          </a:xfrm>
          <a:prstGeom prst="line">
            <a:avLst/>
          </a:prstGeom>
          <a:ln w="15875">
            <a:solidFill>
              <a:srgbClr val="6B7785"/>
            </a:solidFill>
            <a:prstDash val="dash"/>
          </a:ln>
        </p:spPr>
      </p:cxnSp>
      <p:cxnSp>
        <p:nvCxnSpPr>
          <p:cNvPr id="82" name="Connector 81"/>
          <p:cNvCxnSpPr/>
          <p:nvPr/>
        </p:nvCxnSpPr>
        <p:spPr>
          <a:xfrm flipH="1">
            <a:off x="4526280" y="5623560"/>
            <a:ext cx="5888736" cy="0"/>
          </a:xfrm>
          <a:prstGeom prst="line">
            <a:avLst/>
          </a:prstGeom>
          <a:ln w="15875">
            <a:solidFill>
              <a:srgbClr val="6B7785"/>
            </a:solidFill>
            <a:prstDash val="dash"/>
          </a:ln>
        </p:spPr>
      </p:cxnSp>
      <p:cxnSp>
        <p:nvCxnSpPr>
          <p:cNvPr id="83" name="Connector 82"/>
          <p:cNvCxnSpPr/>
          <p:nvPr/>
        </p:nvCxnSpPr>
        <p:spPr>
          <a:xfrm flipV="1">
            <a:off x="4526280" y="5349240"/>
            <a:ext cx="0" cy="274320"/>
          </a:xfrm>
          <a:prstGeom prst="line">
            <a:avLst/>
          </a:prstGeom>
          <a:ln w="15875">
            <a:solidFill>
              <a:srgbClr val="6B7785"/>
            </a:solidFill>
            <a:prstDash val="dash"/>
            <a:tailEnd type="triangle" w="med" len="med"/>
          </a:ln>
        </p:spPr>
      </p:cxnSp>
      <p:sp>
        <p:nvSpPr>
          <p:cNvPr id="84" name="TextBox 83"/>
          <p:cNvSpPr txBox="1"/>
          <p:nvPr/>
        </p:nvSpPr>
        <p:spPr>
          <a:xfrm>
            <a:off x="5486400" y="5660136"/>
            <a:ext cx="3657600" cy="201168"/>
          </a:xfrm>
          <a:prstGeom prst="rect">
            <a:avLst/>
          </a:prstGeom>
          <a:noFill/>
        </p:spPr>
        <p:txBody>
          <a:bodyPr wrap="square" lIns="0" tIns="0" rIns="0" bIns="0" anchor="t">
            <a:spAutoFit/>
          </a:bodyPr>
          <a:lstStyle/>
          <a:p>
            <a:pPr algn="ctr">
              <a:lnSpc>
                <a:spcPct val="100000"/>
              </a:lnSpc>
            </a:pPr>
            <a:r>
              <a:rPr sz="950" b="0" i="0">
                <a:solidFill>
                  <a:srgbClr val="6B7785"/>
                </a:solidFill>
                <a:latin typeface="Calibri"/>
              </a:rPr>
              <a:t>next session: assessment and rehabilitation loop</a:t>
            </a:r>
          </a:p>
        </p:txBody>
      </p:sp>
      <p:sp>
        <p:nvSpPr>
          <p:cNvPr id="85" name="Rectangle 84"/>
          <p:cNvSpPr/>
          <p:nvPr/>
        </p:nvSpPr>
        <p:spPr>
          <a:xfrm>
            <a:off x="548640" y="6080760"/>
            <a:ext cx="274320" cy="146304"/>
          </a:xfrm>
          <a:prstGeom prst="rect">
            <a:avLst/>
          </a:prstGeom>
          <a:noFill/>
          <a:ln w="17780">
            <a:solidFill>
              <a:srgbClr val="2F6B4F"/>
            </a:solidFill>
          </a:ln>
        </p:spPr>
        <p:txBody>
          <a:bodyPr rtlCol="0" anchor="ctr"/>
          <a:lstStyle/>
          <a:p>
            <a:pPr algn="ctr"/>
            <a:endParaRPr/>
          </a:p>
        </p:txBody>
      </p:sp>
      <p:sp>
        <p:nvSpPr>
          <p:cNvPr id="86" name="TextBox 85"/>
          <p:cNvSpPr txBox="1"/>
          <p:nvPr/>
        </p:nvSpPr>
        <p:spPr>
          <a:xfrm>
            <a:off x="914400" y="6053328"/>
            <a:ext cx="2743200" cy="201168"/>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Implemented and exercised in QA</a:t>
            </a:r>
          </a:p>
        </p:txBody>
      </p:sp>
      <p:sp>
        <p:nvSpPr>
          <p:cNvPr id="87" name="Rectangle 86"/>
          <p:cNvSpPr/>
          <p:nvPr/>
        </p:nvSpPr>
        <p:spPr>
          <a:xfrm>
            <a:off x="3566160" y="6080760"/>
            <a:ext cx="274320" cy="146304"/>
          </a:xfrm>
          <a:prstGeom prst="rect">
            <a:avLst/>
          </a:prstGeom>
          <a:noFill/>
          <a:ln w="17780">
            <a:solidFill>
              <a:srgbClr val="B7791F"/>
            </a:solidFill>
          </a:ln>
        </p:spPr>
        <p:txBody>
          <a:bodyPr rtlCol="0" anchor="ctr"/>
          <a:lstStyle/>
          <a:p>
            <a:pPr algn="ctr"/>
            <a:endParaRPr/>
          </a:p>
        </p:txBody>
      </p:sp>
      <p:sp>
        <p:nvSpPr>
          <p:cNvPr id="88" name="TextBox 87"/>
          <p:cNvSpPr txBox="1"/>
          <p:nvPr/>
        </p:nvSpPr>
        <p:spPr>
          <a:xfrm>
            <a:off x="3931920" y="6053328"/>
            <a:ext cx="2743200" cy="201168"/>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Built; limited data or no live-hardware test</a:t>
            </a:r>
          </a:p>
        </p:txBody>
      </p:sp>
      <p:sp>
        <p:nvSpPr>
          <p:cNvPr id="89" name="Rectangle 88"/>
          <p:cNvSpPr/>
          <p:nvPr/>
        </p:nvSpPr>
        <p:spPr>
          <a:xfrm>
            <a:off x="6583679" y="6080760"/>
            <a:ext cx="274320" cy="146304"/>
          </a:xfrm>
          <a:prstGeom prst="rect">
            <a:avLst/>
          </a:prstGeom>
          <a:noFill/>
          <a:ln w="17780">
            <a:solidFill>
              <a:srgbClr val="6B7785"/>
            </a:solidFill>
            <a:prstDash val="dash"/>
          </a:ln>
        </p:spPr>
        <p:txBody>
          <a:bodyPr rtlCol="0" anchor="ctr"/>
          <a:lstStyle/>
          <a:p>
            <a:pPr algn="ctr"/>
            <a:endParaRPr/>
          </a:p>
        </p:txBody>
      </p:sp>
      <p:sp>
        <p:nvSpPr>
          <p:cNvPr id="90" name="TextBox 89"/>
          <p:cNvSpPr txBox="1"/>
          <p:nvPr/>
        </p:nvSpPr>
        <p:spPr>
          <a:xfrm>
            <a:off x="6949440" y="6053328"/>
            <a:ext cx="2743200" cy="201168"/>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Proposed extension</a:t>
            </a:r>
          </a:p>
        </p:txBody>
      </p:sp>
      <p:sp>
        <p:nvSpPr>
          <p:cNvPr id="91" name="TextBox 90"/>
          <p:cNvSpPr txBox="1"/>
          <p:nvPr/>
        </p:nvSpPr>
        <p:spPr>
          <a:xfrm>
            <a:off x="9326880" y="6053328"/>
            <a:ext cx="2313432" cy="201168"/>
          </a:xfrm>
          <a:prstGeom prst="rect">
            <a:avLst/>
          </a:prstGeom>
          <a:noFill/>
        </p:spPr>
        <p:txBody>
          <a:bodyPr wrap="square" lIns="0" tIns="0" rIns="0" bIns="0" anchor="t">
            <a:spAutoFit/>
          </a:bodyPr>
          <a:lstStyle/>
          <a:p>
            <a:pPr algn="r">
              <a:lnSpc>
                <a:spcPct val="100000"/>
              </a:lnSpc>
            </a:pPr>
            <a:r>
              <a:rPr sz="950" b="0" i="0">
                <a:solidFill>
                  <a:srgbClr val="5F6B7A"/>
                </a:solidFill>
                <a:latin typeface="Calibri"/>
              </a:rPr>
              <a:t>All data stays on the computer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Avatar, patient record and the digital twin</a:t>
            </a:r>
          </a:p>
        </p:txBody>
      </p:sp>
      <p:cxnSp>
        <p:nvCxnSpPr>
          <p:cNvPr id="3" name="Connector 2"/>
          <p:cNvCxnSpPr/>
          <p:nvPr/>
        </p:nvCxnSpPr>
        <p:spPr>
          <a:xfrm>
            <a:off x="548640" y="1207008"/>
            <a:ext cx="11091672" cy="0"/>
          </a:xfrm>
          <a:prstGeom prst="line">
            <a:avLst/>
          </a:prstGeom>
          <a:ln w="9525">
            <a:solidFill>
              <a:srgbClr val="C9D0D8"/>
            </a:solidFill>
          </a:ln>
        </p:spPr>
      </p:cxnSp>
      <p:sp>
        <p:nvSpPr>
          <p:cNvPr id="5" name="TextBox 4"/>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7 / 10</a:t>
            </a:r>
          </a:p>
        </p:txBody>
      </p:sp>
      <p:sp>
        <p:nvSpPr>
          <p:cNvPr id="6" name="TextBox 5"/>
          <p:cNvSpPr txBox="1"/>
          <p:nvPr/>
        </p:nvSpPr>
        <p:spPr>
          <a:xfrm>
            <a:off x="548640" y="6254496"/>
            <a:ext cx="11064240" cy="201168"/>
          </a:xfrm>
          <a:prstGeom prst="rect">
            <a:avLst/>
          </a:prstGeom>
          <a:noFill/>
        </p:spPr>
        <p:txBody>
          <a:bodyPr wrap="square" lIns="0" tIns="0" rIns="0" bIns="0" anchor="t">
            <a:spAutoFit/>
          </a:bodyPr>
          <a:lstStyle/>
          <a:p>
            <a:pPr algn="l">
              <a:lnSpc>
                <a:spcPct val="100000"/>
              </a:lnSpc>
            </a:pPr>
            <a:r>
              <a:rPr sz="900" b="0" i="0">
                <a:solidFill>
                  <a:srgbClr val="5F6B7A"/>
                </a:solidFill>
                <a:latin typeface="Calibri"/>
              </a:rPr>
              <a:t>Digital twins in health [11] · Daphnet clinical header [9] · Levodopa PK: Hayashi 2025 · Closest published pre-freeze benchmark (AUC 0.76): Palmerini 2017 [13]</a:t>
            </a:r>
          </a:p>
        </p:txBody>
      </p:sp>
      <p:sp>
        <p:nvSpPr>
          <p:cNvPr id="7" name="Rounded Rectangle 6"/>
          <p:cNvSpPr/>
          <p:nvPr/>
        </p:nvSpPr>
        <p:spPr>
          <a:xfrm>
            <a:off x="548640" y="1371600"/>
            <a:ext cx="3566160" cy="4754880"/>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8" name="TextBox 7"/>
          <p:cNvSpPr txBox="1"/>
          <p:nvPr/>
        </p:nvSpPr>
        <p:spPr>
          <a:xfrm>
            <a:off x="731520" y="1499616"/>
            <a:ext cx="32004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AVATAR AND PATIENT IDENTITY</a:t>
            </a:r>
          </a:p>
        </p:txBody>
      </p:sp>
      <p:sp>
        <p:nvSpPr>
          <p:cNvPr id="9" name="TextBox 8"/>
          <p:cNvSpPr txBox="1"/>
          <p:nvPr/>
        </p:nvSpPr>
        <p:spPr>
          <a:xfrm>
            <a:off x="731520" y="1783080"/>
            <a:ext cx="3200400" cy="201168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200" b="0" i="0">
                <a:solidFill>
                  <a:srgbClr val="1F2933"/>
                </a:solidFill>
                <a:latin typeface="Calibri"/>
              </a:rPr>
              <a:t>The player picks an avatar and outfit at the start.</a:t>
            </a:r>
          </a:p>
          <a:p>
            <a:pPr marL="155448" indent="-155448" algn="l">
              <a:lnSpc>
                <a:spcPct val="100000"/>
              </a:lnSpc>
              <a:spcBef>
                <a:spcPts val="500"/>
              </a:spcBef>
              <a:buClr>
                <a:srgbClr val="1F3A5F"/>
              </a:buClr>
              <a:buFont typeface="Arial"/>
              <a:buChar char="•"/>
            </a:pPr>
            <a:r>
              <a:rPr sz="1200" b="0" i="0">
                <a:solidFill>
                  <a:srgbClr val="1F2933"/>
                </a:solidFill>
                <a:latin typeface="Calibri"/>
              </a:rPr>
              <a:t>A persistent participant ID is created on this device and stamped on every task, session and telemetry event.</a:t>
            </a:r>
          </a:p>
          <a:p>
            <a:pPr marL="155448" indent="-155448" algn="l">
              <a:lnSpc>
                <a:spcPct val="100000"/>
              </a:lnSpc>
              <a:spcBef>
                <a:spcPts val="500"/>
              </a:spcBef>
              <a:buClr>
                <a:srgbClr val="1F3A5F"/>
              </a:buClr>
              <a:buFont typeface="Arial"/>
              <a:buChar char="•"/>
            </a:pPr>
            <a:r>
              <a:rPr sz="1200" b="0" i="0">
                <a:solidFill>
                  <a:srgbClr val="1F2933"/>
                </a:solidFill>
                <a:latin typeface="Calibri"/>
              </a:rPr>
              <a:t>Sessions accumulate under that ID: one longitudinal record.</a:t>
            </a:r>
          </a:p>
          <a:p>
            <a:pPr marL="155448" indent="-155448" algn="l">
              <a:lnSpc>
                <a:spcPct val="100000"/>
              </a:lnSpc>
              <a:spcBef>
                <a:spcPts val="500"/>
              </a:spcBef>
              <a:buClr>
                <a:srgbClr val="1F3A5F"/>
              </a:buClr>
              <a:buFont typeface="Arial"/>
              <a:buChar char="•"/>
            </a:pPr>
            <a:r>
              <a:rPr sz="1200" b="0" i="0">
                <a:solidFill>
                  <a:srgbClr val="1F2933"/>
                </a:solidFill>
                <a:latin typeface="Calibri"/>
              </a:rPr>
              <a:t>The avatar is the player’s visual self in the game. The twin is the data: it is keyed by the participant ID, not by the avatar.</a:t>
            </a:r>
          </a:p>
        </p:txBody>
      </p:sp>
      <p:sp>
        <p:nvSpPr>
          <p:cNvPr id="10" name="TextBox 9"/>
          <p:cNvSpPr txBox="1"/>
          <p:nvPr/>
        </p:nvSpPr>
        <p:spPr>
          <a:xfrm>
            <a:off x="731520" y="3931920"/>
            <a:ext cx="32004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TWIN VERSUS PROFILE VERSUS DASHBOARD</a:t>
            </a:r>
          </a:p>
        </p:txBody>
      </p:sp>
      <p:sp>
        <p:nvSpPr>
          <p:cNvPr id="11" name="TextBox 10"/>
          <p:cNvSpPr txBox="1"/>
          <p:nvPr/>
        </p:nvSpPr>
        <p:spPr>
          <a:xfrm>
            <a:off x="731520" y="4224528"/>
            <a:ext cx="3200400" cy="594360"/>
          </a:xfrm>
          <a:prstGeom prst="rect">
            <a:avLst/>
          </a:prstGeom>
          <a:noFill/>
        </p:spPr>
        <p:txBody>
          <a:bodyPr wrap="square" lIns="0" tIns="0" rIns="0" bIns="0" anchor="t">
            <a:spAutoFit/>
          </a:bodyPr>
          <a:lstStyle/>
          <a:p>
            <a:pPr algn="l">
              <a:lnSpc>
                <a:spcPct val="100000"/>
              </a:lnSpc>
            </a:pPr>
            <a:r>
              <a:rPr sz="1100" b="1" i="0">
                <a:solidFill>
                  <a:srgbClr val="1F2933"/>
                </a:solidFill>
                <a:latin typeface="Calibri"/>
              </a:rPr>
              <a:t>Static profile  </a:t>
            </a:r>
            <a:r>
              <a:rPr sz="1050" b="0" i="0">
                <a:solidFill>
                  <a:srgbClr val="5F6B7A"/>
                </a:solidFill>
                <a:latin typeface="Calibri"/>
              </a:rPr>
              <a:t>a snapshot of facts</a:t>
            </a:r>
          </a:p>
        </p:txBody>
      </p:sp>
      <p:sp>
        <p:nvSpPr>
          <p:cNvPr id="12" name="TextBox 11"/>
          <p:cNvSpPr txBox="1"/>
          <p:nvPr/>
        </p:nvSpPr>
        <p:spPr>
          <a:xfrm>
            <a:off x="731520" y="4846320"/>
            <a:ext cx="3200400" cy="594360"/>
          </a:xfrm>
          <a:prstGeom prst="rect">
            <a:avLst/>
          </a:prstGeom>
          <a:noFill/>
        </p:spPr>
        <p:txBody>
          <a:bodyPr wrap="square" lIns="0" tIns="0" rIns="0" bIns="0" anchor="t">
            <a:spAutoFit/>
          </a:bodyPr>
          <a:lstStyle/>
          <a:p>
            <a:pPr algn="l">
              <a:lnSpc>
                <a:spcPct val="100000"/>
              </a:lnSpc>
            </a:pPr>
            <a:r>
              <a:rPr sz="1100" b="1" i="0">
                <a:solidFill>
                  <a:srgbClr val="1F2933"/>
                </a:solidFill>
                <a:latin typeface="Calibri"/>
              </a:rPr>
              <a:t>Dashboard  </a:t>
            </a:r>
            <a:r>
              <a:rPr sz="1050" b="0" i="0">
                <a:solidFill>
                  <a:srgbClr val="5F6B7A"/>
                </a:solidFill>
                <a:latin typeface="Calibri"/>
              </a:rPr>
              <a:t>displays data, does not model it</a:t>
            </a:r>
          </a:p>
        </p:txBody>
      </p:sp>
      <p:sp>
        <p:nvSpPr>
          <p:cNvPr id="13" name="TextBox 12"/>
          <p:cNvSpPr txBox="1"/>
          <p:nvPr/>
        </p:nvSpPr>
        <p:spPr>
          <a:xfrm>
            <a:off x="731520" y="5468112"/>
            <a:ext cx="3200400" cy="594360"/>
          </a:xfrm>
          <a:prstGeom prst="rect">
            <a:avLst/>
          </a:prstGeom>
          <a:noFill/>
        </p:spPr>
        <p:txBody>
          <a:bodyPr wrap="square" lIns="0" tIns="0" rIns="0" bIns="0" anchor="t">
            <a:spAutoFit/>
          </a:bodyPr>
          <a:lstStyle/>
          <a:p>
            <a:pPr algn="l">
              <a:lnSpc>
                <a:spcPct val="100000"/>
              </a:lnSpc>
            </a:pPr>
            <a:r>
              <a:rPr sz="1100" b="1" i="0">
                <a:solidFill>
                  <a:srgbClr val="1F3A5F"/>
                </a:solidFill>
                <a:latin typeface="Calibri"/>
              </a:rPr>
              <a:t>Digital twin  </a:t>
            </a:r>
            <a:r>
              <a:rPr sz="1050" b="0" i="0">
                <a:solidFill>
                  <a:srgbClr val="5F6B7A"/>
                </a:solidFill>
                <a:latin typeface="Calibri"/>
              </a:rPr>
              <a:t>one patient’s record plus models, updated by each session; simulates and forecasts</a:t>
            </a:r>
          </a:p>
        </p:txBody>
      </p:sp>
      <p:sp>
        <p:nvSpPr>
          <p:cNvPr id="14" name="TextBox 13"/>
          <p:cNvSpPr txBox="1"/>
          <p:nvPr/>
        </p:nvSpPr>
        <p:spPr>
          <a:xfrm>
            <a:off x="4389120" y="1417320"/>
            <a:ext cx="54864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TWIN CREATION PIPELINE</a:t>
            </a:r>
          </a:p>
        </p:txBody>
      </p:sp>
      <p:sp>
        <p:nvSpPr>
          <p:cNvPr id="15" name="Rounded Rectangle 14"/>
          <p:cNvSpPr/>
          <p:nvPr/>
        </p:nvSpPr>
        <p:spPr>
          <a:xfrm>
            <a:off x="4389120" y="1691640"/>
            <a:ext cx="1097280" cy="1051560"/>
          </a:xfrm>
          <a:prstGeom prst="roundRect">
            <a:avLst>
              <a:gd name="adj" fmla="val 2000"/>
            </a:avLst>
          </a:prstGeom>
          <a:solidFill>
            <a:srgbClr val="FFFFFF"/>
          </a:solidFill>
          <a:ln w="12700">
            <a:solidFill>
              <a:srgbClr val="1F3A5F"/>
            </a:solidFill>
          </a:ln>
        </p:spPr>
        <p:txBody>
          <a:bodyPr rtlCol="0" anchor="ctr"/>
          <a:lstStyle/>
          <a:p>
            <a:pPr algn="ctr"/>
            <a:endParaRPr/>
          </a:p>
        </p:txBody>
      </p:sp>
      <p:sp>
        <p:nvSpPr>
          <p:cNvPr id="16" name="TextBox 15"/>
          <p:cNvSpPr txBox="1"/>
          <p:nvPr/>
        </p:nvSpPr>
        <p:spPr>
          <a:xfrm>
            <a:off x="4453128" y="1737360"/>
            <a:ext cx="969264" cy="228600"/>
          </a:xfrm>
          <a:prstGeom prst="rect">
            <a:avLst/>
          </a:prstGeom>
          <a:noFill/>
        </p:spPr>
        <p:txBody>
          <a:bodyPr wrap="square" lIns="0" tIns="0" rIns="0" bIns="0" anchor="t">
            <a:spAutoFit/>
          </a:bodyPr>
          <a:lstStyle/>
          <a:p>
            <a:pPr algn="ctr">
              <a:lnSpc>
                <a:spcPct val="100000"/>
              </a:lnSpc>
            </a:pPr>
            <a:r>
              <a:rPr sz="1100" b="1" i="0">
                <a:solidFill>
                  <a:srgbClr val="1F3A5F"/>
                </a:solidFill>
                <a:latin typeface="Calibri"/>
              </a:rPr>
              <a:t>Collect</a:t>
            </a:r>
          </a:p>
        </p:txBody>
      </p:sp>
      <p:sp>
        <p:nvSpPr>
          <p:cNvPr id="17" name="TextBox 16"/>
          <p:cNvSpPr txBox="1"/>
          <p:nvPr/>
        </p:nvSpPr>
        <p:spPr>
          <a:xfrm>
            <a:off x="4453128" y="1993392"/>
            <a:ext cx="969264" cy="731520"/>
          </a:xfrm>
          <a:prstGeom prst="rect">
            <a:avLst/>
          </a:prstGeom>
          <a:noFill/>
        </p:spPr>
        <p:txBody>
          <a:bodyPr wrap="square" lIns="0" tIns="0" rIns="0" bIns="0" anchor="t">
            <a:spAutoFit/>
          </a:bodyPr>
          <a:lstStyle/>
          <a:p>
            <a:pPr algn="ctr">
              <a:lnSpc>
                <a:spcPct val="100000"/>
              </a:lnSpc>
            </a:pPr>
            <a:r>
              <a:rPr sz="850" b="0" i="0">
                <a:solidFill>
                  <a:srgbClr val="5F6B7A"/>
                </a:solidFill>
                <a:latin typeface="Calibri"/>
              </a:rPr>
              <a:t>game · webcam · voice · IMU · questionnaire</a:t>
            </a:r>
          </a:p>
        </p:txBody>
      </p:sp>
      <p:cxnSp>
        <p:nvCxnSpPr>
          <p:cNvPr id="18" name="Connector 17"/>
          <p:cNvCxnSpPr/>
          <p:nvPr/>
        </p:nvCxnSpPr>
        <p:spPr>
          <a:xfrm>
            <a:off x="5486400" y="2212848"/>
            <a:ext cx="137160" cy="0"/>
          </a:xfrm>
          <a:prstGeom prst="line">
            <a:avLst/>
          </a:prstGeom>
          <a:ln w="12700">
            <a:solidFill>
              <a:srgbClr val="1F3A5F"/>
            </a:solidFill>
            <a:tailEnd type="triangle" w="med" len="med"/>
          </a:ln>
        </p:spPr>
      </p:cxnSp>
      <p:sp>
        <p:nvSpPr>
          <p:cNvPr id="19" name="Rounded Rectangle 18"/>
          <p:cNvSpPr/>
          <p:nvPr/>
        </p:nvSpPr>
        <p:spPr>
          <a:xfrm>
            <a:off x="5623559" y="1691640"/>
            <a:ext cx="1097280" cy="1051560"/>
          </a:xfrm>
          <a:prstGeom prst="roundRect">
            <a:avLst>
              <a:gd name="adj" fmla="val 2000"/>
            </a:avLst>
          </a:prstGeom>
          <a:solidFill>
            <a:srgbClr val="FFFFFF"/>
          </a:solidFill>
          <a:ln w="12700">
            <a:solidFill>
              <a:srgbClr val="1F3A5F"/>
            </a:solidFill>
          </a:ln>
        </p:spPr>
        <p:txBody>
          <a:bodyPr rtlCol="0" anchor="ctr"/>
          <a:lstStyle/>
          <a:p>
            <a:pPr algn="ctr"/>
            <a:endParaRPr/>
          </a:p>
        </p:txBody>
      </p:sp>
      <p:sp>
        <p:nvSpPr>
          <p:cNvPr id="20" name="TextBox 19"/>
          <p:cNvSpPr txBox="1"/>
          <p:nvPr/>
        </p:nvSpPr>
        <p:spPr>
          <a:xfrm>
            <a:off x="5687568" y="1737360"/>
            <a:ext cx="969264" cy="228600"/>
          </a:xfrm>
          <a:prstGeom prst="rect">
            <a:avLst/>
          </a:prstGeom>
          <a:noFill/>
        </p:spPr>
        <p:txBody>
          <a:bodyPr wrap="square" lIns="0" tIns="0" rIns="0" bIns="0" anchor="t">
            <a:spAutoFit/>
          </a:bodyPr>
          <a:lstStyle/>
          <a:p>
            <a:pPr algn="ctr">
              <a:lnSpc>
                <a:spcPct val="100000"/>
              </a:lnSpc>
            </a:pPr>
            <a:r>
              <a:rPr sz="1100" b="1" i="0">
                <a:solidFill>
                  <a:srgbClr val="1F3A5F"/>
                </a:solidFill>
                <a:latin typeface="Calibri"/>
              </a:rPr>
              <a:t>Preprocess</a:t>
            </a:r>
          </a:p>
        </p:txBody>
      </p:sp>
      <p:sp>
        <p:nvSpPr>
          <p:cNvPr id="21" name="TextBox 20"/>
          <p:cNvSpPr txBox="1"/>
          <p:nvPr/>
        </p:nvSpPr>
        <p:spPr>
          <a:xfrm>
            <a:off x="5687568" y="1993392"/>
            <a:ext cx="969264" cy="731520"/>
          </a:xfrm>
          <a:prstGeom prst="rect">
            <a:avLst/>
          </a:prstGeom>
          <a:noFill/>
        </p:spPr>
        <p:txBody>
          <a:bodyPr wrap="square" lIns="0" tIns="0" rIns="0" bIns="0" anchor="t">
            <a:spAutoFit/>
          </a:bodyPr>
          <a:lstStyle/>
          <a:p>
            <a:pPr algn="ctr">
              <a:lnSpc>
                <a:spcPct val="100000"/>
              </a:lnSpc>
            </a:pPr>
            <a:r>
              <a:rPr sz="850" b="0" i="0">
                <a:solidFill>
                  <a:srgbClr val="5F6B7A"/>
                </a:solidFill>
                <a:latin typeface="Calibri"/>
              </a:rPr>
              <a:t>sync, validate, quality state</a:t>
            </a:r>
          </a:p>
        </p:txBody>
      </p:sp>
      <p:cxnSp>
        <p:nvCxnSpPr>
          <p:cNvPr id="22" name="Connector 21"/>
          <p:cNvCxnSpPr/>
          <p:nvPr/>
        </p:nvCxnSpPr>
        <p:spPr>
          <a:xfrm>
            <a:off x="6720840" y="2212848"/>
            <a:ext cx="137160" cy="0"/>
          </a:xfrm>
          <a:prstGeom prst="line">
            <a:avLst/>
          </a:prstGeom>
          <a:ln w="12700">
            <a:solidFill>
              <a:srgbClr val="1F3A5F"/>
            </a:solidFill>
            <a:tailEnd type="triangle" w="med" len="med"/>
          </a:ln>
        </p:spPr>
      </p:cxnSp>
      <p:sp>
        <p:nvSpPr>
          <p:cNvPr id="23" name="Rounded Rectangle 22"/>
          <p:cNvSpPr/>
          <p:nvPr/>
        </p:nvSpPr>
        <p:spPr>
          <a:xfrm>
            <a:off x="6858000" y="1691640"/>
            <a:ext cx="1097280" cy="1051560"/>
          </a:xfrm>
          <a:prstGeom prst="roundRect">
            <a:avLst>
              <a:gd name="adj" fmla="val 2000"/>
            </a:avLst>
          </a:prstGeom>
          <a:solidFill>
            <a:srgbClr val="FFFFFF"/>
          </a:solidFill>
          <a:ln w="12700">
            <a:solidFill>
              <a:srgbClr val="1F3A5F"/>
            </a:solidFill>
          </a:ln>
        </p:spPr>
        <p:txBody>
          <a:bodyPr rtlCol="0" anchor="ctr"/>
          <a:lstStyle/>
          <a:p>
            <a:pPr algn="ctr"/>
            <a:endParaRPr/>
          </a:p>
        </p:txBody>
      </p:sp>
      <p:sp>
        <p:nvSpPr>
          <p:cNvPr id="24" name="TextBox 23"/>
          <p:cNvSpPr txBox="1"/>
          <p:nvPr/>
        </p:nvSpPr>
        <p:spPr>
          <a:xfrm>
            <a:off x="6922008" y="1737360"/>
            <a:ext cx="969264" cy="228600"/>
          </a:xfrm>
          <a:prstGeom prst="rect">
            <a:avLst/>
          </a:prstGeom>
          <a:noFill/>
        </p:spPr>
        <p:txBody>
          <a:bodyPr wrap="square" lIns="0" tIns="0" rIns="0" bIns="0" anchor="t">
            <a:spAutoFit/>
          </a:bodyPr>
          <a:lstStyle/>
          <a:p>
            <a:pPr algn="ctr">
              <a:lnSpc>
                <a:spcPct val="100000"/>
              </a:lnSpc>
            </a:pPr>
            <a:r>
              <a:rPr sz="1100" b="1" i="0">
                <a:solidFill>
                  <a:srgbClr val="1F3A5F"/>
                </a:solidFill>
                <a:latin typeface="Calibri"/>
              </a:rPr>
              <a:t>Features</a:t>
            </a:r>
          </a:p>
        </p:txBody>
      </p:sp>
      <p:sp>
        <p:nvSpPr>
          <p:cNvPr id="25" name="TextBox 24"/>
          <p:cNvSpPr txBox="1"/>
          <p:nvPr/>
        </p:nvSpPr>
        <p:spPr>
          <a:xfrm>
            <a:off x="6922008" y="1993392"/>
            <a:ext cx="969264" cy="731520"/>
          </a:xfrm>
          <a:prstGeom prst="rect">
            <a:avLst/>
          </a:prstGeom>
          <a:noFill/>
        </p:spPr>
        <p:txBody>
          <a:bodyPr wrap="square" lIns="0" tIns="0" rIns="0" bIns="0" anchor="t">
            <a:spAutoFit/>
          </a:bodyPr>
          <a:lstStyle/>
          <a:p>
            <a:pPr algn="ctr">
              <a:lnSpc>
                <a:spcPct val="100000"/>
              </a:lnSpc>
            </a:pPr>
            <a:r>
              <a:rPr sz="850" b="0" i="0">
                <a:solidFill>
                  <a:srgbClr val="5F6B7A"/>
                </a:solidFill>
                <a:latin typeface="Calibri"/>
              </a:rPr>
              <a:t>per-task metrics</a:t>
            </a:r>
          </a:p>
        </p:txBody>
      </p:sp>
      <p:cxnSp>
        <p:nvCxnSpPr>
          <p:cNvPr id="26" name="Connector 25"/>
          <p:cNvCxnSpPr/>
          <p:nvPr/>
        </p:nvCxnSpPr>
        <p:spPr>
          <a:xfrm>
            <a:off x="7955279" y="2212848"/>
            <a:ext cx="137161" cy="0"/>
          </a:xfrm>
          <a:prstGeom prst="line">
            <a:avLst/>
          </a:prstGeom>
          <a:ln w="12700">
            <a:solidFill>
              <a:srgbClr val="1F3A5F"/>
            </a:solidFill>
            <a:tailEnd type="triangle" w="med" len="med"/>
          </a:ln>
        </p:spPr>
      </p:cxnSp>
      <p:sp>
        <p:nvSpPr>
          <p:cNvPr id="27" name="Rounded Rectangle 26"/>
          <p:cNvSpPr/>
          <p:nvPr/>
        </p:nvSpPr>
        <p:spPr>
          <a:xfrm>
            <a:off x="8092440" y="1691640"/>
            <a:ext cx="1097280" cy="1051560"/>
          </a:xfrm>
          <a:prstGeom prst="roundRect">
            <a:avLst>
              <a:gd name="adj" fmla="val 2000"/>
            </a:avLst>
          </a:prstGeom>
          <a:solidFill>
            <a:srgbClr val="FFFFFF"/>
          </a:solidFill>
          <a:ln w="12700">
            <a:solidFill>
              <a:srgbClr val="1F3A5F"/>
            </a:solidFill>
          </a:ln>
        </p:spPr>
        <p:txBody>
          <a:bodyPr rtlCol="0" anchor="ctr"/>
          <a:lstStyle/>
          <a:p>
            <a:pPr algn="ctr"/>
            <a:endParaRPr/>
          </a:p>
        </p:txBody>
      </p:sp>
      <p:sp>
        <p:nvSpPr>
          <p:cNvPr id="28" name="TextBox 27"/>
          <p:cNvSpPr txBox="1"/>
          <p:nvPr/>
        </p:nvSpPr>
        <p:spPr>
          <a:xfrm>
            <a:off x="8156448" y="1737360"/>
            <a:ext cx="969264" cy="228600"/>
          </a:xfrm>
          <a:prstGeom prst="rect">
            <a:avLst/>
          </a:prstGeom>
          <a:noFill/>
        </p:spPr>
        <p:txBody>
          <a:bodyPr wrap="square" lIns="0" tIns="0" rIns="0" bIns="0" anchor="t">
            <a:spAutoFit/>
          </a:bodyPr>
          <a:lstStyle/>
          <a:p>
            <a:pPr algn="ctr">
              <a:lnSpc>
                <a:spcPct val="100000"/>
              </a:lnSpc>
            </a:pPr>
            <a:r>
              <a:rPr sz="1100" b="1" i="0">
                <a:solidFill>
                  <a:srgbClr val="1F3A5F"/>
                </a:solidFill>
                <a:latin typeface="Calibri"/>
              </a:rPr>
              <a:t>Analyse</a:t>
            </a:r>
          </a:p>
        </p:txBody>
      </p:sp>
      <p:sp>
        <p:nvSpPr>
          <p:cNvPr id="29" name="TextBox 28"/>
          <p:cNvSpPr txBox="1"/>
          <p:nvPr/>
        </p:nvSpPr>
        <p:spPr>
          <a:xfrm>
            <a:off x="8156448" y="1993392"/>
            <a:ext cx="969264" cy="731520"/>
          </a:xfrm>
          <a:prstGeom prst="rect">
            <a:avLst/>
          </a:prstGeom>
          <a:noFill/>
        </p:spPr>
        <p:txBody>
          <a:bodyPr wrap="square" lIns="0" tIns="0" rIns="0" bIns="0" anchor="t">
            <a:spAutoFit/>
          </a:bodyPr>
          <a:lstStyle/>
          <a:p>
            <a:pPr algn="ctr">
              <a:lnSpc>
                <a:spcPct val="100000"/>
              </a:lnSpc>
            </a:pPr>
            <a:r>
              <a:rPr sz="850" b="0" i="0">
                <a:solidFill>
                  <a:srgbClr val="5F6B7A"/>
                </a:solidFill>
                <a:latin typeface="Calibri"/>
              </a:rPr>
              <a:t>modality models</a:t>
            </a:r>
          </a:p>
        </p:txBody>
      </p:sp>
      <p:cxnSp>
        <p:nvCxnSpPr>
          <p:cNvPr id="30" name="Connector 29"/>
          <p:cNvCxnSpPr/>
          <p:nvPr/>
        </p:nvCxnSpPr>
        <p:spPr>
          <a:xfrm>
            <a:off x="9189719" y="2212848"/>
            <a:ext cx="137161" cy="0"/>
          </a:xfrm>
          <a:prstGeom prst="line">
            <a:avLst/>
          </a:prstGeom>
          <a:ln w="12700">
            <a:solidFill>
              <a:srgbClr val="1F3A5F"/>
            </a:solidFill>
            <a:tailEnd type="triangle" w="med" len="med"/>
          </a:ln>
        </p:spPr>
      </p:cxnSp>
      <p:sp>
        <p:nvSpPr>
          <p:cNvPr id="31" name="Rounded Rectangle 30"/>
          <p:cNvSpPr/>
          <p:nvPr/>
        </p:nvSpPr>
        <p:spPr>
          <a:xfrm>
            <a:off x="9326880" y="1691640"/>
            <a:ext cx="1097280" cy="1051560"/>
          </a:xfrm>
          <a:prstGeom prst="roundRect">
            <a:avLst>
              <a:gd name="adj" fmla="val 2000"/>
            </a:avLst>
          </a:prstGeom>
          <a:solidFill>
            <a:srgbClr val="FFFFFF"/>
          </a:solidFill>
          <a:ln w="12700">
            <a:solidFill>
              <a:srgbClr val="1F3A5F"/>
            </a:solidFill>
          </a:ln>
        </p:spPr>
        <p:txBody>
          <a:bodyPr rtlCol="0" anchor="ctr"/>
          <a:lstStyle/>
          <a:p>
            <a:pPr algn="ctr"/>
            <a:endParaRPr/>
          </a:p>
        </p:txBody>
      </p:sp>
      <p:sp>
        <p:nvSpPr>
          <p:cNvPr id="32" name="TextBox 31"/>
          <p:cNvSpPr txBox="1"/>
          <p:nvPr/>
        </p:nvSpPr>
        <p:spPr>
          <a:xfrm>
            <a:off x="9390888" y="1737360"/>
            <a:ext cx="969264" cy="228600"/>
          </a:xfrm>
          <a:prstGeom prst="rect">
            <a:avLst/>
          </a:prstGeom>
          <a:noFill/>
        </p:spPr>
        <p:txBody>
          <a:bodyPr wrap="square" lIns="0" tIns="0" rIns="0" bIns="0" anchor="t">
            <a:spAutoFit/>
          </a:bodyPr>
          <a:lstStyle/>
          <a:p>
            <a:pPr algn="ctr">
              <a:lnSpc>
                <a:spcPct val="100000"/>
              </a:lnSpc>
            </a:pPr>
            <a:r>
              <a:rPr sz="1100" b="1" i="0">
                <a:solidFill>
                  <a:srgbClr val="1F3A5F"/>
                </a:solidFill>
                <a:latin typeface="Calibri"/>
              </a:rPr>
              <a:t>Record</a:t>
            </a:r>
          </a:p>
        </p:txBody>
      </p:sp>
      <p:sp>
        <p:nvSpPr>
          <p:cNvPr id="33" name="TextBox 32"/>
          <p:cNvSpPr txBox="1"/>
          <p:nvPr/>
        </p:nvSpPr>
        <p:spPr>
          <a:xfrm>
            <a:off x="9390888" y="1993392"/>
            <a:ext cx="969264" cy="731520"/>
          </a:xfrm>
          <a:prstGeom prst="rect">
            <a:avLst/>
          </a:prstGeom>
          <a:noFill/>
        </p:spPr>
        <p:txBody>
          <a:bodyPr wrap="square" lIns="0" tIns="0" rIns="0" bIns="0" anchor="t">
            <a:spAutoFit/>
          </a:bodyPr>
          <a:lstStyle/>
          <a:p>
            <a:pPr algn="ctr">
              <a:lnSpc>
                <a:spcPct val="100000"/>
              </a:lnSpc>
            </a:pPr>
            <a:r>
              <a:rPr sz="850" b="0" i="0">
                <a:solidFill>
                  <a:srgbClr val="5F6B7A"/>
                </a:solidFill>
                <a:latin typeface="Calibri"/>
              </a:rPr>
              <a:t>FHIR-style patient</a:t>
            </a:r>
          </a:p>
        </p:txBody>
      </p:sp>
      <p:cxnSp>
        <p:nvCxnSpPr>
          <p:cNvPr id="34" name="Connector 33"/>
          <p:cNvCxnSpPr/>
          <p:nvPr/>
        </p:nvCxnSpPr>
        <p:spPr>
          <a:xfrm>
            <a:off x="10424159" y="2212848"/>
            <a:ext cx="137160" cy="0"/>
          </a:xfrm>
          <a:prstGeom prst="line">
            <a:avLst/>
          </a:prstGeom>
          <a:ln w="12700">
            <a:solidFill>
              <a:srgbClr val="1F3A5F"/>
            </a:solidFill>
            <a:tailEnd type="triangle" w="med" len="med"/>
          </a:ln>
        </p:spPr>
      </p:cxnSp>
      <p:sp>
        <p:nvSpPr>
          <p:cNvPr id="35" name="Rounded Rectangle 34"/>
          <p:cNvSpPr/>
          <p:nvPr/>
        </p:nvSpPr>
        <p:spPr>
          <a:xfrm>
            <a:off x="10561319" y="1691640"/>
            <a:ext cx="1097280" cy="1051560"/>
          </a:xfrm>
          <a:prstGeom prst="roundRect">
            <a:avLst>
              <a:gd name="adj" fmla="val 2000"/>
            </a:avLst>
          </a:prstGeom>
          <a:solidFill>
            <a:srgbClr val="FFFFFF"/>
          </a:solidFill>
          <a:ln w="12700">
            <a:solidFill>
              <a:srgbClr val="6B7785"/>
            </a:solidFill>
            <a:prstDash val="dash"/>
          </a:ln>
        </p:spPr>
        <p:txBody>
          <a:bodyPr rtlCol="0" anchor="ctr"/>
          <a:lstStyle/>
          <a:p>
            <a:pPr algn="ctr"/>
            <a:endParaRPr/>
          </a:p>
        </p:txBody>
      </p:sp>
      <p:sp>
        <p:nvSpPr>
          <p:cNvPr id="36" name="TextBox 35"/>
          <p:cNvSpPr txBox="1"/>
          <p:nvPr/>
        </p:nvSpPr>
        <p:spPr>
          <a:xfrm>
            <a:off x="10625328" y="1737360"/>
            <a:ext cx="969264" cy="228600"/>
          </a:xfrm>
          <a:prstGeom prst="rect">
            <a:avLst/>
          </a:prstGeom>
          <a:noFill/>
        </p:spPr>
        <p:txBody>
          <a:bodyPr wrap="square" lIns="0" tIns="0" rIns="0" bIns="0" anchor="t">
            <a:spAutoFit/>
          </a:bodyPr>
          <a:lstStyle/>
          <a:p>
            <a:pPr algn="ctr">
              <a:lnSpc>
                <a:spcPct val="100000"/>
              </a:lnSpc>
            </a:pPr>
            <a:r>
              <a:rPr sz="1100" b="1" i="0">
                <a:solidFill>
                  <a:srgbClr val="1F3A5F"/>
                </a:solidFill>
                <a:latin typeface="Calibri"/>
              </a:rPr>
              <a:t>Update</a:t>
            </a:r>
          </a:p>
        </p:txBody>
      </p:sp>
      <p:sp>
        <p:nvSpPr>
          <p:cNvPr id="37" name="TextBox 36"/>
          <p:cNvSpPr txBox="1"/>
          <p:nvPr/>
        </p:nvSpPr>
        <p:spPr>
          <a:xfrm>
            <a:off x="10625328" y="1993392"/>
            <a:ext cx="969264" cy="731520"/>
          </a:xfrm>
          <a:prstGeom prst="rect">
            <a:avLst/>
          </a:prstGeom>
          <a:noFill/>
        </p:spPr>
        <p:txBody>
          <a:bodyPr wrap="square" lIns="0" tIns="0" rIns="0" bIns="0" anchor="t">
            <a:spAutoFit/>
          </a:bodyPr>
          <a:lstStyle/>
          <a:p>
            <a:pPr algn="ctr">
              <a:lnSpc>
                <a:spcPct val="100000"/>
              </a:lnSpc>
            </a:pPr>
            <a:r>
              <a:rPr sz="850" b="0" i="0">
                <a:solidFill>
                  <a:srgbClr val="5F6B7A"/>
                </a:solidFill>
                <a:latin typeface="Calibri"/>
              </a:rPr>
              <a:t>every new session</a:t>
            </a:r>
          </a:p>
        </p:txBody>
      </p:sp>
      <p:sp>
        <p:nvSpPr>
          <p:cNvPr id="38" name="Rounded Rectangle 37"/>
          <p:cNvSpPr/>
          <p:nvPr/>
        </p:nvSpPr>
        <p:spPr>
          <a:xfrm>
            <a:off x="4389120" y="2926080"/>
            <a:ext cx="3611880" cy="3200400"/>
          </a:xfrm>
          <a:prstGeom prst="roundRect">
            <a:avLst>
              <a:gd name="adj" fmla="val 2000"/>
            </a:avLst>
          </a:prstGeom>
          <a:solidFill>
            <a:srgbClr val="FFFFFF"/>
          </a:solidFill>
          <a:ln w="12700">
            <a:solidFill>
              <a:srgbClr val="2F6B4F"/>
            </a:solidFill>
          </a:ln>
        </p:spPr>
        <p:txBody>
          <a:bodyPr rtlCol="0" anchor="ctr"/>
          <a:lstStyle/>
          <a:p>
            <a:pPr algn="ctr"/>
            <a:endParaRPr/>
          </a:p>
        </p:txBody>
      </p:sp>
      <p:sp>
        <p:nvSpPr>
          <p:cNvPr id="39" name="TextBox 38"/>
          <p:cNvSpPr txBox="1"/>
          <p:nvPr/>
        </p:nvSpPr>
        <p:spPr>
          <a:xfrm>
            <a:off x="4572000" y="3035808"/>
            <a:ext cx="3200400" cy="201168"/>
          </a:xfrm>
          <a:prstGeom prst="rect">
            <a:avLst/>
          </a:prstGeom>
          <a:noFill/>
        </p:spPr>
        <p:txBody>
          <a:bodyPr wrap="square" lIns="0" tIns="0" rIns="0" bIns="0" anchor="t">
            <a:spAutoFit/>
          </a:bodyPr>
          <a:lstStyle/>
          <a:p>
            <a:pPr algn="l">
              <a:lnSpc>
                <a:spcPct val="100000"/>
              </a:lnSpc>
            </a:pPr>
            <a:r>
              <a:rPr sz="1050" b="1" i="0">
                <a:solidFill>
                  <a:srgbClr val="2F6B4F"/>
                </a:solidFill>
                <a:latin typeface="Calibri"/>
              </a:rPr>
              <a:t>IMPLEMENTED NOW</a:t>
            </a:r>
          </a:p>
        </p:txBody>
      </p:sp>
      <p:sp>
        <p:nvSpPr>
          <p:cNvPr id="40" name="TextBox 39"/>
          <p:cNvSpPr txBox="1"/>
          <p:nvPr/>
        </p:nvSpPr>
        <p:spPr>
          <a:xfrm>
            <a:off x="4572000" y="3310128"/>
            <a:ext cx="3291840" cy="283464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100" b="0" i="0">
                <a:solidFill>
                  <a:srgbClr val="1F2933"/>
                </a:solidFill>
                <a:latin typeface="Calibri"/>
              </a:rPr>
              <a:t>Synthetic FHIR R4 record (SNOMED CT, LOINC), tagged SYNTHETIC; real Daphnet clinical header for 10 people</a:t>
            </a:r>
          </a:p>
          <a:p>
            <a:pPr marL="155448" indent="-155448" algn="l">
              <a:lnSpc>
                <a:spcPct val="100000"/>
              </a:lnSpc>
              <a:spcBef>
                <a:spcPts val="400"/>
              </a:spcBef>
              <a:buClr>
                <a:srgbClr val="1F3A5F"/>
              </a:buClr>
              <a:buFont typeface="Arial"/>
              <a:buChar char="•"/>
            </a:pPr>
            <a:r>
              <a:rPr sz="1100" b="0" i="0">
                <a:solidFill>
                  <a:srgbClr val="1F2933"/>
                </a:solidFill>
                <a:latin typeface="Calibri"/>
              </a:rPr>
              <a:t>Levodopa PK/PD: dopamine effect and ON/OFF state</a:t>
            </a:r>
          </a:p>
          <a:p>
            <a:pPr marL="155448" indent="-155448" algn="l">
              <a:lnSpc>
                <a:spcPct val="100000"/>
              </a:lnSpc>
              <a:spcBef>
                <a:spcPts val="400"/>
              </a:spcBef>
              <a:buClr>
                <a:srgbClr val="1F3A5F"/>
              </a:buClr>
              <a:buFont typeface="Arial"/>
              <a:buChar char="•"/>
            </a:pPr>
            <a:r>
              <a:rPr sz="1100" b="0" i="0">
                <a:solidFill>
                  <a:srgbClr val="1F2933"/>
                </a:solidFill>
                <a:latin typeface="Calibri"/>
              </a:rPr>
              <a:t>Simulated 7-day wearables + real Daphnet sensors</a:t>
            </a:r>
          </a:p>
          <a:p>
            <a:pPr marL="155448" indent="-155448" algn="l">
              <a:lnSpc>
                <a:spcPct val="100000"/>
              </a:lnSpc>
              <a:spcBef>
                <a:spcPts val="400"/>
              </a:spcBef>
              <a:buClr>
                <a:srgbClr val="1F3A5F"/>
              </a:buClr>
              <a:buFont typeface="Arial"/>
              <a:buChar char="•"/>
            </a:pPr>
            <a:r>
              <a:rPr sz="1100" b="0" i="0">
                <a:solidFill>
                  <a:srgbClr val="1F2933"/>
                </a:solidFill>
                <a:latin typeface="Calibri"/>
              </a:rPr>
              <a:t>Model A: freeze within 3 s, AUC 0.76 (0.72–0.83), real data, leave-one-person-out</a:t>
            </a:r>
          </a:p>
          <a:p>
            <a:pPr marL="155448" indent="-155448" algn="l">
              <a:lnSpc>
                <a:spcPct val="100000"/>
              </a:lnSpc>
              <a:spcBef>
                <a:spcPts val="400"/>
              </a:spcBef>
              <a:buClr>
                <a:srgbClr val="1F3A5F"/>
              </a:buClr>
              <a:buFont typeface="Arial"/>
              <a:buChar char="•"/>
            </a:pPr>
            <a:r>
              <a:rPr sz="1100" b="0" i="0">
                <a:solidFill>
                  <a:srgbClr val="1F2933"/>
                </a:solidFill>
                <a:latin typeface="Calibri"/>
              </a:rPr>
              <a:t>Model B: freeze within 2 h, AUC 0.806, synthetic cohort</a:t>
            </a:r>
          </a:p>
          <a:p>
            <a:pPr marL="155448" indent="-155448" algn="l">
              <a:lnSpc>
                <a:spcPct val="100000"/>
              </a:lnSpc>
              <a:spcBef>
                <a:spcPts val="400"/>
              </a:spcBef>
              <a:buClr>
                <a:srgbClr val="1F3A5F"/>
              </a:buClr>
              <a:buFont typeface="Arial"/>
              <a:buChar char="•"/>
            </a:pPr>
            <a:r>
              <a:rPr sz="1100" b="0" i="0">
                <a:solidFill>
                  <a:srgbClr val="1F2933"/>
                </a:solidFill>
                <a:latin typeface="Calibri"/>
              </a:rPr>
              <a:t>What-if re-simulation; game session synced at the end of Level 3</a:t>
            </a:r>
          </a:p>
        </p:txBody>
      </p:sp>
      <p:sp>
        <p:nvSpPr>
          <p:cNvPr id="41" name="Rounded Rectangle 40"/>
          <p:cNvSpPr/>
          <p:nvPr/>
        </p:nvSpPr>
        <p:spPr>
          <a:xfrm>
            <a:off x="8183879" y="2926080"/>
            <a:ext cx="3456432" cy="3200400"/>
          </a:xfrm>
          <a:prstGeom prst="roundRect">
            <a:avLst>
              <a:gd name="adj" fmla="val 2000"/>
            </a:avLst>
          </a:prstGeom>
          <a:solidFill>
            <a:srgbClr val="FFFFFF"/>
          </a:solidFill>
          <a:ln w="12700">
            <a:solidFill>
              <a:srgbClr val="6B7785"/>
            </a:solidFill>
            <a:prstDash val="dash"/>
          </a:ln>
        </p:spPr>
        <p:txBody>
          <a:bodyPr rtlCol="0" anchor="ctr"/>
          <a:lstStyle/>
          <a:p>
            <a:pPr algn="ctr"/>
            <a:endParaRPr/>
          </a:p>
        </p:txBody>
      </p:sp>
      <p:sp>
        <p:nvSpPr>
          <p:cNvPr id="42" name="TextBox 41"/>
          <p:cNvSpPr txBox="1"/>
          <p:nvPr/>
        </p:nvSpPr>
        <p:spPr>
          <a:xfrm>
            <a:off x="8366760" y="3035808"/>
            <a:ext cx="3108960" cy="201168"/>
          </a:xfrm>
          <a:prstGeom prst="rect">
            <a:avLst/>
          </a:prstGeom>
          <a:noFill/>
        </p:spPr>
        <p:txBody>
          <a:bodyPr wrap="square" lIns="0" tIns="0" rIns="0" bIns="0" anchor="t">
            <a:spAutoFit/>
          </a:bodyPr>
          <a:lstStyle/>
          <a:p>
            <a:pPr algn="l">
              <a:lnSpc>
                <a:spcPct val="100000"/>
              </a:lnSpc>
            </a:pPr>
            <a:r>
              <a:rPr sz="1050" b="1" i="0">
                <a:solidFill>
                  <a:srgbClr val="6B7785"/>
                </a:solidFill>
                <a:latin typeface="Calibri"/>
              </a:rPr>
              <a:t>PROPOSED, NOT CLAIMED</a:t>
            </a:r>
          </a:p>
        </p:txBody>
      </p:sp>
      <p:sp>
        <p:nvSpPr>
          <p:cNvPr id="43" name="TextBox 42"/>
          <p:cNvSpPr txBox="1"/>
          <p:nvPr/>
        </p:nvSpPr>
        <p:spPr>
          <a:xfrm>
            <a:off x="8366760" y="3310128"/>
            <a:ext cx="3154680" cy="283464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100" b="0" i="0">
                <a:solidFill>
                  <a:srgbClr val="1F2933"/>
                </a:solidFill>
                <a:latin typeface="Calibri"/>
              </a:rPr>
              <a:t>Game measures as inputs to Models A and B: needs clinician-labelled game sessions</a:t>
            </a:r>
          </a:p>
          <a:p>
            <a:pPr marL="155448" indent="-155448" algn="l">
              <a:lnSpc>
                <a:spcPct val="100000"/>
              </a:lnSpc>
              <a:spcBef>
                <a:spcPts val="400"/>
              </a:spcBef>
              <a:buClr>
                <a:srgbClr val="1F3A5F"/>
              </a:buClr>
              <a:buFont typeface="Arial"/>
              <a:buChar char="•"/>
            </a:pPr>
            <a:r>
              <a:rPr sz="1100" b="0" i="0">
                <a:solidFill>
                  <a:srgbClr val="1F2933"/>
                </a:solidFill>
                <a:latin typeface="Calibri"/>
              </a:rPr>
              <a:t>Personal PK/PD fitted to real patients: today it uses published population values</a:t>
            </a:r>
          </a:p>
          <a:p>
            <a:pPr marL="155448" indent="-155448" algn="l">
              <a:lnSpc>
                <a:spcPct val="100000"/>
              </a:lnSpc>
              <a:spcBef>
                <a:spcPts val="400"/>
              </a:spcBef>
              <a:buClr>
                <a:srgbClr val="1F3A5F"/>
              </a:buClr>
              <a:buFont typeface="Arial"/>
              <a:buChar char="•"/>
            </a:pPr>
            <a:r>
              <a:rPr sz="1100" b="0" i="0">
                <a:solidFill>
                  <a:srgbClr val="1F2933"/>
                </a:solidFill>
                <a:latin typeface="Calibri"/>
              </a:rPr>
              <a:t>A validated, predictive twin of an individual</a:t>
            </a:r>
          </a:p>
          <a:p>
            <a:pPr marL="155448" indent="-155448" algn="l">
              <a:lnSpc>
                <a:spcPct val="100000"/>
              </a:lnSpc>
              <a:spcBef>
                <a:spcPts val="400"/>
              </a:spcBef>
              <a:buClr>
                <a:srgbClr val="1F3A5F"/>
              </a:buClr>
              <a:buFont typeface="Arial"/>
              <a:buChar char="•"/>
            </a:pPr>
            <a:r>
              <a:rPr sz="1100" b="0" i="0">
                <a:solidFill>
                  <a:srgbClr val="1F2933"/>
                </a:solidFill>
                <a:latin typeface="Calibri"/>
              </a:rPr>
              <a:t>Model B accuracy reflects the simulator, not clinical accuracy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Clinical dashboard and assessment outputs</a:t>
            </a:r>
          </a:p>
        </p:txBody>
      </p:sp>
      <p:cxnSp>
        <p:nvCxnSpPr>
          <p:cNvPr id="3" name="Connector 2"/>
          <p:cNvCxnSpPr/>
          <p:nvPr/>
        </p:nvCxnSpPr>
        <p:spPr>
          <a:xfrm>
            <a:off x="548640" y="1207008"/>
            <a:ext cx="11091672" cy="0"/>
          </a:xfrm>
          <a:prstGeom prst="line">
            <a:avLst/>
          </a:prstGeom>
          <a:ln w="9525">
            <a:solidFill>
              <a:srgbClr val="C9D0D8"/>
            </a:solidFill>
          </a:ln>
        </p:spPr>
      </p:cxnSp>
      <p:sp>
        <p:nvSpPr>
          <p:cNvPr id="5" name="TextBox 4"/>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8 / 10</a:t>
            </a:r>
          </a:p>
        </p:txBody>
      </p:sp>
      <p:sp>
        <p:nvSpPr>
          <p:cNvPr id="6" name="TextBox 5"/>
          <p:cNvSpPr txBox="1"/>
          <p:nvPr/>
        </p:nvSpPr>
        <p:spPr>
          <a:xfrm>
            <a:off x="548640" y="6254496"/>
            <a:ext cx="11064240" cy="201168"/>
          </a:xfrm>
          <a:prstGeom prst="rect">
            <a:avLst/>
          </a:prstGeom>
          <a:noFill/>
        </p:spPr>
        <p:txBody>
          <a:bodyPr wrap="square" lIns="0" tIns="0" rIns="0" bIns="0" anchor="t">
            <a:spAutoFit/>
          </a:bodyPr>
          <a:lstStyle/>
          <a:p>
            <a:pPr algn="l">
              <a:lnSpc>
                <a:spcPct val="100000"/>
              </a:lnSpc>
            </a:pPr>
            <a:r>
              <a:rPr sz="900" b="0" i="0">
                <a:solidFill>
                  <a:srgbClr val="5F6B7A"/>
                </a:solidFill>
                <a:latin typeface="Calibri"/>
              </a:rPr>
              <a:t>Dashboard values are synthetic patient data (Daphnet-anchored twin). Model results come from ParkiScanML/reports; AUC with 95% subject-bootstrap CI.</a:t>
            </a:r>
          </a:p>
        </p:txBody>
      </p:sp>
      <p:pic>
        <p:nvPicPr>
          <p:cNvPr id="7" name="Picture 6" descr="dash_overview_crop.png"/>
          <p:cNvPicPr>
            <a:picLocks noChangeAspect="1"/>
          </p:cNvPicPr>
          <p:nvPr/>
        </p:nvPicPr>
        <p:blipFill>
          <a:blip r:embed="rId3"/>
          <a:stretch>
            <a:fillRect/>
          </a:stretch>
        </p:blipFill>
        <p:spPr>
          <a:xfrm>
            <a:off x="548640" y="1371600"/>
            <a:ext cx="5577840" cy="2917639"/>
          </a:xfrm>
          <a:prstGeom prst="rect">
            <a:avLst/>
          </a:prstGeom>
        </p:spPr>
      </p:pic>
      <p:sp>
        <p:nvSpPr>
          <p:cNvPr id="8" name="Rectangle 7"/>
          <p:cNvSpPr/>
          <p:nvPr/>
        </p:nvSpPr>
        <p:spPr>
          <a:xfrm>
            <a:off x="548640" y="1371600"/>
            <a:ext cx="5577840" cy="2917639"/>
          </a:xfrm>
          <a:prstGeom prst="rect">
            <a:avLst/>
          </a:prstGeom>
          <a:noFill/>
          <a:ln w="15875">
            <a:solidFill>
              <a:srgbClr val="C9D0D8"/>
            </a:solidFill>
          </a:ln>
        </p:spPr>
        <p:txBody>
          <a:bodyPr rtlCol="0" anchor="ctr"/>
          <a:lstStyle/>
          <a:p>
            <a:pPr algn="ctr"/>
            <a:endParaRPr/>
          </a:p>
        </p:txBody>
      </p:sp>
      <p:sp>
        <p:nvSpPr>
          <p:cNvPr id="9" name="TextBox 8"/>
          <p:cNvSpPr txBox="1"/>
          <p:nvPr/>
        </p:nvSpPr>
        <p:spPr>
          <a:xfrm>
            <a:off x="548640" y="4297680"/>
            <a:ext cx="5577840" cy="274320"/>
          </a:xfrm>
          <a:prstGeom prst="rect">
            <a:avLst/>
          </a:prstGeom>
          <a:noFill/>
        </p:spPr>
        <p:txBody>
          <a:bodyPr wrap="square" lIns="0" tIns="0" rIns="0" bIns="0" anchor="t">
            <a:spAutoFit/>
          </a:bodyPr>
          <a:lstStyle/>
          <a:p>
            <a:pPr algn="l">
              <a:lnSpc>
                <a:spcPct val="100000"/>
              </a:lnSpc>
            </a:pPr>
            <a:r>
              <a:rPr sz="900" b="0" i="0">
                <a:solidFill>
                  <a:srgbClr val="8A94A0"/>
                </a:solidFill>
                <a:latin typeface="Calibri"/>
              </a:rPr>
              <a:t>Twin overview: 2-hour freezing risk, alerts with drivers, ON/OFF curve (synthetic patient)</a:t>
            </a:r>
          </a:p>
        </p:txBody>
      </p:sp>
      <p:sp>
        <p:nvSpPr>
          <p:cNvPr id="10" name="TextBox 9"/>
          <p:cNvSpPr txBox="1"/>
          <p:nvPr/>
        </p:nvSpPr>
        <p:spPr>
          <a:xfrm>
            <a:off x="548640" y="4663440"/>
            <a:ext cx="54864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AFTER THE GAME</a:t>
            </a:r>
          </a:p>
        </p:txBody>
      </p:sp>
      <p:sp>
        <p:nvSpPr>
          <p:cNvPr id="11" name="Rounded Rectangle 10"/>
          <p:cNvSpPr/>
          <p:nvPr/>
        </p:nvSpPr>
        <p:spPr>
          <a:xfrm>
            <a:off x="548640" y="4937760"/>
            <a:ext cx="1737360" cy="640080"/>
          </a:xfrm>
          <a:prstGeom prst="roundRect">
            <a:avLst>
              <a:gd name="adj" fmla="val 2000"/>
            </a:avLst>
          </a:prstGeom>
          <a:solidFill>
            <a:srgbClr val="FFFFFF"/>
          </a:solidFill>
          <a:ln w="9525">
            <a:solidFill>
              <a:srgbClr val="C9D0D8"/>
            </a:solidFill>
          </a:ln>
        </p:spPr>
        <p:txBody>
          <a:bodyPr rtlCol="0" anchor="ctr"/>
          <a:lstStyle/>
          <a:p>
            <a:pPr algn="ctr"/>
            <a:endParaRPr/>
          </a:p>
        </p:txBody>
      </p:sp>
      <p:sp>
        <p:nvSpPr>
          <p:cNvPr id="12" name="TextBox 11"/>
          <p:cNvSpPr txBox="1"/>
          <p:nvPr/>
        </p:nvSpPr>
        <p:spPr>
          <a:xfrm>
            <a:off x="594360" y="4965192"/>
            <a:ext cx="1645920" cy="274320"/>
          </a:xfrm>
          <a:prstGeom prst="rect">
            <a:avLst/>
          </a:prstGeom>
          <a:noFill/>
        </p:spPr>
        <p:txBody>
          <a:bodyPr wrap="square" lIns="0" tIns="0" rIns="0" bIns="0" anchor="t">
            <a:spAutoFit/>
          </a:bodyPr>
          <a:lstStyle/>
          <a:p>
            <a:pPr algn="ctr">
              <a:lnSpc>
                <a:spcPct val="100000"/>
              </a:lnSpc>
            </a:pPr>
            <a:r>
              <a:rPr sz="1000" b="1" i="0">
                <a:solidFill>
                  <a:srgbClr val="1F2933"/>
                </a:solidFill>
                <a:latin typeface="Calibri"/>
              </a:rPr>
              <a:t>Level 3 twin report</a:t>
            </a:r>
          </a:p>
        </p:txBody>
      </p:sp>
      <p:sp>
        <p:nvSpPr>
          <p:cNvPr id="13" name="TextBox 12"/>
          <p:cNvSpPr txBox="1"/>
          <p:nvPr/>
        </p:nvSpPr>
        <p:spPr>
          <a:xfrm>
            <a:off x="594360" y="5239512"/>
            <a:ext cx="1645920" cy="274320"/>
          </a:xfrm>
          <a:prstGeom prst="rect">
            <a:avLst/>
          </a:prstGeom>
          <a:noFill/>
        </p:spPr>
        <p:txBody>
          <a:bodyPr wrap="square" lIns="0" tIns="0" rIns="0" bIns="0" anchor="t">
            <a:spAutoFit/>
          </a:bodyPr>
          <a:lstStyle/>
          <a:p>
            <a:pPr algn="ctr">
              <a:lnSpc>
                <a:spcPct val="100000"/>
              </a:lnSpc>
            </a:pPr>
            <a:r>
              <a:rPr sz="900" b="0" i="0">
                <a:solidFill>
                  <a:srgbClr val="5F6B7A"/>
                </a:solidFill>
                <a:latin typeface="Calibri"/>
              </a:rPr>
              <a:t>6 charts · session syncs</a:t>
            </a:r>
          </a:p>
        </p:txBody>
      </p:sp>
      <p:cxnSp>
        <p:nvCxnSpPr>
          <p:cNvPr id="14" name="Connector 13"/>
          <p:cNvCxnSpPr/>
          <p:nvPr/>
        </p:nvCxnSpPr>
        <p:spPr>
          <a:xfrm>
            <a:off x="2286000" y="5257800"/>
            <a:ext cx="155448" cy="0"/>
          </a:xfrm>
          <a:prstGeom prst="line">
            <a:avLst/>
          </a:prstGeom>
          <a:ln w="12700">
            <a:solidFill>
              <a:srgbClr val="1F3A5F"/>
            </a:solidFill>
            <a:tailEnd type="triangle" w="med" len="med"/>
          </a:ln>
        </p:spPr>
      </p:cxnSp>
      <p:sp>
        <p:nvSpPr>
          <p:cNvPr id="15" name="Rounded Rectangle 14"/>
          <p:cNvSpPr/>
          <p:nvPr/>
        </p:nvSpPr>
        <p:spPr>
          <a:xfrm>
            <a:off x="2441448" y="4937760"/>
            <a:ext cx="1737360" cy="640080"/>
          </a:xfrm>
          <a:prstGeom prst="roundRect">
            <a:avLst>
              <a:gd name="adj" fmla="val 2000"/>
            </a:avLst>
          </a:prstGeom>
          <a:solidFill>
            <a:srgbClr val="FFFFFF"/>
          </a:solidFill>
          <a:ln w="15875">
            <a:solidFill>
              <a:srgbClr val="1F3A5F"/>
            </a:solidFill>
          </a:ln>
        </p:spPr>
        <p:txBody>
          <a:bodyPr rtlCol="0" anchor="ctr"/>
          <a:lstStyle/>
          <a:p>
            <a:pPr algn="ctr"/>
            <a:endParaRPr/>
          </a:p>
        </p:txBody>
      </p:sp>
      <p:sp>
        <p:nvSpPr>
          <p:cNvPr id="16" name="TextBox 15"/>
          <p:cNvSpPr txBox="1"/>
          <p:nvPr/>
        </p:nvSpPr>
        <p:spPr>
          <a:xfrm>
            <a:off x="2487168" y="4965192"/>
            <a:ext cx="1645920" cy="274320"/>
          </a:xfrm>
          <a:prstGeom prst="rect">
            <a:avLst/>
          </a:prstGeom>
          <a:noFill/>
        </p:spPr>
        <p:txBody>
          <a:bodyPr wrap="square" lIns="0" tIns="0" rIns="0" bIns="0" anchor="t">
            <a:spAutoFit/>
          </a:bodyPr>
          <a:lstStyle/>
          <a:p>
            <a:pPr algn="ctr">
              <a:lnSpc>
                <a:spcPct val="100000"/>
              </a:lnSpc>
            </a:pPr>
            <a:r>
              <a:rPr sz="1000" b="1" i="0">
                <a:solidFill>
                  <a:srgbClr val="1F3A5F"/>
                </a:solidFill>
                <a:latin typeface="Calibri"/>
              </a:rPr>
              <a:t>OPEN CLINICIAN</a:t>
            </a:r>
          </a:p>
        </p:txBody>
      </p:sp>
      <p:sp>
        <p:nvSpPr>
          <p:cNvPr id="17" name="TextBox 16"/>
          <p:cNvSpPr txBox="1"/>
          <p:nvPr/>
        </p:nvSpPr>
        <p:spPr>
          <a:xfrm>
            <a:off x="2487168" y="5239512"/>
            <a:ext cx="1645920" cy="274320"/>
          </a:xfrm>
          <a:prstGeom prst="rect">
            <a:avLst/>
          </a:prstGeom>
          <a:noFill/>
        </p:spPr>
        <p:txBody>
          <a:bodyPr wrap="square" lIns="0" tIns="0" rIns="0" bIns="0" anchor="t">
            <a:spAutoFit/>
          </a:bodyPr>
          <a:lstStyle/>
          <a:p>
            <a:pPr algn="ctr">
              <a:lnSpc>
                <a:spcPct val="100000"/>
              </a:lnSpc>
            </a:pPr>
            <a:r>
              <a:rPr sz="900" b="0" i="0">
                <a:solidFill>
                  <a:srgbClr val="5F6B7A"/>
                </a:solidFill>
                <a:latin typeface="Calibri"/>
              </a:rPr>
              <a:t>DASHBOARD button</a:t>
            </a:r>
          </a:p>
        </p:txBody>
      </p:sp>
      <p:cxnSp>
        <p:nvCxnSpPr>
          <p:cNvPr id="18" name="Connector 17"/>
          <p:cNvCxnSpPr/>
          <p:nvPr/>
        </p:nvCxnSpPr>
        <p:spPr>
          <a:xfrm>
            <a:off x="4178808" y="5257800"/>
            <a:ext cx="155448" cy="0"/>
          </a:xfrm>
          <a:prstGeom prst="line">
            <a:avLst/>
          </a:prstGeom>
          <a:ln w="12700">
            <a:solidFill>
              <a:srgbClr val="1F3A5F"/>
            </a:solidFill>
            <a:tailEnd type="triangle" w="med" len="med"/>
          </a:ln>
        </p:spPr>
      </p:cxnSp>
      <p:sp>
        <p:nvSpPr>
          <p:cNvPr id="19" name="Rounded Rectangle 18"/>
          <p:cNvSpPr/>
          <p:nvPr/>
        </p:nvSpPr>
        <p:spPr>
          <a:xfrm>
            <a:off x="4334255" y="4937760"/>
            <a:ext cx="1737360" cy="640080"/>
          </a:xfrm>
          <a:prstGeom prst="roundRect">
            <a:avLst>
              <a:gd name="adj" fmla="val 2000"/>
            </a:avLst>
          </a:prstGeom>
          <a:solidFill>
            <a:srgbClr val="FFFFFF"/>
          </a:solidFill>
          <a:ln w="9525">
            <a:solidFill>
              <a:srgbClr val="C9D0D8"/>
            </a:solidFill>
          </a:ln>
        </p:spPr>
        <p:txBody>
          <a:bodyPr rtlCol="0" anchor="ctr"/>
          <a:lstStyle/>
          <a:p>
            <a:pPr algn="ctr"/>
            <a:endParaRPr/>
          </a:p>
        </p:txBody>
      </p:sp>
      <p:sp>
        <p:nvSpPr>
          <p:cNvPr id="20" name="TextBox 19"/>
          <p:cNvSpPr txBox="1"/>
          <p:nvPr/>
        </p:nvSpPr>
        <p:spPr>
          <a:xfrm>
            <a:off x="4379975" y="4965192"/>
            <a:ext cx="1645920" cy="274320"/>
          </a:xfrm>
          <a:prstGeom prst="rect">
            <a:avLst/>
          </a:prstGeom>
          <a:noFill/>
        </p:spPr>
        <p:txBody>
          <a:bodyPr wrap="square" lIns="0" tIns="0" rIns="0" bIns="0" anchor="t">
            <a:spAutoFit/>
          </a:bodyPr>
          <a:lstStyle/>
          <a:p>
            <a:pPr algn="ctr">
              <a:lnSpc>
                <a:spcPct val="100000"/>
              </a:lnSpc>
            </a:pPr>
            <a:r>
              <a:rPr sz="1000" b="1" i="0">
                <a:solidFill>
                  <a:srgbClr val="1F2933"/>
                </a:solidFill>
                <a:latin typeface="Calibri"/>
              </a:rPr>
              <a:t>Opens on the</a:t>
            </a:r>
          </a:p>
        </p:txBody>
      </p:sp>
      <p:sp>
        <p:nvSpPr>
          <p:cNvPr id="21" name="TextBox 20"/>
          <p:cNvSpPr txBox="1"/>
          <p:nvPr/>
        </p:nvSpPr>
        <p:spPr>
          <a:xfrm>
            <a:off x="4379975" y="5239512"/>
            <a:ext cx="1645920" cy="274320"/>
          </a:xfrm>
          <a:prstGeom prst="rect">
            <a:avLst/>
          </a:prstGeom>
          <a:noFill/>
        </p:spPr>
        <p:txBody>
          <a:bodyPr wrap="square" lIns="0" tIns="0" rIns="0" bIns="0" anchor="t">
            <a:spAutoFit/>
          </a:bodyPr>
          <a:lstStyle/>
          <a:p>
            <a:pPr algn="ctr">
              <a:lnSpc>
                <a:spcPct val="100000"/>
              </a:lnSpc>
            </a:pPr>
            <a:r>
              <a:rPr sz="900" b="0" i="0">
                <a:solidFill>
                  <a:srgbClr val="5F6B7A"/>
                </a:solidFill>
                <a:latin typeface="Calibri"/>
              </a:rPr>
              <a:t>player’s own twin</a:t>
            </a:r>
          </a:p>
        </p:txBody>
      </p:sp>
      <p:sp>
        <p:nvSpPr>
          <p:cNvPr id="22" name="TextBox 21"/>
          <p:cNvSpPr txBox="1"/>
          <p:nvPr/>
        </p:nvSpPr>
        <p:spPr>
          <a:xfrm>
            <a:off x="548640" y="5687568"/>
            <a:ext cx="5577840" cy="50292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Also F2 anywhere, and CLINICIAN DASHBOARD on the title screen, Three Lands and pause menu. Live from the twin service; otherwise an offline snapshot. Tabs: overview, what-if, sensor replay, game sessions, record, model card.</a:t>
            </a:r>
          </a:p>
        </p:txBody>
      </p:sp>
      <p:graphicFrame>
        <p:nvGraphicFramePr>
          <p:cNvPr id="23" name="Table 22"/>
          <p:cNvGraphicFramePr>
            <a:graphicFrameLocks noGrp="1"/>
          </p:cNvGraphicFramePr>
          <p:nvPr/>
        </p:nvGraphicFramePr>
        <p:xfrm>
          <a:off x="6355080" y="1371600"/>
          <a:ext cx="5285232" cy="3291840"/>
        </p:xfrm>
        <a:graphic>
          <a:graphicData uri="http://schemas.openxmlformats.org/drawingml/2006/table">
            <a:tbl>
              <a:tblPr/>
              <a:tblGrid>
                <a:gridCol w="137160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1078992">
                  <a:extLst>
                    <a:ext uri="{9D8B030D-6E8A-4147-A177-3AD203B41FA5}">
                      <a16:colId xmlns:a16="http://schemas.microsoft.com/office/drawing/2014/main" val="20002"/>
                    </a:ext>
                  </a:extLst>
                </a:gridCol>
              </a:tblGrid>
              <a:tr h="365760">
                <a:tc>
                  <a:txBody>
                    <a:bodyPr/>
                    <a:lstStyle/>
                    <a:p>
                      <a:r>
                        <a:rPr sz="850" b="1" i="0">
                          <a:solidFill>
                            <a:srgbClr val="1F3A5F"/>
                          </a:solidFill>
                          <a:latin typeface="Calibri"/>
                        </a:rPr>
                        <a:t>Domain</a:t>
                      </a:r>
                    </a:p>
                  </a:txBody>
                  <a:tcPr marL="64008" marR="64008" marT="27432" marB="27432" anchor="ctr">
                    <a:lnL w="0">
                      <a:noFill/>
                    </a:lnL>
                    <a:lnR w="0">
                      <a:noFill/>
                    </a:lnR>
                    <a:lnT w="0">
                      <a:noFill/>
                    </a:lnT>
                    <a:lnB w="12700">
                      <a:solidFill>
                        <a:srgbClr val="1F3A5F"/>
                      </a:solidFill>
                    </a:lnB>
                    <a:noFill/>
                  </a:tcPr>
                </a:tc>
                <a:tc>
                  <a:txBody>
                    <a:bodyPr/>
                    <a:lstStyle/>
                    <a:p>
                      <a:r>
                        <a:rPr sz="850" b="1" i="0">
                          <a:solidFill>
                            <a:srgbClr val="1F3A5F"/>
                          </a:solidFill>
                          <a:latin typeface="Calibri"/>
                        </a:rPr>
                        <a:t>What the clinician sees</a:t>
                      </a:r>
                    </a:p>
                  </a:txBody>
                  <a:tcPr marL="64008" marR="64008" marT="27432" marB="27432" anchor="ctr">
                    <a:lnL w="0">
                      <a:noFill/>
                    </a:lnL>
                    <a:lnR w="0">
                      <a:noFill/>
                    </a:lnR>
                    <a:lnT w="0">
                      <a:noFill/>
                    </a:lnT>
                    <a:lnB w="12700">
                      <a:solidFill>
                        <a:srgbClr val="1F3A5F"/>
                      </a:solidFill>
                    </a:lnB>
                    <a:noFill/>
                  </a:tcPr>
                </a:tc>
                <a:tc>
                  <a:txBody>
                    <a:bodyPr/>
                    <a:lstStyle/>
                    <a:p>
                      <a:r>
                        <a:rPr sz="850" b="1" i="0">
                          <a:solidFill>
                            <a:srgbClr val="1F3A5F"/>
                          </a:solidFill>
                          <a:latin typeface="Calibri"/>
                        </a:rPr>
                        <a:t>Source</a:t>
                      </a:r>
                    </a:p>
                  </a:txBody>
                  <a:tcPr marL="64008" marR="64008" marT="27432" marB="27432" anchor="ctr">
                    <a:lnL w="0">
                      <a:noFill/>
                    </a:lnL>
                    <a:lnR w="0">
                      <a:noFill/>
                    </a:lnR>
                    <a:lnT w="0">
                      <a:noFill/>
                    </a:lnT>
                    <a:lnB w="12700">
                      <a:solidFill>
                        <a:srgbClr val="1F3A5F"/>
                      </a:solidFill>
                    </a:lnB>
                    <a:noFill/>
                  </a:tcPr>
                </a:tc>
                <a:extLst>
                  <a:ext uri="{0D108BD9-81ED-4DB2-BD59-A6C34878D82A}">
                    <a16:rowId xmlns:a16="http://schemas.microsoft.com/office/drawing/2014/main" val="10000"/>
                  </a:ext>
                </a:extLst>
              </a:tr>
              <a:tr h="365760">
                <a:tc>
                  <a:txBody>
                    <a:bodyPr/>
                    <a:lstStyle/>
                    <a:p>
                      <a:r>
                        <a:rPr sz="950" b="1" i="0">
                          <a:solidFill>
                            <a:srgbClr val="1F2933"/>
                          </a:solidFill>
                          <a:latin typeface="Calibri"/>
                        </a:rPr>
                        <a:t>Voice</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Sustained vowel, pa-ta-ka, rhythm, speech rate</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Mic · game</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1"/>
                  </a:ext>
                </a:extLst>
              </a:tr>
              <a:tr h="365760">
                <a:tc>
                  <a:txBody>
                    <a:bodyPr/>
                    <a:lstStyle/>
                    <a:p>
                      <a:r>
                        <a:rPr sz="950" b="1" i="0">
                          <a:solidFill>
                            <a:srgbClr val="1F2933"/>
                          </a:solidFill>
                          <a:latin typeface="Calibri"/>
                        </a:rPr>
                        <a:t>Visual tracking</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On-target %, error, re-acquisition, reaction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Webcam · game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2"/>
                  </a:ext>
                </a:extLst>
              </a:tr>
              <a:tr h="365760">
                <a:tc>
                  <a:txBody>
                    <a:bodyPr/>
                    <a:lstStyle/>
                    <a:p>
                      <a:r>
                        <a:rPr sz="950" b="1" i="0">
                          <a:solidFill>
                            <a:srgbClr val="1F2933"/>
                          </a:solidFill>
                          <a:latin typeface="Calibri"/>
                        </a:rPr>
                        <a:t>Spiral / fine motor</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Radial deviation, tremor-band proxy, smoothness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Game · wrist IMU*</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3"/>
                  </a:ext>
                </a:extLst>
              </a:tr>
              <a:tr h="365760">
                <a:tc>
                  <a:txBody>
                    <a:bodyPr/>
                    <a:lstStyle/>
                    <a:p>
                      <a:r>
                        <a:rPr sz="950" b="1" i="0">
                          <a:solidFill>
                            <a:srgbClr val="1F2933"/>
                          </a:solidFill>
                          <a:latin typeface="Calibri"/>
                        </a:rPr>
                        <a:t>Cognition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Accuracy and response time per task</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Game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4"/>
                  </a:ext>
                </a:extLst>
              </a:tr>
              <a:tr h="365760">
                <a:tc>
                  <a:txBody>
                    <a:bodyPr/>
                    <a:lstStyle/>
                    <a:p>
                      <a:r>
                        <a:rPr sz="950" b="1" i="0">
                          <a:solidFill>
                            <a:srgbClr val="1F2933"/>
                          </a:solidFill>
                          <a:latin typeface="Calibri"/>
                        </a:rPr>
                        <a:t>Pose and movement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Peak arm elevation, left vs right arm, pose similarity</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Webcam</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5"/>
                  </a:ext>
                </a:extLst>
              </a:tr>
              <a:tr h="365760">
                <a:tc>
                  <a:txBody>
                    <a:bodyPr/>
                    <a:lstStyle/>
                    <a:p>
                      <a:r>
                        <a:rPr sz="950" b="1" i="0">
                          <a:solidFill>
                            <a:srgbClr val="1F2933"/>
                          </a:solidFill>
                          <a:latin typeface="Calibri"/>
                        </a:rPr>
                        <a:t>Gait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Cadence, step variability and alternation, stop/go latency; freeze alerts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Webcam · ankle IMU*</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6"/>
                  </a:ext>
                </a:extLst>
              </a:tr>
              <a:tr h="365760">
                <a:tc>
                  <a:txBody>
                    <a:bodyPr/>
                    <a:lstStyle/>
                    <a:p>
                      <a:r>
                        <a:rPr sz="950" b="1" i="0">
                          <a:solidFill>
                            <a:srgbClr val="1F2933"/>
                          </a:solidFill>
                          <a:latin typeface="Calibri"/>
                        </a:rPr>
                        <a:t>Questionnaire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Six domains, as reported, never scored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Game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7"/>
                  </a:ext>
                </a:extLst>
              </a:tr>
              <a:tr h="365760">
                <a:tc>
                  <a:txBody>
                    <a:bodyPr/>
                    <a:lstStyle/>
                    <a:p>
                      <a:r>
                        <a:rPr sz="950" b="1" i="0">
                          <a:solidFill>
                            <a:srgbClr val="1F2933"/>
                          </a:solidFill>
                          <a:latin typeface="Calibri"/>
                        </a:rPr>
                        <a:t>Trend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Game sessions listed per patient, beside the ON/OFF curve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950" b="0" i="0">
                          <a:solidFill>
                            <a:srgbClr val="1F2933"/>
                          </a:solidFill>
                          <a:latin typeface="Calibri"/>
                        </a:rPr>
                        <a:t>Twin record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8"/>
                  </a:ext>
                </a:extLst>
              </a:tr>
            </a:tbl>
          </a:graphicData>
        </a:graphic>
      </p:graphicFrame>
      <p:sp>
        <p:nvSpPr>
          <p:cNvPr id="24" name="TextBox 23"/>
          <p:cNvSpPr txBox="1"/>
          <p:nvPr/>
        </p:nvSpPr>
        <p:spPr>
          <a:xfrm>
            <a:off x="6355080" y="4709160"/>
            <a:ext cx="5285232" cy="228600"/>
          </a:xfrm>
          <a:prstGeom prst="rect">
            <a:avLst/>
          </a:prstGeom>
          <a:noFill/>
        </p:spPr>
        <p:txBody>
          <a:bodyPr wrap="square" lIns="0" tIns="0" rIns="0" bIns="0" anchor="t">
            <a:spAutoFit/>
          </a:bodyPr>
          <a:lstStyle/>
          <a:p>
            <a:pPr algn="l">
              <a:lnSpc>
                <a:spcPct val="100000"/>
              </a:lnSpc>
            </a:pPr>
            <a:r>
              <a:rPr sz="900" b="0" i="0">
                <a:solidFill>
                  <a:srgbClr val="8A94A0"/>
                </a:solidFill>
                <a:latin typeface="Calibri"/>
              </a:rPr>
              <a:t>* when the wearable is connected</a:t>
            </a:r>
          </a:p>
        </p:txBody>
      </p:sp>
      <p:sp>
        <p:nvSpPr>
          <p:cNvPr id="25" name="Rounded Rectangle 24"/>
          <p:cNvSpPr/>
          <p:nvPr/>
        </p:nvSpPr>
        <p:spPr>
          <a:xfrm>
            <a:off x="6355080" y="5029200"/>
            <a:ext cx="5285232" cy="1097280"/>
          </a:xfrm>
          <a:prstGeom prst="roundRect">
            <a:avLst>
              <a:gd name="adj" fmla="val 2000"/>
            </a:avLst>
          </a:prstGeom>
          <a:solidFill>
            <a:srgbClr val="F3F5F7"/>
          </a:solidFill>
          <a:ln w="9525">
            <a:solidFill>
              <a:srgbClr val="1F3A5F"/>
            </a:solidFill>
          </a:ln>
        </p:spPr>
        <p:txBody>
          <a:bodyPr rtlCol="0" anchor="ctr"/>
          <a:lstStyle/>
          <a:p>
            <a:pPr algn="ctr"/>
            <a:endParaRPr/>
          </a:p>
        </p:txBody>
      </p:sp>
      <p:sp>
        <p:nvSpPr>
          <p:cNvPr id="26" name="TextBox 25"/>
          <p:cNvSpPr txBox="1"/>
          <p:nvPr/>
        </p:nvSpPr>
        <p:spPr>
          <a:xfrm>
            <a:off x="6537960" y="5074920"/>
            <a:ext cx="4937760" cy="1005840"/>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How it fits together  </a:t>
            </a:r>
          </a:p>
          <a:p>
            <a:pPr algn="l">
              <a:lnSpc>
                <a:spcPct val="100000"/>
              </a:lnSpc>
              <a:spcBef>
                <a:spcPts val="200"/>
              </a:spcBef>
            </a:pPr>
            <a:r>
              <a:rPr sz="1000" b="0" i="0">
                <a:solidFill>
                  <a:srgbClr val="1F2933"/>
                </a:solidFill>
                <a:latin typeface="Calibri"/>
              </a:rPr>
              <a:t>Game metrics and the questionnaire are stored on the twin and shown beside the levodopa ON/OFF curve. The clinician reads them together with the risk forecast; they do not yet feed the models. </a:t>
            </a:r>
            <a:r>
              <a:rPr sz="1000" b="0" i="0">
                <a:solidFill>
                  <a:srgbClr val="5F6B7A"/>
                </a:solidFill>
                <a:latin typeface="Calibri"/>
              </a:rPr>
              <a:t>Model A warns 62% (148/237) freezes with a 4.6 s median lead.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Home use: assessment today, rehabilitation as an extension</a:t>
            </a:r>
          </a:p>
        </p:txBody>
      </p:sp>
      <p:cxnSp>
        <p:nvCxnSpPr>
          <p:cNvPr id="3" name="Connector 2"/>
          <p:cNvCxnSpPr/>
          <p:nvPr/>
        </p:nvCxnSpPr>
        <p:spPr>
          <a:xfrm>
            <a:off x="548640" y="1207008"/>
            <a:ext cx="11091672" cy="0"/>
          </a:xfrm>
          <a:prstGeom prst="line">
            <a:avLst/>
          </a:prstGeom>
          <a:ln w="9525">
            <a:solidFill>
              <a:srgbClr val="C9D0D8"/>
            </a:solidFill>
          </a:ln>
        </p:spPr>
      </p:cxnSp>
      <p:sp>
        <p:nvSpPr>
          <p:cNvPr id="5" name="TextBox 4"/>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9 / 10</a:t>
            </a:r>
          </a:p>
        </p:txBody>
      </p:sp>
      <p:sp>
        <p:nvSpPr>
          <p:cNvPr id="6" name="TextBox 5"/>
          <p:cNvSpPr txBox="1"/>
          <p:nvPr/>
        </p:nvSpPr>
        <p:spPr>
          <a:xfrm>
            <a:off x="548640" y="6254496"/>
            <a:ext cx="11064240" cy="201168"/>
          </a:xfrm>
          <a:prstGeom prst="rect">
            <a:avLst/>
          </a:prstGeom>
          <a:noFill/>
        </p:spPr>
        <p:txBody>
          <a:bodyPr wrap="square" lIns="0" tIns="0" rIns="0" bIns="0" anchor="t">
            <a:spAutoFit/>
          </a:bodyPr>
          <a:lstStyle/>
          <a:p>
            <a:pPr algn="l">
              <a:lnSpc>
                <a:spcPct val="100000"/>
              </a:lnSpc>
            </a:pPr>
            <a:r>
              <a:rPr sz="900" b="0" i="0">
                <a:solidFill>
                  <a:srgbClr val="5F6B7A"/>
                </a:solidFill>
                <a:latin typeface="Calibri"/>
              </a:rPr>
              <a:t>[4] Dockx 2016 · [5] Garcia-Agundez 2019 · [12] Ghai 2018 (rhythmic auditory cueing meta-analysis) · Evidence is for serious games in general, not for Neuroverse.</a:t>
            </a:r>
          </a:p>
        </p:txBody>
      </p:sp>
      <p:sp>
        <p:nvSpPr>
          <p:cNvPr id="7" name="Rounded Rectangle 6"/>
          <p:cNvSpPr/>
          <p:nvPr/>
        </p:nvSpPr>
        <p:spPr>
          <a:xfrm>
            <a:off x="548640" y="1371600"/>
            <a:ext cx="5394960" cy="2011680"/>
          </a:xfrm>
          <a:prstGeom prst="roundRect">
            <a:avLst>
              <a:gd name="adj" fmla="val 2000"/>
            </a:avLst>
          </a:prstGeom>
          <a:solidFill>
            <a:srgbClr val="FFFFFF"/>
          </a:solidFill>
          <a:ln w="15875">
            <a:solidFill>
              <a:srgbClr val="1F3A5F"/>
            </a:solidFill>
          </a:ln>
        </p:spPr>
        <p:txBody>
          <a:bodyPr rtlCol="0" anchor="ctr"/>
          <a:lstStyle/>
          <a:p>
            <a:pPr algn="ctr"/>
            <a:endParaRPr/>
          </a:p>
        </p:txBody>
      </p:sp>
      <p:sp>
        <p:nvSpPr>
          <p:cNvPr id="8" name="TextBox 7"/>
          <p:cNvSpPr txBox="1"/>
          <p:nvPr/>
        </p:nvSpPr>
        <p:spPr>
          <a:xfrm>
            <a:off x="731520" y="1481328"/>
            <a:ext cx="50292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TRACK 1 · ASSESSMENT AND MONITORING (BUILT)</a:t>
            </a:r>
          </a:p>
        </p:txBody>
      </p:sp>
      <p:sp>
        <p:nvSpPr>
          <p:cNvPr id="9" name="TextBox 8"/>
          <p:cNvSpPr txBox="1"/>
          <p:nvPr/>
        </p:nvSpPr>
        <p:spPr>
          <a:xfrm>
            <a:off x="731520" y="1755648"/>
            <a:ext cx="5029200" cy="160020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250" b="0" i="0">
                <a:solidFill>
                  <a:srgbClr val="1F2933"/>
                </a:solidFill>
                <a:latin typeface="Calibri"/>
              </a:rPr>
              <a:t>Anyone can play; the output is measures and flags, never a diagnosis.</a:t>
            </a:r>
          </a:p>
          <a:p>
            <a:pPr marL="155448" indent="-155448" algn="l">
              <a:lnSpc>
                <a:spcPct val="100000"/>
              </a:lnSpc>
              <a:spcBef>
                <a:spcPts val="400"/>
              </a:spcBef>
              <a:buClr>
                <a:srgbClr val="1F3A5F"/>
              </a:buClr>
              <a:buFont typeface="Arial"/>
              <a:buChar char="•"/>
            </a:pPr>
            <a:r>
              <a:rPr sz="1250" b="0" i="0">
                <a:solidFill>
                  <a:srgbClr val="1F2933"/>
                </a:solidFill>
                <a:latin typeface="Calibri"/>
              </a:rPr>
              <a:t>Short sessions, seated mode for Level 3, large targets, skip on every task.</a:t>
            </a:r>
          </a:p>
          <a:p>
            <a:pPr marL="155448" indent="-155448" algn="l">
              <a:lnSpc>
                <a:spcPct val="100000"/>
              </a:lnSpc>
              <a:spcBef>
                <a:spcPts val="400"/>
              </a:spcBef>
              <a:buClr>
                <a:srgbClr val="1F3A5F"/>
              </a:buClr>
              <a:buFont typeface="Arial"/>
              <a:buChar char="•"/>
            </a:pPr>
            <a:r>
              <a:rPr sz="1250" b="0" i="0">
                <a:solidFill>
                  <a:srgbClr val="1F2933"/>
                </a:solidFill>
                <a:latin typeface="Calibri"/>
              </a:rPr>
              <a:t>Each session is time-stamped, so measures line up with the medication ON/OFF curve.</a:t>
            </a:r>
          </a:p>
          <a:p>
            <a:pPr marL="155448" indent="-155448" algn="l">
              <a:lnSpc>
                <a:spcPct val="100000"/>
              </a:lnSpc>
              <a:spcBef>
                <a:spcPts val="400"/>
              </a:spcBef>
              <a:buClr>
                <a:srgbClr val="1F3A5F"/>
              </a:buClr>
              <a:buFont typeface="Arial"/>
              <a:buChar char="•"/>
            </a:pPr>
            <a:r>
              <a:rPr sz="1250" b="0" i="0">
                <a:solidFill>
                  <a:srgbClr val="1F2933"/>
                </a:solidFill>
                <a:latin typeface="Calibri"/>
              </a:rPr>
              <a:t>The clinician reviews sessions on the dashboard before the next visit.</a:t>
            </a:r>
          </a:p>
        </p:txBody>
      </p:sp>
      <p:sp>
        <p:nvSpPr>
          <p:cNvPr id="10" name="Rounded Rectangle 9"/>
          <p:cNvSpPr/>
          <p:nvPr/>
        </p:nvSpPr>
        <p:spPr>
          <a:xfrm>
            <a:off x="548640" y="3520440"/>
            <a:ext cx="5394960" cy="2606040"/>
          </a:xfrm>
          <a:prstGeom prst="roundRect">
            <a:avLst>
              <a:gd name="adj" fmla="val 2000"/>
            </a:avLst>
          </a:prstGeom>
          <a:solidFill>
            <a:srgbClr val="FFFFFF"/>
          </a:solidFill>
          <a:ln w="15875">
            <a:solidFill>
              <a:srgbClr val="6B7785"/>
            </a:solidFill>
            <a:prstDash val="dash"/>
          </a:ln>
        </p:spPr>
        <p:txBody>
          <a:bodyPr rtlCol="0" anchor="ctr"/>
          <a:lstStyle/>
          <a:p>
            <a:pPr algn="ctr"/>
            <a:endParaRPr/>
          </a:p>
        </p:txBody>
      </p:sp>
      <p:sp>
        <p:nvSpPr>
          <p:cNvPr id="11" name="TextBox 10"/>
          <p:cNvSpPr txBox="1"/>
          <p:nvPr/>
        </p:nvSpPr>
        <p:spPr>
          <a:xfrm>
            <a:off x="731520" y="3630168"/>
            <a:ext cx="5029200" cy="201168"/>
          </a:xfrm>
          <a:prstGeom prst="rect">
            <a:avLst/>
          </a:prstGeom>
          <a:noFill/>
        </p:spPr>
        <p:txBody>
          <a:bodyPr wrap="square" lIns="0" tIns="0" rIns="0" bIns="0" anchor="t">
            <a:spAutoFit/>
          </a:bodyPr>
          <a:lstStyle/>
          <a:p>
            <a:pPr algn="l">
              <a:lnSpc>
                <a:spcPct val="100000"/>
              </a:lnSpc>
            </a:pPr>
            <a:r>
              <a:rPr sz="1050" b="1" i="0">
                <a:solidFill>
                  <a:srgbClr val="6B7785"/>
                </a:solidFill>
                <a:latin typeface="Calibri"/>
              </a:rPr>
              <a:t>TRACK 2 · REHABILITATION FOR DIAGNOSED USERS (PROPOSED)</a:t>
            </a:r>
          </a:p>
        </p:txBody>
      </p:sp>
      <p:sp>
        <p:nvSpPr>
          <p:cNvPr id="12" name="TextBox 11"/>
          <p:cNvSpPr txBox="1"/>
          <p:nvPr/>
        </p:nvSpPr>
        <p:spPr>
          <a:xfrm>
            <a:off x="731520" y="3904487"/>
            <a:ext cx="5029200" cy="2194560"/>
          </a:xfrm>
          <a:prstGeom prst="rect">
            <a:avLst/>
          </a:prstGeom>
          <a:noFill/>
        </p:spPr>
        <p:txBody>
          <a:bodyPr wrap="square" lIns="0" tIns="0" rIns="0" bIns="0" anchor="t">
            <a:spAutoFit/>
          </a:bodyPr>
          <a:lstStyle/>
          <a:p>
            <a:pPr marL="155448" indent="-155448" algn="l">
              <a:lnSpc>
                <a:spcPct val="100000"/>
              </a:lnSpc>
              <a:buClr>
                <a:srgbClr val="1F3A5F"/>
              </a:buClr>
              <a:buFont typeface="Arial"/>
              <a:buChar char="•"/>
            </a:pPr>
            <a:r>
              <a:rPr sz="1200" b="0" i="0">
                <a:solidFill>
                  <a:srgbClr val="1F2933"/>
                </a:solidFill>
                <a:latin typeface="Calibri"/>
              </a:rPr>
              <a:t>Only for people already diagnosed; activities chosen by their clinician.</a:t>
            </a:r>
          </a:p>
          <a:p>
            <a:pPr marL="155448" indent="-155448" algn="l">
              <a:lnSpc>
                <a:spcPct val="100000"/>
              </a:lnSpc>
              <a:spcBef>
                <a:spcPts val="500"/>
              </a:spcBef>
              <a:buClr>
                <a:srgbClr val="1F3A5F"/>
              </a:buClr>
              <a:buFont typeface="Arial"/>
              <a:buChar char="•"/>
            </a:pPr>
            <a:r>
              <a:rPr sz="1200" b="0" i="0">
                <a:solidFill>
                  <a:srgbClr val="1F2933"/>
                </a:solidFill>
                <a:latin typeface="Calibri"/>
              </a:rPr>
              <a:t>Candidates already in the game: rhythm clapping and cueing, mirrored arm movements, marching on the spot, steering tasks, cognitive and reaction tasks.</a:t>
            </a:r>
          </a:p>
          <a:p>
            <a:pPr marL="155448" indent="-155448" algn="l">
              <a:lnSpc>
                <a:spcPct val="100000"/>
              </a:lnSpc>
              <a:spcBef>
                <a:spcPts val="500"/>
              </a:spcBef>
              <a:buClr>
                <a:srgbClr val="1F3A5F"/>
              </a:buClr>
              <a:buFont typeface="Arial"/>
              <a:buChar char="•"/>
            </a:pPr>
            <a:r>
              <a:rPr sz="1200" b="0" i="0">
                <a:solidFill>
                  <a:srgbClr val="1F2933"/>
                </a:solidFill>
                <a:latin typeface="Calibri"/>
              </a:rPr>
              <a:t>Evidence: VR and exergames in PD are feasible and safe; results are similar to conventional exercise, low certainty [4,5]. Rhythmic cueing improves gait in PD [12].</a:t>
            </a:r>
          </a:p>
          <a:p>
            <a:pPr marL="155448" indent="-155448" algn="l">
              <a:lnSpc>
                <a:spcPct val="100000"/>
              </a:lnSpc>
              <a:spcBef>
                <a:spcPts val="500"/>
              </a:spcBef>
              <a:buClr>
                <a:srgbClr val="1F3A5F"/>
              </a:buClr>
              <a:buFont typeface="Arial"/>
              <a:buChar char="•"/>
            </a:pPr>
            <a:r>
              <a:rPr sz="1200" b="0" i="0">
                <a:solidFill>
                  <a:srgbClr val="1F2933"/>
                </a:solidFill>
                <a:latin typeface="Calibri"/>
              </a:rPr>
              <a:t>No therapeutic claim is made for Neuroverse; it needs its own trial.</a:t>
            </a:r>
          </a:p>
        </p:txBody>
      </p:sp>
      <p:sp>
        <p:nvSpPr>
          <p:cNvPr id="13" name="TextBox 12"/>
          <p:cNvSpPr txBox="1"/>
          <p:nvPr/>
        </p:nvSpPr>
        <p:spPr>
          <a:xfrm>
            <a:off x="6309360" y="1417320"/>
            <a:ext cx="54864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HOME-TO-CLINIC LOOP</a:t>
            </a:r>
          </a:p>
        </p:txBody>
      </p:sp>
      <p:sp>
        <p:nvSpPr>
          <p:cNvPr id="14" name="Rounded Rectangle 13"/>
          <p:cNvSpPr/>
          <p:nvPr/>
        </p:nvSpPr>
        <p:spPr>
          <a:xfrm>
            <a:off x="6309360" y="1737360"/>
            <a:ext cx="5330952" cy="621792"/>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15" name="Oval 14"/>
          <p:cNvSpPr/>
          <p:nvPr/>
        </p:nvSpPr>
        <p:spPr>
          <a:xfrm>
            <a:off x="6400800" y="1883664"/>
            <a:ext cx="329184" cy="329184"/>
          </a:xfrm>
          <a:prstGeom prst="ellipse">
            <a:avLst/>
          </a:prstGeom>
          <a:solidFill>
            <a:srgbClr val="1F3A5F"/>
          </a:solidFill>
          <a:ln>
            <a:noFill/>
          </a:ln>
        </p:spPr>
        <p:txBody>
          <a:bodyPr rtlCol="0" anchor="ctr"/>
          <a:lstStyle/>
          <a:p>
            <a:pPr algn="ctr"/>
            <a:endParaRPr/>
          </a:p>
        </p:txBody>
      </p:sp>
      <p:sp>
        <p:nvSpPr>
          <p:cNvPr id="16" name="TextBox 15"/>
          <p:cNvSpPr txBox="1"/>
          <p:nvPr/>
        </p:nvSpPr>
        <p:spPr>
          <a:xfrm>
            <a:off x="6400800" y="1883664"/>
            <a:ext cx="329184" cy="329184"/>
          </a:xfrm>
          <a:prstGeom prst="rect">
            <a:avLst/>
          </a:prstGeom>
          <a:noFill/>
        </p:spPr>
        <p:txBody>
          <a:bodyPr wrap="square" lIns="0" tIns="0" rIns="0" bIns="0" anchor="ctr">
            <a:spAutoFit/>
          </a:bodyPr>
          <a:lstStyle/>
          <a:p>
            <a:pPr algn="ctr">
              <a:lnSpc>
                <a:spcPct val="100000"/>
              </a:lnSpc>
            </a:pPr>
            <a:r>
              <a:rPr sz="1100" b="1" i="0">
                <a:solidFill>
                  <a:srgbClr val="FFFFFF"/>
                </a:solidFill>
                <a:latin typeface="Calibri"/>
              </a:rPr>
              <a:t>1</a:t>
            </a:r>
          </a:p>
        </p:txBody>
      </p:sp>
      <p:sp>
        <p:nvSpPr>
          <p:cNvPr id="17" name="TextBox 16"/>
          <p:cNvSpPr txBox="1"/>
          <p:nvPr/>
        </p:nvSpPr>
        <p:spPr>
          <a:xfrm>
            <a:off x="6903720" y="1810512"/>
            <a:ext cx="1828800" cy="457200"/>
          </a:xfrm>
          <a:prstGeom prst="rect">
            <a:avLst/>
          </a:prstGeom>
          <a:noFill/>
        </p:spPr>
        <p:txBody>
          <a:bodyPr wrap="square" lIns="0" tIns="0" rIns="0" bIns="0" anchor="ctr">
            <a:spAutoFit/>
          </a:bodyPr>
          <a:lstStyle/>
          <a:p>
            <a:pPr algn="l">
              <a:lnSpc>
                <a:spcPct val="100000"/>
              </a:lnSpc>
            </a:pPr>
            <a:r>
              <a:rPr sz="1200" b="1" i="0">
                <a:solidFill>
                  <a:srgbClr val="1F2933"/>
                </a:solidFill>
                <a:latin typeface="Calibri"/>
              </a:rPr>
              <a:t>Play at home</a:t>
            </a:r>
          </a:p>
        </p:txBody>
      </p:sp>
      <p:sp>
        <p:nvSpPr>
          <p:cNvPr id="18" name="TextBox 17"/>
          <p:cNvSpPr txBox="1"/>
          <p:nvPr/>
        </p:nvSpPr>
        <p:spPr>
          <a:xfrm>
            <a:off x="8641080" y="1810512"/>
            <a:ext cx="2926080" cy="475488"/>
          </a:xfrm>
          <a:prstGeom prst="rect">
            <a:avLst/>
          </a:prstGeom>
          <a:noFill/>
        </p:spPr>
        <p:txBody>
          <a:bodyPr wrap="square" lIns="0" tIns="0" rIns="0" bIns="0" anchor="ctr">
            <a:spAutoFit/>
          </a:bodyPr>
          <a:lstStyle/>
          <a:p>
            <a:pPr algn="l">
              <a:lnSpc>
                <a:spcPct val="100000"/>
              </a:lnSpc>
            </a:pPr>
            <a:r>
              <a:rPr sz="1000" b="0" i="0">
                <a:solidFill>
                  <a:srgbClr val="5F6B7A"/>
                </a:solidFill>
                <a:latin typeface="Calibri"/>
              </a:rPr>
              <a:t>short sessions, any day</a:t>
            </a:r>
          </a:p>
        </p:txBody>
      </p:sp>
      <p:cxnSp>
        <p:nvCxnSpPr>
          <p:cNvPr id="19" name="Connector 18"/>
          <p:cNvCxnSpPr/>
          <p:nvPr/>
        </p:nvCxnSpPr>
        <p:spPr>
          <a:xfrm>
            <a:off x="6565392" y="2359152"/>
            <a:ext cx="0" cy="109728"/>
          </a:xfrm>
          <a:prstGeom prst="line">
            <a:avLst/>
          </a:prstGeom>
          <a:ln w="12700">
            <a:solidFill>
              <a:srgbClr val="1F3A5F"/>
            </a:solidFill>
            <a:tailEnd type="triangle" w="med" len="med"/>
          </a:ln>
        </p:spPr>
      </p:cxnSp>
      <p:sp>
        <p:nvSpPr>
          <p:cNvPr id="20" name="Rounded Rectangle 19"/>
          <p:cNvSpPr/>
          <p:nvPr/>
        </p:nvSpPr>
        <p:spPr>
          <a:xfrm>
            <a:off x="6309360" y="2468880"/>
            <a:ext cx="5330952" cy="621792"/>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21" name="Oval 20"/>
          <p:cNvSpPr/>
          <p:nvPr/>
        </p:nvSpPr>
        <p:spPr>
          <a:xfrm>
            <a:off x="6400800" y="2615184"/>
            <a:ext cx="329184" cy="329184"/>
          </a:xfrm>
          <a:prstGeom prst="ellipse">
            <a:avLst/>
          </a:prstGeom>
          <a:solidFill>
            <a:srgbClr val="1F3A5F"/>
          </a:solidFill>
          <a:ln>
            <a:noFill/>
          </a:ln>
        </p:spPr>
        <p:txBody>
          <a:bodyPr rtlCol="0" anchor="ctr"/>
          <a:lstStyle/>
          <a:p>
            <a:pPr algn="ctr"/>
            <a:endParaRPr/>
          </a:p>
        </p:txBody>
      </p:sp>
      <p:sp>
        <p:nvSpPr>
          <p:cNvPr id="22" name="TextBox 21"/>
          <p:cNvSpPr txBox="1"/>
          <p:nvPr/>
        </p:nvSpPr>
        <p:spPr>
          <a:xfrm>
            <a:off x="6400800" y="2615184"/>
            <a:ext cx="329184" cy="329184"/>
          </a:xfrm>
          <a:prstGeom prst="rect">
            <a:avLst/>
          </a:prstGeom>
          <a:noFill/>
        </p:spPr>
        <p:txBody>
          <a:bodyPr wrap="square" lIns="0" tIns="0" rIns="0" bIns="0" anchor="ctr">
            <a:spAutoFit/>
          </a:bodyPr>
          <a:lstStyle/>
          <a:p>
            <a:pPr algn="ctr">
              <a:lnSpc>
                <a:spcPct val="100000"/>
              </a:lnSpc>
            </a:pPr>
            <a:r>
              <a:rPr sz="1100" b="1" i="0">
                <a:solidFill>
                  <a:srgbClr val="FFFFFF"/>
                </a:solidFill>
                <a:latin typeface="Calibri"/>
              </a:rPr>
              <a:t>2</a:t>
            </a:r>
          </a:p>
        </p:txBody>
      </p:sp>
      <p:sp>
        <p:nvSpPr>
          <p:cNvPr id="23" name="TextBox 22"/>
          <p:cNvSpPr txBox="1"/>
          <p:nvPr/>
        </p:nvSpPr>
        <p:spPr>
          <a:xfrm>
            <a:off x="6903720" y="2542032"/>
            <a:ext cx="1828800" cy="457200"/>
          </a:xfrm>
          <a:prstGeom prst="rect">
            <a:avLst/>
          </a:prstGeom>
          <a:noFill/>
        </p:spPr>
        <p:txBody>
          <a:bodyPr wrap="square" lIns="0" tIns="0" rIns="0" bIns="0" anchor="ctr">
            <a:spAutoFit/>
          </a:bodyPr>
          <a:lstStyle/>
          <a:p>
            <a:pPr algn="l">
              <a:lnSpc>
                <a:spcPct val="100000"/>
              </a:lnSpc>
            </a:pPr>
            <a:r>
              <a:rPr sz="1200" b="1" i="0">
                <a:solidFill>
                  <a:srgbClr val="1F2933"/>
                </a:solidFill>
                <a:latin typeface="Calibri"/>
              </a:rPr>
              <a:t>Record locally</a:t>
            </a:r>
          </a:p>
        </p:txBody>
      </p:sp>
      <p:sp>
        <p:nvSpPr>
          <p:cNvPr id="24" name="TextBox 23"/>
          <p:cNvSpPr txBox="1"/>
          <p:nvPr/>
        </p:nvSpPr>
        <p:spPr>
          <a:xfrm>
            <a:off x="8641080" y="2542032"/>
            <a:ext cx="2926080" cy="475488"/>
          </a:xfrm>
          <a:prstGeom prst="rect">
            <a:avLst/>
          </a:prstGeom>
          <a:noFill/>
        </p:spPr>
        <p:txBody>
          <a:bodyPr wrap="square" lIns="0" tIns="0" rIns="0" bIns="0" anchor="ctr">
            <a:spAutoFit/>
          </a:bodyPr>
          <a:lstStyle/>
          <a:p>
            <a:pPr algn="l">
              <a:lnSpc>
                <a:spcPct val="100000"/>
              </a:lnSpc>
            </a:pPr>
            <a:r>
              <a:rPr sz="1000" b="0" i="0">
                <a:solidFill>
                  <a:srgbClr val="5F6B7A"/>
                </a:solidFill>
                <a:latin typeface="Calibri"/>
              </a:rPr>
              <a:t>metrics and quality flags on the device</a:t>
            </a:r>
          </a:p>
        </p:txBody>
      </p:sp>
      <p:cxnSp>
        <p:nvCxnSpPr>
          <p:cNvPr id="25" name="Connector 24"/>
          <p:cNvCxnSpPr/>
          <p:nvPr/>
        </p:nvCxnSpPr>
        <p:spPr>
          <a:xfrm>
            <a:off x="6565392" y="3090672"/>
            <a:ext cx="0" cy="109728"/>
          </a:xfrm>
          <a:prstGeom prst="line">
            <a:avLst/>
          </a:prstGeom>
          <a:ln w="12700">
            <a:solidFill>
              <a:srgbClr val="1F3A5F"/>
            </a:solidFill>
            <a:tailEnd type="triangle" w="med" len="med"/>
          </a:ln>
        </p:spPr>
      </p:cxnSp>
      <p:sp>
        <p:nvSpPr>
          <p:cNvPr id="26" name="Rounded Rectangle 25"/>
          <p:cNvSpPr/>
          <p:nvPr/>
        </p:nvSpPr>
        <p:spPr>
          <a:xfrm>
            <a:off x="6309360" y="3200400"/>
            <a:ext cx="5330952" cy="621792"/>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27" name="Oval 26"/>
          <p:cNvSpPr/>
          <p:nvPr/>
        </p:nvSpPr>
        <p:spPr>
          <a:xfrm>
            <a:off x="6400800" y="3346704"/>
            <a:ext cx="329184" cy="329184"/>
          </a:xfrm>
          <a:prstGeom prst="ellipse">
            <a:avLst/>
          </a:prstGeom>
          <a:solidFill>
            <a:srgbClr val="1F3A5F"/>
          </a:solidFill>
          <a:ln>
            <a:noFill/>
          </a:ln>
        </p:spPr>
        <p:txBody>
          <a:bodyPr rtlCol="0" anchor="ctr"/>
          <a:lstStyle/>
          <a:p>
            <a:pPr algn="ctr"/>
            <a:endParaRPr/>
          </a:p>
        </p:txBody>
      </p:sp>
      <p:sp>
        <p:nvSpPr>
          <p:cNvPr id="28" name="TextBox 27"/>
          <p:cNvSpPr txBox="1"/>
          <p:nvPr/>
        </p:nvSpPr>
        <p:spPr>
          <a:xfrm>
            <a:off x="6400800" y="3346704"/>
            <a:ext cx="329184" cy="329184"/>
          </a:xfrm>
          <a:prstGeom prst="rect">
            <a:avLst/>
          </a:prstGeom>
          <a:noFill/>
        </p:spPr>
        <p:txBody>
          <a:bodyPr wrap="square" lIns="0" tIns="0" rIns="0" bIns="0" anchor="ctr">
            <a:spAutoFit/>
          </a:bodyPr>
          <a:lstStyle/>
          <a:p>
            <a:pPr algn="ctr">
              <a:lnSpc>
                <a:spcPct val="100000"/>
              </a:lnSpc>
            </a:pPr>
            <a:r>
              <a:rPr sz="1100" b="1" i="0">
                <a:solidFill>
                  <a:srgbClr val="FFFFFF"/>
                </a:solidFill>
                <a:latin typeface="Calibri"/>
              </a:rPr>
              <a:t>3</a:t>
            </a:r>
          </a:p>
        </p:txBody>
      </p:sp>
      <p:sp>
        <p:nvSpPr>
          <p:cNvPr id="29" name="TextBox 28"/>
          <p:cNvSpPr txBox="1"/>
          <p:nvPr/>
        </p:nvSpPr>
        <p:spPr>
          <a:xfrm>
            <a:off x="6903720" y="3273552"/>
            <a:ext cx="1828800" cy="457200"/>
          </a:xfrm>
          <a:prstGeom prst="rect">
            <a:avLst/>
          </a:prstGeom>
          <a:noFill/>
        </p:spPr>
        <p:txBody>
          <a:bodyPr wrap="square" lIns="0" tIns="0" rIns="0" bIns="0" anchor="ctr">
            <a:spAutoFit/>
          </a:bodyPr>
          <a:lstStyle/>
          <a:p>
            <a:pPr algn="l">
              <a:lnSpc>
                <a:spcPct val="100000"/>
              </a:lnSpc>
            </a:pPr>
            <a:r>
              <a:rPr sz="1200" b="1" i="0">
                <a:solidFill>
                  <a:srgbClr val="1F2933"/>
                </a:solidFill>
                <a:latin typeface="Calibri"/>
              </a:rPr>
              <a:t>Sync to the twin</a:t>
            </a:r>
          </a:p>
        </p:txBody>
      </p:sp>
      <p:sp>
        <p:nvSpPr>
          <p:cNvPr id="30" name="TextBox 29"/>
          <p:cNvSpPr txBox="1"/>
          <p:nvPr/>
        </p:nvSpPr>
        <p:spPr>
          <a:xfrm>
            <a:off x="8641080" y="3273552"/>
            <a:ext cx="2926080" cy="475488"/>
          </a:xfrm>
          <a:prstGeom prst="rect">
            <a:avLst/>
          </a:prstGeom>
          <a:noFill/>
        </p:spPr>
        <p:txBody>
          <a:bodyPr wrap="square" lIns="0" tIns="0" rIns="0" bIns="0" anchor="ctr">
            <a:spAutoFit/>
          </a:bodyPr>
          <a:lstStyle/>
          <a:p>
            <a:pPr algn="l">
              <a:lnSpc>
                <a:spcPct val="100000"/>
              </a:lnSpc>
            </a:pPr>
            <a:r>
              <a:rPr sz="1000" b="0" i="0">
                <a:solidFill>
                  <a:srgbClr val="5F6B7A"/>
                </a:solidFill>
                <a:latin typeface="Calibri"/>
              </a:rPr>
              <a:t>end of Level 3; the participant ID links sessions</a:t>
            </a:r>
          </a:p>
        </p:txBody>
      </p:sp>
      <p:cxnSp>
        <p:nvCxnSpPr>
          <p:cNvPr id="31" name="Connector 30"/>
          <p:cNvCxnSpPr/>
          <p:nvPr/>
        </p:nvCxnSpPr>
        <p:spPr>
          <a:xfrm>
            <a:off x="6565392" y="3822191"/>
            <a:ext cx="0" cy="109729"/>
          </a:xfrm>
          <a:prstGeom prst="line">
            <a:avLst/>
          </a:prstGeom>
          <a:ln w="12700">
            <a:solidFill>
              <a:srgbClr val="1F3A5F"/>
            </a:solidFill>
            <a:tailEnd type="triangle" w="med" len="med"/>
          </a:ln>
        </p:spPr>
      </p:cxnSp>
      <p:sp>
        <p:nvSpPr>
          <p:cNvPr id="32" name="Rounded Rectangle 31"/>
          <p:cNvSpPr/>
          <p:nvPr/>
        </p:nvSpPr>
        <p:spPr>
          <a:xfrm>
            <a:off x="6309360" y="3931920"/>
            <a:ext cx="5330952" cy="621792"/>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33" name="Oval 32"/>
          <p:cNvSpPr/>
          <p:nvPr/>
        </p:nvSpPr>
        <p:spPr>
          <a:xfrm>
            <a:off x="6400800" y="4078224"/>
            <a:ext cx="329184" cy="329184"/>
          </a:xfrm>
          <a:prstGeom prst="ellipse">
            <a:avLst/>
          </a:prstGeom>
          <a:solidFill>
            <a:srgbClr val="1F3A5F"/>
          </a:solidFill>
          <a:ln>
            <a:noFill/>
          </a:ln>
        </p:spPr>
        <p:txBody>
          <a:bodyPr rtlCol="0" anchor="ctr"/>
          <a:lstStyle/>
          <a:p>
            <a:pPr algn="ctr"/>
            <a:endParaRPr/>
          </a:p>
        </p:txBody>
      </p:sp>
      <p:sp>
        <p:nvSpPr>
          <p:cNvPr id="34" name="TextBox 33"/>
          <p:cNvSpPr txBox="1"/>
          <p:nvPr/>
        </p:nvSpPr>
        <p:spPr>
          <a:xfrm>
            <a:off x="6400800" y="4078224"/>
            <a:ext cx="329184" cy="329184"/>
          </a:xfrm>
          <a:prstGeom prst="rect">
            <a:avLst/>
          </a:prstGeom>
          <a:noFill/>
        </p:spPr>
        <p:txBody>
          <a:bodyPr wrap="square" lIns="0" tIns="0" rIns="0" bIns="0" anchor="ctr">
            <a:spAutoFit/>
          </a:bodyPr>
          <a:lstStyle/>
          <a:p>
            <a:pPr algn="ctr">
              <a:lnSpc>
                <a:spcPct val="100000"/>
              </a:lnSpc>
            </a:pPr>
            <a:r>
              <a:rPr sz="1100" b="1" i="0">
                <a:solidFill>
                  <a:srgbClr val="FFFFFF"/>
                </a:solidFill>
                <a:latin typeface="Calibri"/>
              </a:rPr>
              <a:t>4</a:t>
            </a:r>
          </a:p>
        </p:txBody>
      </p:sp>
      <p:sp>
        <p:nvSpPr>
          <p:cNvPr id="35" name="TextBox 34"/>
          <p:cNvSpPr txBox="1"/>
          <p:nvPr/>
        </p:nvSpPr>
        <p:spPr>
          <a:xfrm>
            <a:off x="6903720" y="4005072"/>
            <a:ext cx="1828800" cy="457200"/>
          </a:xfrm>
          <a:prstGeom prst="rect">
            <a:avLst/>
          </a:prstGeom>
          <a:noFill/>
        </p:spPr>
        <p:txBody>
          <a:bodyPr wrap="square" lIns="0" tIns="0" rIns="0" bIns="0" anchor="ctr">
            <a:spAutoFit/>
          </a:bodyPr>
          <a:lstStyle/>
          <a:p>
            <a:pPr algn="l">
              <a:lnSpc>
                <a:spcPct val="100000"/>
              </a:lnSpc>
            </a:pPr>
            <a:r>
              <a:rPr sz="1200" b="1" i="0">
                <a:solidFill>
                  <a:srgbClr val="1F2933"/>
                </a:solidFill>
                <a:latin typeface="Calibri"/>
              </a:rPr>
              <a:t>Clinician review</a:t>
            </a:r>
          </a:p>
        </p:txBody>
      </p:sp>
      <p:sp>
        <p:nvSpPr>
          <p:cNvPr id="36" name="TextBox 35"/>
          <p:cNvSpPr txBox="1"/>
          <p:nvPr/>
        </p:nvSpPr>
        <p:spPr>
          <a:xfrm>
            <a:off x="8641080" y="4005072"/>
            <a:ext cx="2926080" cy="475488"/>
          </a:xfrm>
          <a:prstGeom prst="rect">
            <a:avLst/>
          </a:prstGeom>
          <a:noFill/>
        </p:spPr>
        <p:txBody>
          <a:bodyPr wrap="square" lIns="0" tIns="0" rIns="0" bIns="0" anchor="ctr">
            <a:spAutoFit/>
          </a:bodyPr>
          <a:lstStyle/>
          <a:p>
            <a:pPr algn="l">
              <a:lnSpc>
                <a:spcPct val="100000"/>
              </a:lnSpc>
            </a:pPr>
            <a:r>
              <a:rPr sz="1000" b="0" i="0">
                <a:solidFill>
                  <a:srgbClr val="5F6B7A"/>
                </a:solidFill>
                <a:latin typeface="Calibri"/>
              </a:rPr>
              <a:t>dashboard: sessions, risk, what-if</a:t>
            </a:r>
          </a:p>
        </p:txBody>
      </p:sp>
      <p:cxnSp>
        <p:nvCxnSpPr>
          <p:cNvPr id="37" name="Connector 36"/>
          <p:cNvCxnSpPr/>
          <p:nvPr/>
        </p:nvCxnSpPr>
        <p:spPr>
          <a:xfrm>
            <a:off x="6565392" y="4553712"/>
            <a:ext cx="0" cy="109728"/>
          </a:xfrm>
          <a:prstGeom prst="line">
            <a:avLst/>
          </a:prstGeom>
          <a:ln w="12700">
            <a:solidFill>
              <a:srgbClr val="1F3A5F"/>
            </a:solidFill>
            <a:tailEnd type="triangle" w="med" len="med"/>
          </a:ln>
        </p:spPr>
      </p:cxnSp>
      <p:sp>
        <p:nvSpPr>
          <p:cNvPr id="38" name="Rounded Rectangle 37"/>
          <p:cNvSpPr/>
          <p:nvPr/>
        </p:nvSpPr>
        <p:spPr>
          <a:xfrm>
            <a:off x="6309360" y="4663440"/>
            <a:ext cx="5330952" cy="621792"/>
          </a:xfrm>
          <a:prstGeom prst="roundRect">
            <a:avLst>
              <a:gd name="adj" fmla="val 2000"/>
            </a:avLst>
          </a:prstGeom>
          <a:solidFill>
            <a:srgbClr val="FFFFFF"/>
          </a:solidFill>
          <a:ln w="12700">
            <a:solidFill>
              <a:srgbClr val="6B7785"/>
            </a:solidFill>
            <a:prstDash val="dash"/>
          </a:ln>
        </p:spPr>
        <p:txBody>
          <a:bodyPr rtlCol="0" anchor="ctr"/>
          <a:lstStyle/>
          <a:p>
            <a:pPr algn="ctr"/>
            <a:endParaRPr/>
          </a:p>
        </p:txBody>
      </p:sp>
      <p:sp>
        <p:nvSpPr>
          <p:cNvPr id="39" name="Oval 38"/>
          <p:cNvSpPr/>
          <p:nvPr/>
        </p:nvSpPr>
        <p:spPr>
          <a:xfrm>
            <a:off x="6400800" y="4809744"/>
            <a:ext cx="329184" cy="329184"/>
          </a:xfrm>
          <a:prstGeom prst="ellipse">
            <a:avLst/>
          </a:prstGeom>
          <a:solidFill>
            <a:srgbClr val="6B7785"/>
          </a:solidFill>
          <a:ln>
            <a:noFill/>
          </a:ln>
        </p:spPr>
        <p:txBody>
          <a:bodyPr rtlCol="0" anchor="ctr"/>
          <a:lstStyle/>
          <a:p>
            <a:pPr algn="ctr"/>
            <a:endParaRPr/>
          </a:p>
        </p:txBody>
      </p:sp>
      <p:sp>
        <p:nvSpPr>
          <p:cNvPr id="40" name="TextBox 39"/>
          <p:cNvSpPr txBox="1"/>
          <p:nvPr/>
        </p:nvSpPr>
        <p:spPr>
          <a:xfrm>
            <a:off x="6400800" y="4809744"/>
            <a:ext cx="329184" cy="329184"/>
          </a:xfrm>
          <a:prstGeom prst="rect">
            <a:avLst/>
          </a:prstGeom>
          <a:noFill/>
        </p:spPr>
        <p:txBody>
          <a:bodyPr wrap="square" lIns="0" tIns="0" rIns="0" bIns="0" anchor="ctr">
            <a:spAutoFit/>
          </a:bodyPr>
          <a:lstStyle/>
          <a:p>
            <a:pPr algn="ctr">
              <a:lnSpc>
                <a:spcPct val="100000"/>
              </a:lnSpc>
            </a:pPr>
            <a:r>
              <a:rPr sz="1100" b="1" i="0">
                <a:solidFill>
                  <a:srgbClr val="FFFFFF"/>
                </a:solidFill>
                <a:latin typeface="Calibri"/>
              </a:rPr>
              <a:t>5</a:t>
            </a:r>
          </a:p>
        </p:txBody>
      </p:sp>
      <p:sp>
        <p:nvSpPr>
          <p:cNvPr id="41" name="TextBox 40"/>
          <p:cNvSpPr txBox="1"/>
          <p:nvPr/>
        </p:nvSpPr>
        <p:spPr>
          <a:xfrm>
            <a:off x="6903720" y="4736592"/>
            <a:ext cx="1828800" cy="457200"/>
          </a:xfrm>
          <a:prstGeom prst="rect">
            <a:avLst/>
          </a:prstGeom>
          <a:noFill/>
        </p:spPr>
        <p:txBody>
          <a:bodyPr wrap="square" lIns="0" tIns="0" rIns="0" bIns="0" anchor="ctr">
            <a:spAutoFit/>
          </a:bodyPr>
          <a:lstStyle/>
          <a:p>
            <a:pPr algn="l">
              <a:lnSpc>
                <a:spcPct val="100000"/>
              </a:lnSpc>
            </a:pPr>
            <a:r>
              <a:rPr sz="1200" b="1" i="0">
                <a:solidFill>
                  <a:srgbClr val="1F2933"/>
                </a:solidFill>
                <a:latin typeface="Calibri"/>
              </a:rPr>
              <a:t>Individual plan</a:t>
            </a:r>
          </a:p>
        </p:txBody>
      </p:sp>
      <p:sp>
        <p:nvSpPr>
          <p:cNvPr id="42" name="TextBox 41"/>
          <p:cNvSpPr txBox="1"/>
          <p:nvPr/>
        </p:nvSpPr>
        <p:spPr>
          <a:xfrm>
            <a:off x="8641080" y="4736592"/>
            <a:ext cx="2926080" cy="475488"/>
          </a:xfrm>
          <a:prstGeom prst="rect">
            <a:avLst/>
          </a:prstGeom>
          <a:noFill/>
        </p:spPr>
        <p:txBody>
          <a:bodyPr wrap="square" lIns="0" tIns="0" rIns="0" bIns="0" anchor="ctr">
            <a:spAutoFit/>
          </a:bodyPr>
          <a:lstStyle/>
          <a:p>
            <a:pPr algn="l">
              <a:lnSpc>
                <a:spcPct val="100000"/>
              </a:lnSpc>
            </a:pPr>
            <a:r>
              <a:rPr sz="1000" b="0" i="0">
                <a:solidFill>
                  <a:srgbClr val="5F6B7A"/>
                </a:solidFill>
                <a:latin typeface="Calibri"/>
              </a:rPr>
              <a:t>clinician adjusts activities and medication timing</a:t>
            </a:r>
          </a:p>
        </p:txBody>
      </p:sp>
      <p:cxnSp>
        <p:nvCxnSpPr>
          <p:cNvPr id="43" name="Connector 42"/>
          <p:cNvCxnSpPr/>
          <p:nvPr/>
        </p:nvCxnSpPr>
        <p:spPr>
          <a:xfrm>
            <a:off x="6565392" y="5285231"/>
            <a:ext cx="0" cy="109728"/>
          </a:xfrm>
          <a:prstGeom prst="line">
            <a:avLst/>
          </a:prstGeom>
          <a:ln w="12700">
            <a:solidFill>
              <a:srgbClr val="1F3A5F"/>
            </a:solidFill>
            <a:tailEnd type="triangle" w="med" len="med"/>
          </a:ln>
        </p:spPr>
      </p:cxnSp>
      <p:sp>
        <p:nvSpPr>
          <p:cNvPr id="44" name="Rounded Rectangle 43"/>
          <p:cNvSpPr/>
          <p:nvPr/>
        </p:nvSpPr>
        <p:spPr>
          <a:xfrm>
            <a:off x="6309360" y="5394960"/>
            <a:ext cx="5330952" cy="621792"/>
          </a:xfrm>
          <a:prstGeom prst="roundRect">
            <a:avLst>
              <a:gd name="adj" fmla="val 2000"/>
            </a:avLst>
          </a:prstGeom>
          <a:solidFill>
            <a:srgbClr val="FFFFFF"/>
          </a:solidFill>
          <a:ln w="12700">
            <a:solidFill>
              <a:srgbClr val="C9D0D8"/>
            </a:solidFill>
          </a:ln>
        </p:spPr>
        <p:txBody>
          <a:bodyPr rtlCol="0" anchor="ctr"/>
          <a:lstStyle/>
          <a:p>
            <a:pPr algn="ctr"/>
            <a:endParaRPr/>
          </a:p>
        </p:txBody>
      </p:sp>
      <p:sp>
        <p:nvSpPr>
          <p:cNvPr id="45" name="Oval 44"/>
          <p:cNvSpPr/>
          <p:nvPr/>
        </p:nvSpPr>
        <p:spPr>
          <a:xfrm>
            <a:off x="6400800" y="5541264"/>
            <a:ext cx="329184" cy="329184"/>
          </a:xfrm>
          <a:prstGeom prst="ellipse">
            <a:avLst/>
          </a:prstGeom>
          <a:solidFill>
            <a:srgbClr val="1F3A5F"/>
          </a:solidFill>
          <a:ln>
            <a:noFill/>
          </a:ln>
        </p:spPr>
        <p:txBody>
          <a:bodyPr rtlCol="0" anchor="ctr"/>
          <a:lstStyle/>
          <a:p>
            <a:pPr algn="ctr"/>
            <a:endParaRPr/>
          </a:p>
        </p:txBody>
      </p:sp>
      <p:sp>
        <p:nvSpPr>
          <p:cNvPr id="46" name="TextBox 45"/>
          <p:cNvSpPr txBox="1"/>
          <p:nvPr/>
        </p:nvSpPr>
        <p:spPr>
          <a:xfrm>
            <a:off x="6400800" y="5541264"/>
            <a:ext cx="329184" cy="329184"/>
          </a:xfrm>
          <a:prstGeom prst="rect">
            <a:avLst/>
          </a:prstGeom>
          <a:noFill/>
        </p:spPr>
        <p:txBody>
          <a:bodyPr wrap="square" lIns="0" tIns="0" rIns="0" bIns="0" anchor="ctr">
            <a:spAutoFit/>
          </a:bodyPr>
          <a:lstStyle/>
          <a:p>
            <a:pPr algn="ctr">
              <a:lnSpc>
                <a:spcPct val="100000"/>
              </a:lnSpc>
            </a:pPr>
            <a:r>
              <a:rPr sz="1100" b="1" i="0">
                <a:solidFill>
                  <a:srgbClr val="FFFFFF"/>
                </a:solidFill>
                <a:latin typeface="Calibri"/>
              </a:rPr>
              <a:t>6</a:t>
            </a:r>
          </a:p>
        </p:txBody>
      </p:sp>
      <p:sp>
        <p:nvSpPr>
          <p:cNvPr id="47" name="TextBox 46"/>
          <p:cNvSpPr txBox="1"/>
          <p:nvPr/>
        </p:nvSpPr>
        <p:spPr>
          <a:xfrm>
            <a:off x="6903720" y="5468112"/>
            <a:ext cx="1828800" cy="457200"/>
          </a:xfrm>
          <a:prstGeom prst="rect">
            <a:avLst/>
          </a:prstGeom>
          <a:noFill/>
        </p:spPr>
        <p:txBody>
          <a:bodyPr wrap="square" lIns="0" tIns="0" rIns="0" bIns="0" anchor="ctr">
            <a:spAutoFit/>
          </a:bodyPr>
          <a:lstStyle/>
          <a:p>
            <a:pPr algn="l">
              <a:lnSpc>
                <a:spcPct val="100000"/>
              </a:lnSpc>
            </a:pPr>
            <a:r>
              <a:rPr sz="1200" b="1" i="0">
                <a:solidFill>
                  <a:srgbClr val="1F2933"/>
                </a:solidFill>
                <a:latin typeface="Calibri"/>
              </a:rPr>
              <a:t>Next session</a:t>
            </a:r>
          </a:p>
        </p:txBody>
      </p:sp>
      <p:sp>
        <p:nvSpPr>
          <p:cNvPr id="48" name="TextBox 47"/>
          <p:cNvSpPr txBox="1"/>
          <p:nvPr/>
        </p:nvSpPr>
        <p:spPr>
          <a:xfrm>
            <a:off x="8641080" y="5468112"/>
            <a:ext cx="2926080" cy="475488"/>
          </a:xfrm>
          <a:prstGeom prst="rect">
            <a:avLst/>
          </a:prstGeom>
          <a:noFill/>
        </p:spPr>
        <p:txBody>
          <a:bodyPr wrap="square" lIns="0" tIns="0" rIns="0" bIns="0" anchor="ctr">
            <a:spAutoFit/>
          </a:bodyPr>
          <a:lstStyle/>
          <a:p>
            <a:pPr algn="l">
              <a:lnSpc>
                <a:spcPct val="100000"/>
              </a:lnSpc>
            </a:pPr>
            <a:r>
              <a:rPr sz="1000" b="0" i="0">
                <a:solidFill>
                  <a:srgbClr val="5F6B7A"/>
                </a:solidFill>
                <a:latin typeface="Calibri"/>
              </a:rPr>
              <a:t>progress compared with earlier sessions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48640" y="384048"/>
            <a:ext cx="10789920" cy="457200"/>
          </a:xfrm>
          <a:prstGeom prst="rect">
            <a:avLst/>
          </a:prstGeom>
          <a:noFill/>
        </p:spPr>
        <p:txBody>
          <a:bodyPr wrap="square" lIns="0" tIns="0" rIns="0" bIns="0" anchor="ctr">
            <a:spAutoFit/>
          </a:bodyPr>
          <a:lstStyle/>
          <a:p>
            <a:pPr algn="l">
              <a:lnSpc>
                <a:spcPct val="100000"/>
              </a:lnSpc>
            </a:pPr>
            <a:r>
              <a:rPr sz="2800" b="1" i="0">
                <a:solidFill>
                  <a:srgbClr val="1F3A5F"/>
                </a:solidFill>
                <a:latin typeface="Calibri"/>
              </a:rPr>
              <a:t>Hackathon requirements and references</a:t>
            </a:r>
          </a:p>
        </p:txBody>
      </p:sp>
      <p:cxnSp>
        <p:nvCxnSpPr>
          <p:cNvPr id="3" name="Connector 2"/>
          <p:cNvCxnSpPr/>
          <p:nvPr/>
        </p:nvCxnSpPr>
        <p:spPr>
          <a:xfrm>
            <a:off x="548640" y="1207008"/>
            <a:ext cx="11091672" cy="0"/>
          </a:xfrm>
          <a:prstGeom prst="line">
            <a:avLst/>
          </a:prstGeom>
          <a:ln w="9525">
            <a:solidFill>
              <a:srgbClr val="C9D0D8"/>
            </a:solidFill>
          </a:ln>
        </p:spPr>
      </p:cxnSp>
      <p:sp>
        <p:nvSpPr>
          <p:cNvPr id="5" name="TextBox 4"/>
          <p:cNvSpPr txBox="1"/>
          <p:nvPr/>
        </p:nvSpPr>
        <p:spPr>
          <a:xfrm>
            <a:off x="10725912" y="6510528"/>
            <a:ext cx="914400" cy="201168"/>
          </a:xfrm>
          <a:prstGeom prst="rect">
            <a:avLst/>
          </a:prstGeom>
          <a:noFill/>
        </p:spPr>
        <p:txBody>
          <a:bodyPr wrap="square" lIns="0" tIns="0" rIns="0" bIns="0" anchor="t">
            <a:spAutoFit/>
          </a:bodyPr>
          <a:lstStyle/>
          <a:p>
            <a:pPr algn="r">
              <a:lnSpc>
                <a:spcPct val="100000"/>
              </a:lnSpc>
            </a:pPr>
            <a:r>
              <a:rPr sz="900" b="0" i="0">
                <a:solidFill>
                  <a:srgbClr val="8A94A0"/>
                </a:solidFill>
                <a:latin typeface="Calibri"/>
              </a:rPr>
              <a:t>10 / 10</a:t>
            </a:r>
          </a:p>
        </p:txBody>
      </p:sp>
      <p:graphicFrame>
        <p:nvGraphicFramePr>
          <p:cNvPr id="6" name="Table 5"/>
          <p:cNvGraphicFramePr>
            <a:graphicFrameLocks noGrp="1"/>
          </p:cNvGraphicFramePr>
          <p:nvPr/>
        </p:nvGraphicFramePr>
        <p:xfrm>
          <a:off x="548640" y="1371600"/>
          <a:ext cx="5760720" cy="4389120"/>
        </p:xfrm>
        <a:graphic>
          <a:graphicData uri="http://schemas.openxmlformats.org/drawingml/2006/table">
            <a:tbl>
              <a:tblPr/>
              <a:tblGrid>
                <a:gridCol w="2103120">
                  <a:extLst>
                    <a:ext uri="{9D8B030D-6E8A-4147-A177-3AD203B41FA5}">
                      <a16:colId xmlns:a16="http://schemas.microsoft.com/office/drawing/2014/main" val="20000"/>
                    </a:ext>
                  </a:extLst>
                </a:gridCol>
                <a:gridCol w="2697480">
                  <a:extLst>
                    <a:ext uri="{9D8B030D-6E8A-4147-A177-3AD203B41FA5}">
                      <a16:colId xmlns:a16="http://schemas.microsoft.com/office/drawing/2014/main" val="20001"/>
                    </a:ext>
                  </a:extLst>
                </a:gridCol>
                <a:gridCol w="960120">
                  <a:extLst>
                    <a:ext uri="{9D8B030D-6E8A-4147-A177-3AD203B41FA5}">
                      <a16:colId xmlns:a16="http://schemas.microsoft.com/office/drawing/2014/main" val="20002"/>
                    </a:ext>
                  </a:extLst>
                </a:gridCol>
              </a:tblGrid>
              <a:tr h="548640">
                <a:tc>
                  <a:txBody>
                    <a:bodyPr/>
                    <a:lstStyle/>
                    <a:p>
                      <a:r>
                        <a:rPr sz="950" b="1" i="0">
                          <a:solidFill>
                            <a:srgbClr val="1F3A5F"/>
                          </a:solidFill>
                          <a:latin typeface="Calibri"/>
                        </a:rPr>
                        <a:t>Requirement (challenge)</a:t>
                      </a:r>
                    </a:p>
                  </a:txBody>
                  <a:tcPr marL="64008" marR="64008" marT="27432" marB="27432" anchor="ctr">
                    <a:lnL w="0">
                      <a:noFill/>
                    </a:lnL>
                    <a:lnR w="0">
                      <a:noFill/>
                    </a:lnR>
                    <a:lnT w="0">
                      <a:noFill/>
                    </a:lnT>
                    <a:lnB w="12700">
                      <a:solidFill>
                        <a:srgbClr val="1F3A5F"/>
                      </a:solidFill>
                    </a:lnB>
                    <a:noFill/>
                  </a:tcPr>
                </a:tc>
                <a:tc>
                  <a:txBody>
                    <a:bodyPr/>
                    <a:lstStyle/>
                    <a:p>
                      <a:r>
                        <a:rPr sz="950" b="1" i="0">
                          <a:solidFill>
                            <a:srgbClr val="1F3A5F"/>
                          </a:solidFill>
                          <a:latin typeface="Calibri"/>
                        </a:rPr>
                        <a:t>Neuroverse</a:t>
                      </a:r>
                    </a:p>
                  </a:txBody>
                  <a:tcPr marL="64008" marR="64008" marT="27432" marB="27432" anchor="ctr">
                    <a:lnL w="0">
                      <a:noFill/>
                    </a:lnL>
                    <a:lnR w="0">
                      <a:noFill/>
                    </a:lnR>
                    <a:lnT w="0">
                      <a:noFill/>
                    </a:lnT>
                    <a:lnB w="12700">
                      <a:solidFill>
                        <a:srgbClr val="1F3A5F"/>
                      </a:solidFill>
                    </a:lnB>
                    <a:noFill/>
                  </a:tcPr>
                </a:tc>
                <a:tc>
                  <a:txBody>
                    <a:bodyPr/>
                    <a:lstStyle/>
                    <a:p>
                      <a:r>
                        <a:rPr sz="950" b="1" i="0">
                          <a:solidFill>
                            <a:srgbClr val="1F3A5F"/>
                          </a:solidFill>
                          <a:latin typeface="Calibri"/>
                        </a:rPr>
                        <a:t>Where</a:t>
                      </a:r>
                    </a:p>
                  </a:txBody>
                  <a:tcPr marL="64008" marR="64008" marT="27432" marB="27432" anchor="ctr">
                    <a:lnL w="0">
                      <a:noFill/>
                    </a:lnL>
                    <a:lnR w="0">
                      <a:noFill/>
                    </a:lnR>
                    <a:lnT w="0">
                      <a:noFill/>
                    </a:lnT>
                    <a:lnB w="12700">
                      <a:solidFill>
                        <a:srgbClr val="1F3A5F"/>
                      </a:solidFill>
                    </a:lnB>
                    <a:noFill/>
                  </a:tcPr>
                </a:tc>
                <a:extLst>
                  <a:ext uri="{0D108BD9-81ED-4DB2-BD59-A6C34878D82A}">
                    <a16:rowId xmlns:a16="http://schemas.microsoft.com/office/drawing/2014/main" val="10000"/>
                  </a:ext>
                </a:extLst>
              </a:tr>
              <a:tr h="548640">
                <a:tc>
                  <a:txBody>
                    <a:bodyPr/>
                    <a:lstStyle/>
                    <a:p>
                      <a:r>
                        <a:rPr sz="1050" b="1" i="0">
                          <a:solidFill>
                            <a:srgbClr val="1F2933"/>
                          </a:solidFill>
                          <a:latin typeface="Calibri"/>
                        </a:rPr>
                        <a:t>Twin of one patient, one adverse event</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Parkinson’s patient; freezing of gait</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Twin service</a:t>
                      </a:r>
                    </a:p>
                  </a:txBody>
                  <a:tcPr marL="64008" marR="64008" marT="27432" marB="27432" anchor="ctr">
                    <a:lnL w="0">
                      <a:noFill/>
                    </a:lnL>
                    <a:lnR w="0">
                      <a:noFill/>
                    </a:lnR>
                    <a:lnT w="12700" cap="flat" cmpd="sng" algn="ctr">
                      <a:solidFill>
                        <a:srgbClr val="1F3A5F"/>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1"/>
                  </a:ext>
                </a:extLst>
              </a:tr>
              <a:tr h="548640">
                <a:tc>
                  <a:txBody>
                    <a:bodyPr/>
                    <a:lstStyle/>
                    <a:p>
                      <a:r>
                        <a:rPr sz="1050" b="1" i="0">
                          <a:solidFill>
                            <a:srgbClr val="1F2933"/>
                          </a:solidFill>
                          <a:latin typeface="Calibri"/>
                        </a:rPr>
                        <a:t>Static data: synthetic EHR</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FHIR R4, SNOMED CT, LOINC, tagged SYNTHETIC</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twin/ehr.py</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2"/>
                  </a:ext>
                </a:extLst>
              </a:tr>
              <a:tr h="548640">
                <a:tc>
                  <a:txBody>
                    <a:bodyPr/>
                    <a:lstStyle/>
                    <a:p>
                      <a:r>
                        <a:rPr sz="1050" b="1" i="0">
                          <a:solidFill>
                            <a:srgbClr val="1F2933"/>
                          </a:solidFill>
                          <a:latin typeface="Calibri"/>
                        </a:rPr>
                        <a:t>Dynamic data: wearables / IoT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Real Daphnet IMUs; simulated steps, HR, sleep, HRV; ESP32 path</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Daphnet, firmware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3"/>
                  </a:ext>
                </a:extLst>
              </a:tr>
              <a:tr h="548640">
                <a:tc>
                  <a:txBody>
                    <a:bodyPr/>
                    <a:lstStyle/>
                    <a:p>
                      <a:r>
                        <a:rPr sz="1050" b="1" i="0">
                          <a:solidFill>
                            <a:srgbClr val="1F2933"/>
                          </a:solidFill>
                          <a:latin typeface="Calibri"/>
                        </a:rPr>
                        <a:t>Fuse and predict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Model A AUC 0.76; Model B AUC 0.806 (record only 0.779)</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reports/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4"/>
                  </a:ext>
                </a:extLst>
              </a:tr>
              <a:tr h="548640">
                <a:tc>
                  <a:txBody>
                    <a:bodyPr/>
                    <a:lstStyle/>
                    <a:p>
                      <a:r>
                        <a:rPr sz="1050" b="1" i="0">
                          <a:solidFill>
                            <a:srgbClr val="1F2933"/>
                          </a:solidFill>
                          <a:latin typeface="Calibri"/>
                        </a:rPr>
                        <a:t>Doctor dashboard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In the game (F2, post-game) and browser; what-if</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Game, /dashboard</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5"/>
                  </a:ext>
                </a:extLst>
              </a:tr>
              <a:tr h="548640">
                <a:tc>
                  <a:txBody>
                    <a:bodyPr/>
                    <a:lstStyle/>
                    <a:p>
                      <a:r>
                        <a:rPr sz="1050" b="1" i="0">
                          <a:solidFill>
                            <a:srgbClr val="1F2933"/>
                          </a:solidFill>
                          <a:latin typeface="Calibri"/>
                        </a:rPr>
                        <a:t>Sandbox data rules</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Synthetic or anonymised only; processed locally</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Whole project</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6"/>
                  </a:ext>
                </a:extLst>
              </a:tr>
              <a:tr h="548640">
                <a:tc>
                  <a:txBody>
                    <a:bodyPr/>
                    <a:lstStyle/>
                    <a:p>
                      <a:r>
                        <a:rPr sz="1050" b="1" i="0">
                          <a:solidFill>
                            <a:srgbClr val="1F2933"/>
                          </a:solidFill>
                          <a:latin typeface="Calibri"/>
                        </a:rPr>
                        <a:t>Submission package</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GitHub, Apache-2.0, architecture, deck; 20-min video in preparation</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tc>
                  <a:txBody>
                    <a:bodyPr/>
                    <a:lstStyle/>
                    <a:p>
                      <a:r>
                        <a:rPr sz="1050" b="0" i="0">
                          <a:solidFill>
                            <a:srgbClr val="1F2933"/>
                          </a:solidFill>
                          <a:latin typeface="Calibri"/>
                        </a:rPr>
                        <a:t>Repository</a:t>
                      </a:r>
                    </a:p>
                  </a:txBody>
                  <a:tcPr marL="64008" marR="64008" marT="27432" marB="27432" anchor="ctr">
                    <a:lnL w="0">
                      <a:noFill/>
                    </a:lnL>
                    <a:lnR w="0">
                      <a:noFill/>
                    </a:lnR>
                    <a:lnT w="6350" cap="flat" cmpd="sng" algn="ctr">
                      <a:solidFill>
                        <a:srgbClr val="C9D0D8"/>
                      </a:solidFill>
                      <a:prstDash val="solid"/>
                      <a:round/>
                      <a:headEnd type="none" w="med" len="med"/>
                      <a:tailEnd type="none" w="med" len="med"/>
                    </a:lnT>
                    <a:lnB w="6350">
                      <a:solidFill>
                        <a:srgbClr val="C9D0D8"/>
                      </a:solidFill>
                    </a:lnB>
                    <a:noFill/>
                  </a:tcPr>
                </a:tc>
                <a:extLst>
                  <a:ext uri="{0D108BD9-81ED-4DB2-BD59-A6C34878D82A}">
                    <a16:rowId xmlns:a16="http://schemas.microsoft.com/office/drawing/2014/main" val="10007"/>
                  </a:ext>
                </a:extLst>
              </a:tr>
            </a:tbl>
          </a:graphicData>
        </a:graphic>
      </p:graphicFrame>
      <p:sp>
        <p:nvSpPr>
          <p:cNvPr id="8" name="TextBox 7"/>
          <p:cNvSpPr txBox="1"/>
          <p:nvPr/>
        </p:nvSpPr>
        <p:spPr>
          <a:xfrm>
            <a:off x="6583680" y="1371600"/>
            <a:ext cx="4572000" cy="201168"/>
          </a:xfrm>
          <a:prstGeom prst="rect">
            <a:avLst/>
          </a:prstGeom>
          <a:noFill/>
        </p:spPr>
        <p:txBody>
          <a:bodyPr wrap="square" lIns="0" tIns="0" rIns="0" bIns="0" anchor="t">
            <a:spAutoFit/>
          </a:bodyPr>
          <a:lstStyle/>
          <a:p>
            <a:pPr algn="l">
              <a:lnSpc>
                <a:spcPct val="100000"/>
              </a:lnSpc>
            </a:pPr>
            <a:r>
              <a:rPr sz="1050" b="1" i="0">
                <a:solidFill>
                  <a:srgbClr val="1F3A5F"/>
                </a:solidFill>
                <a:latin typeface="Calibri"/>
              </a:rPr>
              <a:t>REFERENCES</a:t>
            </a:r>
          </a:p>
        </p:txBody>
      </p:sp>
      <p:sp>
        <p:nvSpPr>
          <p:cNvPr id="9" name="TextBox 8"/>
          <p:cNvSpPr txBox="1"/>
          <p:nvPr/>
        </p:nvSpPr>
        <p:spPr>
          <a:xfrm>
            <a:off x="6583680" y="1664208"/>
            <a:ext cx="5056632" cy="4526280"/>
          </a:xfrm>
          <a:prstGeom prst="rect">
            <a:avLst/>
          </a:prstGeom>
          <a:noFill/>
        </p:spPr>
        <p:txBody>
          <a:bodyPr wrap="square" lIns="0" tIns="0" rIns="0" bIns="0" anchor="t">
            <a:spAutoFit/>
          </a:bodyPr>
          <a:lstStyle/>
          <a:p>
            <a:pPr algn="l">
              <a:lnSpc>
                <a:spcPct val="100000"/>
              </a:lnSpc>
            </a:pPr>
            <a:r>
              <a:rPr sz="950" b="0" i="0">
                <a:solidFill>
                  <a:srgbClr val="5F6B7A"/>
                </a:solidFill>
                <a:latin typeface="Calibri"/>
              </a:rPr>
              <a:t>[1] Khurana S, Gourie-Devi M. Community-based epidemiology of PD in India. Cureus 2025;17(3):e80248.</a:t>
            </a:r>
          </a:p>
          <a:p>
            <a:pPr algn="l">
              <a:lnSpc>
                <a:spcPct val="100000"/>
              </a:lnSpc>
              <a:spcBef>
                <a:spcPts val="450"/>
              </a:spcBef>
            </a:pPr>
            <a:r>
              <a:rPr sz="950" b="0" i="0">
                <a:solidFill>
                  <a:srgbClr val="5F6B7A"/>
                </a:solidFill>
                <a:latin typeface="Calibri"/>
              </a:rPr>
              <a:t>[2] Postuma RB et al. MDS research criteria for prodromal PD. Mov Disord 2015;30:1591–1601.</a:t>
            </a:r>
          </a:p>
          <a:p>
            <a:pPr algn="l">
              <a:lnSpc>
                <a:spcPct val="100000"/>
              </a:lnSpc>
              <a:spcBef>
                <a:spcPts val="450"/>
              </a:spcBef>
            </a:pPr>
            <a:r>
              <a:rPr sz="950" b="0" i="0">
                <a:solidFill>
                  <a:srgbClr val="5F6B7A"/>
                </a:solidFill>
                <a:latin typeface="Calibri"/>
              </a:rPr>
              <a:t>[3] Johnson D et al. Gamification for health and wellbeing: a systematic review. Internet Interv 2016;6:89–106.</a:t>
            </a:r>
          </a:p>
          <a:p>
            <a:pPr algn="l">
              <a:lnSpc>
                <a:spcPct val="100000"/>
              </a:lnSpc>
              <a:spcBef>
                <a:spcPts val="450"/>
              </a:spcBef>
            </a:pPr>
            <a:r>
              <a:rPr sz="950" b="0" i="0">
                <a:solidFill>
                  <a:srgbClr val="5F6B7A"/>
                </a:solidFill>
                <a:latin typeface="Calibri"/>
              </a:rPr>
              <a:t>[4] Dockx K et al. Virtual reality for rehabilitation in PD. Cochrane Database Syst Rev 2016;12:CD010760.</a:t>
            </a:r>
          </a:p>
          <a:p>
            <a:pPr algn="l">
              <a:lnSpc>
                <a:spcPct val="100000"/>
              </a:lnSpc>
              <a:spcBef>
                <a:spcPts val="450"/>
              </a:spcBef>
            </a:pPr>
            <a:r>
              <a:rPr sz="950" b="0" i="0">
                <a:solidFill>
                  <a:srgbClr val="5F6B7A"/>
                </a:solidFill>
                <a:latin typeface="Calibri"/>
              </a:rPr>
              <a:t>[5] Garcia-Agundez A et al. Exergames for PD rehabilitation: a systematic review. J NeuroEng Rehabil 2019;16:17.</a:t>
            </a:r>
          </a:p>
          <a:p>
            <a:pPr algn="l">
              <a:lnSpc>
                <a:spcPct val="100000"/>
              </a:lnSpc>
              <a:spcBef>
                <a:spcPts val="450"/>
              </a:spcBef>
            </a:pPr>
            <a:r>
              <a:rPr sz="950" b="0" i="0">
                <a:solidFill>
                  <a:srgbClr val="5F6B7A"/>
                </a:solidFill>
                <a:latin typeface="Calibri"/>
              </a:rPr>
              <a:t>[6] Zhan A et al. Smartphones and machine learning to quantify PD severity. JAMA Neurol 2018;75(7):876–880.</a:t>
            </a:r>
          </a:p>
          <a:p>
            <a:pPr algn="l">
              <a:lnSpc>
                <a:spcPct val="100000"/>
              </a:lnSpc>
              <a:spcBef>
                <a:spcPts val="450"/>
              </a:spcBef>
            </a:pPr>
            <a:r>
              <a:rPr sz="950" b="0" i="0">
                <a:solidFill>
                  <a:srgbClr val="5F6B7A"/>
                </a:solidFill>
                <a:latin typeface="Calibri"/>
              </a:rPr>
              <a:t>[7] Anderson TJ, MacAskill MR. Eye movements in neurodegenerative disorders. Nat Rev Neurol 2013;9:74–85.</a:t>
            </a:r>
          </a:p>
          <a:p>
            <a:pPr algn="l">
              <a:lnSpc>
                <a:spcPct val="100000"/>
              </a:lnSpc>
              <a:spcBef>
                <a:spcPts val="450"/>
              </a:spcBef>
            </a:pPr>
            <a:r>
              <a:rPr sz="950" b="0" i="0">
                <a:solidFill>
                  <a:srgbClr val="5F6B7A"/>
                </a:solidFill>
                <a:latin typeface="Calibri"/>
              </a:rPr>
              <a:t>[8] Espay AJ et al. Technology in PD: challenges and opportunities. Mov Disord 2016;31(9):1272–1282.</a:t>
            </a:r>
          </a:p>
          <a:p>
            <a:pPr algn="l">
              <a:lnSpc>
                <a:spcPct val="100000"/>
              </a:lnSpc>
              <a:spcBef>
                <a:spcPts val="450"/>
              </a:spcBef>
            </a:pPr>
            <a:r>
              <a:rPr sz="950" b="0" i="0">
                <a:solidFill>
                  <a:srgbClr val="5F6B7A"/>
                </a:solidFill>
                <a:latin typeface="Calibri"/>
              </a:rPr>
              <a:t>[9] Bächlin M et al. Wearable assistant for PD patients with freezing of gait. IEEE TITB 2010;14(2):436–446.</a:t>
            </a:r>
          </a:p>
          <a:p>
            <a:pPr algn="l">
              <a:lnSpc>
                <a:spcPct val="100000"/>
              </a:lnSpc>
              <a:spcBef>
                <a:spcPts val="450"/>
              </a:spcBef>
            </a:pPr>
            <a:r>
              <a:rPr sz="950" b="0" i="0">
                <a:solidFill>
                  <a:srgbClr val="5F6B7A"/>
                </a:solidFill>
                <a:latin typeface="Calibri"/>
              </a:rPr>
              <a:t>[10] Little MA et al. Dysphonia measurements for telemonitoring of PD. IEEE TBME 2009;56(4):1015–1022.</a:t>
            </a:r>
          </a:p>
          <a:p>
            <a:pPr algn="l">
              <a:lnSpc>
                <a:spcPct val="100000"/>
              </a:lnSpc>
              <a:spcBef>
                <a:spcPts val="450"/>
              </a:spcBef>
            </a:pPr>
            <a:r>
              <a:rPr sz="950" b="0" i="0">
                <a:solidFill>
                  <a:srgbClr val="5F6B7A"/>
                </a:solidFill>
                <a:latin typeface="Calibri"/>
              </a:rPr>
              <a:t>[11] Katsoulakis E et al. Digital twins for health: a scoping review. npj Digit Med 2024.</a:t>
            </a:r>
          </a:p>
          <a:p>
            <a:pPr algn="l">
              <a:lnSpc>
                <a:spcPct val="100000"/>
              </a:lnSpc>
              <a:spcBef>
                <a:spcPts val="450"/>
              </a:spcBef>
            </a:pPr>
            <a:r>
              <a:rPr sz="950" b="0" i="0">
                <a:solidFill>
                  <a:srgbClr val="5F6B7A"/>
                </a:solidFill>
                <a:latin typeface="Calibri"/>
              </a:rPr>
              <a:t>[12] Ghai S et al. Rhythmic auditory cueing in parkinsonian gait: meta-analysis. Sci Rep 2018;8:506.</a:t>
            </a:r>
          </a:p>
          <a:p>
            <a:pPr algn="l">
              <a:lnSpc>
                <a:spcPct val="100000"/>
              </a:lnSpc>
              <a:spcBef>
                <a:spcPts val="450"/>
              </a:spcBef>
            </a:pPr>
            <a:r>
              <a:rPr sz="950" b="0" i="0">
                <a:solidFill>
                  <a:srgbClr val="5F6B7A"/>
                </a:solidFill>
                <a:latin typeface="Calibri"/>
              </a:rPr>
              <a:t>[13] Palmerini L et al. Motor patterns preceding freezing of gait. Front Neurol 2017;8:394.</a:t>
            </a:r>
          </a:p>
          <a:p>
            <a:pPr algn="l">
              <a:lnSpc>
                <a:spcPct val="100000"/>
              </a:lnSpc>
              <a:spcBef>
                <a:spcPts val="450"/>
              </a:spcBef>
            </a:pPr>
            <a:r>
              <a:rPr sz="950" b="0" i="0">
                <a:solidFill>
                  <a:srgbClr val="5F6B7A"/>
                </a:solidFill>
                <a:latin typeface="Calibri"/>
              </a:rPr>
              <a:t>Datasets: Hausdorff 2000 J Appl Physiol 88:2045 · Little 2007 BioMed Eng OnLine 6:23 · Sakar 2013 IEEE JBHI 17:828 · Sakar 2018 (UCI) · Tsanas 2010 IEEE TBME 57:884 · Isenkul 2014 (UCI) · ET_PD_VIS and TMT-PD, Mendeley Data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4004</Words>
  <Application>Microsoft Macintosh PowerPoint</Application>
  <PresentationFormat>Widescreen</PresentationFormat>
  <Paragraphs>382</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Kajjol</cp:lastModifiedBy>
  <cp:revision>3</cp:revision>
  <dcterms:created xsi:type="dcterms:W3CDTF">2013-01-27T09:14:16Z</dcterms:created>
  <dcterms:modified xsi:type="dcterms:W3CDTF">2026-10-18T16:13:39Z</dcterms:modified>
  <cp:category/>
</cp:coreProperties>
</file>